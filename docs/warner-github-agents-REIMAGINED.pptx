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Quick personal context. Lean into the practitioner angle — emphasize that everything we do today is from code I actively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 arc up front so people can budget their attention. The 70% demo number sets the expectation that this is a working session, not a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Get them to clone the repo immediately. This is the single highest-leverage action they can take in the first 5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norms early. Tell people it's totally fine to lurk-watch.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Standard O'Reilly housekeeping. Move through these in under 60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it psychologically safe to interrupt. The best moments come from a question that takes you off the rails.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the deliverable expectation. By the end of hour 4, every attendee should be able to fork and run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single most important distinction in this whole course: agents take actions. If your AI just talks, it's a chatbot. If it writes a file or calls an API, it's an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ReAct = Reasoning + Acting (Yao et al., 2022). The loop is the heart of every agent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is the right number to remember. The five pillars show up in every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frame these as competing. Most enterprises use both: Copilot Studio for the customer-facing FAQ bot, code-first for the parallel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Surface the tool calls in the transcript pane. Count them out loud: 'three reads, one search, one edit — five tool calls before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Pre-built helps. Have the empty copilot already created so you can drag-and-drop live without waiting.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Make this opinionated. If you're a developer with non-trivial workflow, code-first wins. If departmental bot in 3 days, Copilot Studio wins.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Quick recap, then transition to hour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Frame as 'realistic-but-self-contained' sample. Goal: every production pattern legible inside ~3K LOC.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Each layer does one job. LangGraph = when. CrewAI = who. ChromaDB = what we know. Foundry = brain. FastMCP = doorway 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DecisionMaker has no tools on purpose: pure reasoning over merged state. Tools = blast radius; fewer tools = safer agent.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Highest-leverage slide of hour 2. Walk it slowly. Intake validates → fan-out to two parallel CrewAI crews running concurrently. Both branches MUST complete before decision_maker fires (fan-in). Each parallel node returns ONLY the keys it owns — LangGraph merges partial state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add_edge() FROM intake = fan-out. Two add_edge() INTO decision_maker = fan-in. SqliteSaver checkpoint persists state after every node.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State is a bucket. Pydantic chain on the right is the SCHEMA; HRState is the CONTAINER. Keep these separate.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buckets is the right number. Note we use luminance not red/green — critical for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runs.html is the money shot. Point at the timestamps — they overlap, proving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Memory is where most agent demos fall apart in production. Two-layer pattern is the simplest production-ready approach.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skip the debugger. People debug agents with print() and lose hours.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Hour 3 makes the project interesting beyond its own walls.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MCP shrinks N×M to N+M. That's the entire economic case.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pieces: server (you), transport (stdio or HTTP), client (Claude/VS Code/Foundry). Same protocol, multiple transports.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All five primitives in one slide. Most teams stop at tools. Sampling and elicitation let the SERVER drive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Most engineers only know tools. Build sampling and elicitation into your servers and you graduate to agent platform engineer.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RAG in 6 steps. Most production issues live at chunk boundaries or at retrieval (top-k matters more than people think).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Inspector is the killer dev tool for MCP. Build, hit with Inspector, iterate. THEN wire to Claude Desktop.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Live demo: have Claude Code build a knowledge_summary MCP tool. The point isn't the feature; it's the conversational flow.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Recap, then bridge into hour 4 — the production hour.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learn.microsoft.com/azure/foundry/agents/overview. Microsoft's answer to 'I want to deploy an agent without owning the runtime.'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Five lanes is enough to anchor the conversation. Refer people to docs/azure-architecture.svg for the full picture.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Container Apps is the right default for agent workloads that don't fit Foundry's managed runtime. Source: learn.microsoft.com/azure/container-apps/ai-integration.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APIM is the most underused piece of Azure for AI workloads. Source: learn.microsoft.com/azure/api-management/genai-gateway-capabilities.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Cost control AND per-consumer attribution in App Insights. Minimum viable production AI gateway.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Source: learn.microsoft.com/azure/foundry/guardrails. Four intervention points. Most teams only think input + output. XPIA (cross-prompt injection) is the rising threat.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Logs / metrics / traces is standard SRE. For agents add a fourth: evaluations. Run a golden set on every deploy.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Pull every lever in production. Biggest win is usually model routing.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Without an evaluation set, you're shipping non-deterministic code with no regression coverage.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Don't ship a model upgrade to all users at once. Even 'safe' upgrades change prompt-following behavior in subtle ways.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mine, refined across the Pluralsight catalog. Tell people which one they'll forget first (Law 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Pin the deliverables. People should leave knowing exactly what they accomplished.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clear paths so people self-select. Beginners deploy. Advanced engineers extend.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Bookmark this slide. Every URL is first-party. Will diagnose 90% of production issues six months from now.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Personal close. Ask people to share what they build. The community lift is the compounding return.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Optional final slide. Production AI is a systems game — individual heroics don't ship; pipelines 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457200"/>
          </a:xfrm>
          <a:prstGeom prst="rect">
            <a:avLst/>
          </a:prstGeom>
          <a:noFill/>
        </p:spPr>
        <p:txBody>
          <a:bodyPr wrap="square" lIns="0" rIns="0" tIns="0" bIns="0" anchor="t">
            <a:spAutoFit/>
          </a:bodyPr>
          <a:lstStyle/>
          <a:p>
            <a:pPr algn="l"/>
            <a:r>
              <a:rPr sz="1400" b="1" i="0">
                <a:solidFill>
                  <a:srgbClr val="FFB703"/>
                </a:solidFill>
                <a:latin typeface="Calibri"/>
              </a:rPr>
              <a:t>O'REILLY LIVE LEARNING  ·  4 HOURS  ·  HANDS-ON</a:t>
            </a:r>
          </a:p>
        </p:txBody>
      </p:sp>
      <p:sp>
        <p:nvSpPr>
          <p:cNvPr id="5" name="TextBox 4"/>
          <p:cNvSpPr txBox="1"/>
          <p:nvPr/>
        </p:nvSpPr>
        <p:spPr>
          <a:xfrm>
            <a:off x="1097280" y="1737360"/>
            <a:ext cx="10058400" cy="2011680"/>
          </a:xfrm>
          <a:prstGeom prst="rect">
            <a:avLst/>
          </a:prstGeom>
          <a:noFill/>
        </p:spPr>
        <p:txBody>
          <a:bodyPr wrap="square" lIns="0" rIns="0" tIns="0" bIns="0" anchor="t">
            <a:spAutoFit/>
          </a:bodyPr>
          <a:lstStyle/>
          <a:p>
            <a:pPr algn="l"/>
            <a:r>
              <a:rPr sz="5400" b="1" i="0">
                <a:solidFill>
                  <a:srgbClr val="FFFFFF"/>
                </a:solidFill>
                <a:latin typeface="Calibri"/>
              </a:rPr>
              <a:t>Build Production-Ready AI Agents</a:t>
            </a:r>
          </a:p>
        </p:txBody>
      </p:sp>
      <p:sp>
        <p:nvSpPr>
          <p:cNvPr id="6" name="TextBox 5"/>
          <p:cNvSpPr txBox="1"/>
          <p:nvPr/>
        </p:nvSpPr>
        <p:spPr>
          <a:xfrm>
            <a:off x="1097280" y="3840480"/>
            <a:ext cx="10058400" cy="1188720"/>
          </a:xfrm>
          <a:prstGeom prst="rect">
            <a:avLst/>
          </a:prstGeom>
          <a:noFill/>
        </p:spPr>
        <p:txBody>
          <a:bodyPr wrap="square" lIns="0" rIns="0" tIns="0" bIns="0" anchor="t">
            <a:spAutoFit/>
          </a:bodyPr>
          <a:lstStyle/>
          <a:p>
            <a:pPr algn="l"/>
            <a:r>
              <a:rPr sz="2400" b="0" i="1">
                <a:solidFill>
                  <a:srgbClr val="00B4D8"/>
                </a:solidFill>
                <a:latin typeface="Calibri"/>
              </a:rPr>
              <a:t>From your first ReAct loop to a parallel multi-agent pipeline on Azure — in four hours.</a:t>
            </a:r>
          </a:p>
        </p:txBody>
      </p:sp>
      <p:sp>
        <p:nvSpPr>
          <p:cNvPr id="7" name="TextBox 6"/>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Microsoft MVP, Microsoft Certified Trainer  ·  techtrainertim.com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About your instructor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Tim Warner — TechTrainerTim</a:t>
            </a:r>
          </a:p>
        </p:txBody>
      </p:sp>
      <p:sp>
        <p:nvSpPr>
          <p:cNvPr id="9" name="TextBox 8"/>
          <p:cNvSpPr txBox="1"/>
          <p:nvPr/>
        </p:nvSpPr>
        <p:spPr>
          <a:xfrm>
            <a:off x="914400" y="2194560"/>
            <a:ext cx="6858000" cy="4023360"/>
          </a:xfrm>
          <a:prstGeom prst="rect">
            <a:avLst/>
          </a:prstGeom>
          <a:noFill/>
        </p:spPr>
        <p:txBody>
          <a:bodyPr wrap="square" lIns="0" rIns="0" tIns="0" bIns="0">
            <a:spAutoFit/>
          </a:bodyPr>
          <a:lstStyle/>
          <a:p>
            <a:pPr algn="l" indent="-228600" marL="228600">
              <a:spcAft>
                <a:spcPts val="1000"/>
              </a:spcAft>
              <a:buChar char="•"/>
            </a:pPr>
            <a:r>
              <a:rPr sz="1500" b="1">
                <a:solidFill>
                  <a:srgbClr val="0F172A"/>
                </a:solidFill>
                <a:latin typeface="Calibri"/>
              </a:rPr>
              <a:t>Microsoft MVP</a:t>
            </a:r>
            <a:r>
              <a:rPr sz="1500">
                <a:solidFill>
                  <a:srgbClr val="0F172A"/>
                </a:solidFill>
                <a:latin typeface="Calibri"/>
              </a:rPr>
              <a:t>  7 years in Azure AI · 28 years as a Microsoft Certified Trainer.</a:t>
            </a:r>
          </a:p>
          <a:p>
            <a:pPr algn="l" indent="-228600" marL="228600">
              <a:spcAft>
                <a:spcPts val="1000"/>
              </a:spcAft>
              <a:buChar char="•"/>
            </a:pPr>
            <a:r>
              <a:rPr sz="1500" b="1">
                <a:solidFill>
                  <a:srgbClr val="0F172A"/>
                </a:solidFill>
                <a:latin typeface="Calibri"/>
              </a:rPr>
              <a:t>Principal Staff Author</a:t>
            </a:r>
            <a:r>
              <a:rPr sz="1500">
                <a:solidFill>
                  <a:srgbClr val="0F172A"/>
                </a:solidFill>
                <a:latin typeface="Calibri"/>
              </a:rPr>
              <a:t>  200+ courses at Pluralsight, plus O'Reilly, Pearson, and LinkedIn Learning.</a:t>
            </a:r>
          </a:p>
          <a:p>
            <a:pPr algn="l" indent="-228600" marL="228600">
              <a:spcAft>
                <a:spcPts val="1000"/>
              </a:spcAft>
              <a:buChar char="•"/>
            </a:pPr>
            <a:r>
              <a:rPr sz="1500" b="1">
                <a:solidFill>
                  <a:srgbClr val="0F172A"/>
                </a:solidFill>
                <a:latin typeface="Calibri"/>
              </a:rPr>
              <a:t>Practitioner</a:t>
            </a:r>
            <a:r>
              <a:rPr sz="1500">
                <a:solidFill>
                  <a:srgbClr val="0F172A"/>
                </a:solidFill>
                <a:latin typeface="Calibri"/>
              </a:rPr>
              <a:t>  Currently shipping MCP servers, Azure AI Foundry agents, and Copilot tooling.</a:t>
            </a:r>
          </a:p>
          <a:p>
            <a:pPr algn="l" indent="-228600" marL="228600">
              <a:spcAft>
                <a:spcPts val="1000"/>
              </a:spcAft>
              <a:buChar char="•"/>
            </a:pPr>
            <a:r>
              <a:rPr sz="1500" b="1">
                <a:solidFill>
                  <a:srgbClr val="0F172A"/>
                </a:solidFill>
                <a:latin typeface="Calibri"/>
              </a:rPr>
              <a:t>Father, musician, lifelong learner</a:t>
            </a:r>
            <a:r>
              <a:rPr sz="1500">
                <a:solidFill>
                  <a:srgbClr val="0F172A"/>
                </a:solidFill>
                <a:latin typeface="Calibri"/>
              </a:rPr>
              <a:t>  Nashville, TN. Stoic. Single dad to Zoey. Plays a Gibson Les Paul Custom.</a:t>
            </a:r>
          </a:p>
        </p:txBody>
      </p:sp>
      <p:sp>
        <p:nvSpPr>
          <p:cNvPr id="10" name="Rectangle 9"/>
          <p:cNvSpPr/>
          <p:nvPr/>
        </p:nvSpPr>
        <p:spPr>
          <a:xfrm>
            <a:off x="8046720" y="1417320"/>
            <a:ext cx="3657600" cy="48463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291840" cy="457200"/>
          </a:xfrm>
          <a:prstGeom prst="rect">
            <a:avLst/>
          </a:prstGeom>
          <a:noFill/>
        </p:spPr>
        <p:txBody>
          <a:bodyPr wrap="square" lIns="0" rIns="0" tIns="0" bIns="0" anchor="t">
            <a:spAutoFit/>
          </a:bodyPr>
          <a:lstStyle/>
          <a:p>
            <a:pPr algn="l"/>
            <a:r>
              <a:rPr sz="1800" b="1" i="0">
                <a:solidFill>
                  <a:srgbClr val="FFB703"/>
                </a:solidFill>
                <a:latin typeface="Calibri"/>
              </a:rPr>
              <a:t>Stay in touch</a:t>
            </a:r>
          </a:p>
        </p:txBody>
      </p:sp>
      <p:sp>
        <p:nvSpPr>
          <p:cNvPr id="12" name="TextBox 11"/>
          <p:cNvSpPr txBox="1"/>
          <p:nvPr/>
        </p:nvSpPr>
        <p:spPr>
          <a:xfrm>
            <a:off x="8229600" y="2240280"/>
            <a:ext cx="3291840" cy="3657600"/>
          </a:xfrm>
          <a:prstGeom prst="rect">
            <a:avLst/>
          </a:prstGeom>
          <a:noFill/>
        </p:spPr>
        <p:txBody>
          <a:bodyPr wrap="square" lIns="0" rIns="0" tIns="0" bIns="0">
            <a:spAutoFit/>
          </a:bodyPr>
          <a:lstStyle/>
          <a:p>
            <a:pPr algn="l" indent="-228600" marL="228600">
              <a:spcAft>
                <a:spcPts val="800"/>
              </a:spcAft>
              <a:buChar char="•"/>
            </a:pPr>
            <a:r>
              <a:rPr sz="1400">
                <a:solidFill>
                  <a:srgbClr val="FFFFFF"/>
                </a:solidFill>
                <a:latin typeface="Calibri"/>
              </a:rPr>
              <a:t>techtrainertim.com</a:t>
            </a:r>
          </a:p>
          <a:p>
            <a:pPr algn="l" indent="-228600" marL="228600">
              <a:spcAft>
                <a:spcPts val="800"/>
              </a:spcAft>
              <a:buChar char="•"/>
            </a:pPr>
            <a:r>
              <a:rPr sz="1400">
                <a:solidFill>
                  <a:srgbClr val="FFFFFF"/>
                </a:solidFill>
                <a:latin typeface="Calibri"/>
              </a:rPr>
              <a:t>linkedin.com/in/timothywarner</a:t>
            </a:r>
          </a:p>
          <a:p>
            <a:pPr algn="l" indent="-228600" marL="228600">
              <a:spcAft>
                <a:spcPts val="800"/>
              </a:spcAft>
              <a:buChar char="•"/>
            </a:pPr>
            <a:r>
              <a:rPr sz="1400">
                <a:solidFill>
                  <a:srgbClr val="FFFFFF"/>
                </a:solidFill>
                <a:latin typeface="Calibri"/>
              </a:rPr>
              <a:t>github.com/timothywarner-org</a:t>
            </a:r>
          </a:p>
          <a:p>
            <a:pPr algn="l" indent="-228600" marL="228600">
              <a:spcAft>
                <a:spcPts val="800"/>
              </a:spcAft>
              <a:buChar char="•"/>
            </a:pPr>
            <a:r>
              <a:rPr sz="1400">
                <a:solidFill>
                  <a:srgbClr val="FFFFFF"/>
                </a:solidFill>
                <a:latin typeface="Calibri"/>
              </a:rPr>
              <a:t>youtube.com/@TechTrainerTim</a:t>
            </a:r>
          </a:p>
          <a:p>
            <a:pPr algn="l" indent="-228600" marL="228600">
              <a:spcAft>
                <a:spcPts val="800"/>
              </a:spcAft>
              <a:buChar char="•"/>
            </a:pPr>
            <a:r>
              <a:rPr sz="1400">
                <a:solidFill>
                  <a:srgbClr val="FFFFFF"/>
                </a:solidFill>
                <a:latin typeface="Calibri"/>
              </a:rPr>
              <a:t>learning.oreilly.com/search/?q=Tim+Warner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Today's roadmap (Central Time)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417320"/>
            <a:ext cx="10972800" cy="4572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972800" cy="457200"/>
          </a:xfrm>
          <a:prstGeom prst="rect">
            <a:avLst/>
          </a:prstGeom>
          <a:noFill/>
        </p:spPr>
        <p:txBody>
          <a:bodyPr wrap="square" lIns="0" rIns="0" tIns="0" bIns="0" anchor="ctr">
            <a:spAutoFit/>
          </a:bodyPr>
          <a:lstStyle/>
          <a:p>
            <a:pPr algn="l"/>
            <a:r>
              <a:rPr sz="1400" b="1" i="0">
                <a:solidFill>
                  <a:srgbClr val="07122C"/>
                </a:solidFill>
                <a:latin typeface="Calibri"/>
              </a:rPr>
              <a:t>Four 60-minute segments  ·  ~70% live demo  ·  Q&amp;A throughout</a:t>
            </a:r>
          </a:p>
        </p:txBody>
      </p:sp>
      <p:sp>
        <p:nvSpPr>
          <p:cNvPr id="9" name="Rectangle 8"/>
          <p:cNvSpPr/>
          <p:nvPr/>
        </p:nvSpPr>
        <p:spPr>
          <a:xfrm>
            <a:off x="640080" y="219456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31720"/>
            <a:ext cx="1463040" cy="594360"/>
          </a:xfrm>
          <a:prstGeom prst="rect">
            <a:avLst/>
          </a:prstGeom>
          <a:noFill/>
        </p:spPr>
        <p:txBody>
          <a:bodyPr wrap="square" lIns="0" rIns="0" tIns="0" bIns="0" anchor="ctr">
            <a:spAutoFit/>
          </a:bodyPr>
          <a:lstStyle/>
          <a:p>
            <a:pPr algn="l"/>
            <a:r>
              <a:rPr sz="2200" b="1" i="0">
                <a:solidFill>
                  <a:srgbClr val="00B4D8"/>
                </a:solidFill>
                <a:latin typeface="Calibri"/>
              </a:rPr>
              <a:t>09:00</a:t>
            </a:r>
          </a:p>
        </p:txBody>
      </p:sp>
      <p:sp>
        <p:nvSpPr>
          <p:cNvPr id="11" name="TextBox 10"/>
          <p:cNvSpPr txBox="1"/>
          <p:nvPr/>
        </p:nvSpPr>
        <p:spPr>
          <a:xfrm>
            <a:off x="2377440" y="2240280"/>
            <a:ext cx="9144000" cy="411480"/>
          </a:xfrm>
          <a:prstGeom prst="rect">
            <a:avLst/>
          </a:prstGeom>
          <a:noFill/>
        </p:spPr>
        <p:txBody>
          <a:bodyPr wrap="square" lIns="0" rIns="0" tIns="0" bIns="0" anchor="t">
            <a:spAutoFit/>
          </a:bodyPr>
          <a:lstStyle/>
          <a:p>
            <a:pPr algn="l"/>
            <a:r>
              <a:rPr sz="1800" b="1" i="0">
                <a:solidFill>
                  <a:srgbClr val="0B1B3F"/>
                </a:solidFill>
                <a:latin typeface="Calibri"/>
              </a:rPr>
              <a:t>What is an Agent?</a:t>
            </a:r>
          </a:p>
        </p:txBody>
      </p:sp>
      <p:sp>
        <p:nvSpPr>
          <p:cNvPr id="12" name="TextBox 11"/>
          <p:cNvSpPr txBox="1"/>
          <p:nvPr/>
        </p:nvSpPr>
        <p:spPr>
          <a:xfrm>
            <a:off x="2377440" y="2651760"/>
            <a:ext cx="9144000" cy="411480"/>
          </a:xfrm>
          <a:prstGeom prst="rect">
            <a:avLst/>
          </a:prstGeom>
          <a:noFill/>
        </p:spPr>
        <p:txBody>
          <a:bodyPr wrap="square" lIns="0" rIns="0" tIns="0" bIns="0" anchor="t">
            <a:spAutoFit/>
          </a:bodyPr>
          <a:lstStyle/>
          <a:p>
            <a:pPr algn="l"/>
            <a:r>
              <a:rPr sz="1300" b="0" i="1">
                <a:solidFill>
                  <a:srgbClr val="475569"/>
                </a:solidFill>
                <a:latin typeface="Calibri"/>
              </a:rPr>
              <a:t>ReAct loop · Claude Code · Copilot Studio · low-code vs code-first.</a:t>
            </a:r>
          </a:p>
        </p:txBody>
      </p:sp>
      <p:sp>
        <p:nvSpPr>
          <p:cNvPr id="13" name="Rectangle 12"/>
          <p:cNvSpPr/>
          <p:nvPr/>
        </p:nvSpPr>
        <p:spPr>
          <a:xfrm>
            <a:off x="640080" y="315468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291840"/>
            <a:ext cx="1463040" cy="594360"/>
          </a:xfrm>
          <a:prstGeom prst="rect">
            <a:avLst/>
          </a:prstGeom>
          <a:noFill/>
        </p:spPr>
        <p:txBody>
          <a:bodyPr wrap="square" lIns="0" rIns="0" tIns="0" bIns="0" anchor="ctr">
            <a:spAutoFit/>
          </a:bodyPr>
          <a:lstStyle/>
          <a:p>
            <a:pPr algn="l"/>
            <a:r>
              <a:rPr sz="2200" b="1" i="0">
                <a:solidFill>
                  <a:srgbClr val="00B4D8"/>
                </a:solidFill>
                <a:latin typeface="Calibri"/>
              </a:rPr>
              <a:t>10:00</a:t>
            </a:r>
          </a:p>
        </p:txBody>
      </p:sp>
      <p:sp>
        <p:nvSpPr>
          <p:cNvPr id="15" name="TextBox 14"/>
          <p:cNvSpPr txBox="1"/>
          <p:nvPr/>
        </p:nvSpPr>
        <p:spPr>
          <a:xfrm>
            <a:off x="2377440" y="3200400"/>
            <a:ext cx="9144000" cy="411480"/>
          </a:xfrm>
          <a:prstGeom prst="rect">
            <a:avLst/>
          </a:prstGeom>
          <a:noFill/>
        </p:spPr>
        <p:txBody>
          <a:bodyPr wrap="square" lIns="0" rIns="0" tIns="0" bIns="0" anchor="t">
            <a:spAutoFit/>
          </a:bodyPr>
          <a:lstStyle/>
          <a:p>
            <a:pPr algn="l"/>
            <a:r>
              <a:rPr sz="1800" b="1" i="0">
                <a:solidFill>
                  <a:srgbClr val="0B1B3F"/>
                </a:solidFill>
                <a:latin typeface="Calibri"/>
              </a:rPr>
              <a:t>Run the Parallel Pipeline</a:t>
            </a:r>
          </a:p>
        </p:txBody>
      </p:sp>
      <p:sp>
        <p:nvSpPr>
          <p:cNvPr id="16" name="TextBox 15"/>
          <p:cNvSpPr txBox="1"/>
          <p:nvPr/>
        </p:nvSpPr>
        <p:spPr>
          <a:xfrm>
            <a:off x="2377440" y="3611880"/>
            <a:ext cx="9144000" cy="411480"/>
          </a:xfrm>
          <a:prstGeom prst="rect">
            <a:avLst/>
          </a:prstGeom>
          <a:noFill/>
        </p:spPr>
        <p:txBody>
          <a:bodyPr wrap="square" lIns="0" rIns="0" tIns="0" bIns="0" anchor="t">
            <a:spAutoFit/>
          </a:bodyPr>
          <a:lstStyle/>
          <a:p>
            <a:pPr algn="l"/>
            <a:r>
              <a:rPr sz="1300" b="0" i="1">
                <a:solidFill>
                  <a:srgbClr val="475569"/>
                </a:solidFill>
                <a:latin typeface="Calibri"/>
              </a:rPr>
              <a:t>LangGraph + CrewAI · runs.html · VS Code debugging · tests.</a:t>
            </a:r>
          </a:p>
        </p:txBody>
      </p:sp>
      <p:sp>
        <p:nvSpPr>
          <p:cNvPr id="17" name="Rectangle 16"/>
          <p:cNvSpPr/>
          <p:nvPr/>
        </p:nvSpPr>
        <p:spPr>
          <a:xfrm>
            <a:off x="640080" y="411480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51960"/>
            <a:ext cx="1463040" cy="594360"/>
          </a:xfrm>
          <a:prstGeom prst="rect">
            <a:avLst/>
          </a:prstGeom>
          <a:noFill/>
        </p:spPr>
        <p:txBody>
          <a:bodyPr wrap="square" lIns="0" rIns="0" tIns="0" bIns="0" anchor="ctr">
            <a:spAutoFit/>
          </a:bodyPr>
          <a:lstStyle/>
          <a:p>
            <a:pPr algn="l"/>
            <a:r>
              <a:rPr sz="2200" b="1" i="0">
                <a:solidFill>
                  <a:srgbClr val="00B4D8"/>
                </a:solidFill>
                <a:latin typeface="Calibri"/>
              </a:rPr>
              <a:t>11:00</a:t>
            </a:r>
          </a:p>
        </p:txBody>
      </p:sp>
      <p:sp>
        <p:nvSpPr>
          <p:cNvPr id="19" name="TextBox 18"/>
          <p:cNvSpPr txBox="1"/>
          <p:nvPr/>
        </p:nvSpPr>
        <p:spPr>
          <a:xfrm>
            <a:off x="2377440" y="4160520"/>
            <a:ext cx="9144000" cy="411480"/>
          </a:xfrm>
          <a:prstGeom prst="rect">
            <a:avLst/>
          </a:prstGeom>
          <a:noFill/>
        </p:spPr>
        <p:txBody>
          <a:bodyPr wrap="square" lIns="0" rIns="0" tIns="0" bIns="0" anchor="t">
            <a:spAutoFit/>
          </a:bodyPr>
          <a:lstStyle/>
          <a:p>
            <a:pPr algn="l"/>
            <a:r>
              <a:rPr sz="1800" b="1" i="0">
                <a:solidFill>
                  <a:srgbClr val="0B1B3F"/>
                </a:solidFill>
                <a:latin typeface="Calibri"/>
              </a:rPr>
              <a:t>Tools, Knowledge, MCP</a:t>
            </a:r>
          </a:p>
        </p:txBody>
      </p:sp>
      <p:sp>
        <p:nvSpPr>
          <p:cNvPr id="20" name="TextBox 19"/>
          <p:cNvSpPr txBox="1"/>
          <p:nvPr/>
        </p:nvSpPr>
        <p:spPr>
          <a:xfrm>
            <a:off x="2377440" y="4572000"/>
            <a:ext cx="9144000" cy="411480"/>
          </a:xfrm>
          <a:prstGeom prst="rect">
            <a:avLst/>
          </a:prstGeom>
          <a:noFill/>
        </p:spPr>
        <p:txBody>
          <a:bodyPr wrap="square" lIns="0" rIns="0" tIns="0" bIns="0" anchor="t">
            <a:spAutoFit/>
          </a:bodyPr>
          <a:lstStyle/>
          <a:p>
            <a:pPr algn="l"/>
            <a:r>
              <a:rPr sz="1300" b="0" i="1">
                <a:solidFill>
                  <a:srgbClr val="475569"/>
                </a:solidFill>
                <a:latin typeface="Calibri"/>
              </a:rPr>
              <a:t>FastMCP 2 · all 5 MCP primitives · ChromaDB RAG · vibe coding.</a:t>
            </a:r>
          </a:p>
        </p:txBody>
      </p:sp>
      <p:sp>
        <p:nvSpPr>
          <p:cNvPr id="21" name="Rectangle 20"/>
          <p:cNvSpPr/>
          <p:nvPr/>
        </p:nvSpPr>
        <p:spPr>
          <a:xfrm>
            <a:off x="640080" y="5074920"/>
            <a:ext cx="9144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212080"/>
            <a:ext cx="1463040" cy="594360"/>
          </a:xfrm>
          <a:prstGeom prst="rect">
            <a:avLst/>
          </a:prstGeom>
          <a:noFill/>
        </p:spPr>
        <p:txBody>
          <a:bodyPr wrap="square" lIns="0" rIns="0" tIns="0" bIns="0" anchor="ctr">
            <a:spAutoFit/>
          </a:bodyPr>
          <a:lstStyle/>
          <a:p>
            <a:pPr algn="l"/>
            <a:r>
              <a:rPr sz="2200" b="1" i="0">
                <a:solidFill>
                  <a:srgbClr val="00B4D8"/>
                </a:solidFill>
                <a:latin typeface="Calibri"/>
              </a:rPr>
              <a:t>12:00</a:t>
            </a:r>
          </a:p>
        </p:txBody>
      </p:sp>
      <p:sp>
        <p:nvSpPr>
          <p:cNvPr id="23" name="TextBox 22"/>
          <p:cNvSpPr txBox="1"/>
          <p:nvPr/>
        </p:nvSpPr>
        <p:spPr>
          <a:xfrm>
            <a:off x="2377440" y="5120640"/>
            <a:ext cx="9144000" cy="411480"/>
          </a:xfrm>
          <a:prstGeom prst="rect">
            <a:avLst/>
          </a:prstGeom>
          <a:noFill/>
        </p:spPr>
        <p:txBody>
          <a:bodyPr wrap="square" lIns="0" rIns="0" tIns="0" bIns="0" anchor="t">
            <a:spAutoFit/>
          </a:bodyPr>
          <a:lstStyle/>
          <a:p>
            <a:pPr algn="l"/>
            <a:r>
              <a:rPr sz="1800" b="1" i="0">
                <a:solidFill>
                  <a:srgbClr val="0B1B3F"/>
                </a:solidFill>
                <a:latin typeface="Calibri"/>
              </a:rPr>
              <a:t>Production on Azure</a:t>
            </a:r>
          </a:p>
        </p:txBody>
      </p:sp>
      <p:sp>
        <p:nvSpPr>
          <p:cNvPr id="24" name="TextBox 23"/>
          <p:cNvSpPr txBox="1"/>
          <p:nvPr/>
        </p:nvSpPr>
        <p:spPr>
          <a:xfrm>
            <a:off x="2377440" y="5532120"/>
            <a:ext cx="9144000" cy="411480"/>
          </a:xfrm>
          <a:prstGeom prst="rect">
            <a:avLst/>
          </a:prstGeom>
          <a:noFill/>
        </p:spPr>
        <p:txBody>
          <a:bodyPr wrap="square" lIns="0" rIns="0" tIns="0" bIns="0" anchor="t">
            <a:spAutoFit/>
          </a:bodyPr>
          <a:lstStyle/>
          <a:p>
            <a:pPr algn="l"/>
            <a:r>
              <a:rPr sz="1300" b="0" i="1">
                <a:solidFill>
                  <a:srgbClr val="475569"/>
                </a:solidFill>
                <a:latin typeface="Calibri"/>
              </a:rPr>
              <a:t>Foundry Agent Service · Container Apps · APIM AI Gateway · Guardrails.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Course materials &amp; repo</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200"/>
              </a:spcAft>
              <a:buChar char="•"/>
            </a:pPr>
            <a:r>
              <a:rPr sz="1500" b="1">
                <a:solidFill>
                  <a:srgbClr val="0F172A"/>
                </a:solidFill>
                <a:latin typeface="Calibri"/>
              </a:rPr>
              <a:t>Short link</a:t>
            </a:r>
            <a:r>
              <a:rPr sz="1500">
                <a:solidFill>
                  <a:srgbClr val="0F172A"/>
                </a:solidFill>
                <a:latin typeface="Calibri"/>
              </a:rPr>
              <a:t>  timw.info/agents2 — slides, sample resumes, scripts.</a:t>
            </a:r>
          </a:p>
          <a:p>
            <a:pPr algn="l" indent="-228600" marL="228600">
              <a:spcAft>
                <a:spcPts val="1200"/>
              </a:spcAft>
              <a:buChar char="•"/>
            </a:pPr>
            <a:r>
              <a:rPr sz="1500" b="1">
                <a:solidFill>
                  <a:srgbClr val="0F172A"/>
                </a:solidFill>
                <a:latin typeface="Calibri"/>
              </a:rPr>
              <a:t>GitHub repo</a:t>
            </a:r>
            <a:r>
              <a:rPr sz="1500">
                <a:solidFill>
                  <a:srgbClr val="0F172A"/>
                </a:solidFill>
                <a:latin typeface="Calibri"/>
              </a:rPr>
              <a:t>  github.com/timothywarner-org/agents2 (the contoso-hr-agent project).</a:t>
            </a:r>
          </a:p>
          <a:p>
            <a:pPr algn="l" indent="-228600" marL="228600">
              <a:spcAft>
                <a:spcPts val="1200"/>
              </a:spcAft>
              <a:buChar char="•"/>
            </a:pPr>
            <a:r>
              <a:rPr sz="1500" b="1">
                <a:solidFill>
                  <a:srgbClr val="0F172A"/>
                </a:solidFill>
                <a:latin typeface="Calibri"/>
              </a:rPr>
              <a:t>Dev container</a:t>
            </a:r>
            <a:r>
              <a:rPr sz="1500">
                <a:solidFill>
                  <a:srgbClr val="0F172A"/>
                </a:solidFill>
                <a:latin typeface="Calibri"/>
              </a:rPr>
              <a:t>  Codespaces-ready · Python 3.11 · uv · LangGraph + CrewAI + FastMCP 2.</a:t>
            </a:r>
          </a:p>
          <a:p>
            <a:pPr algn="l" indent="-228600" marL="228600">
              <a:spcAft>
                <a:spcPts val="1200"/>
              </a:spcAft>
              <a:buChar char="•"/>
            </a:pPr>
            <a:r>
              <a:rPr sz="1500" b="1">
                <a:solidFill>
                  <a:srgbClr val="0F172A"/>
                </a:solidFill>
                <a:latin typeface="Calibri"/>
              </a:rPr>
              <a:t>Optional accounts</a:t>
            </a:r>
            <a:r>
              <a:rPr sz="1500">
                <a:solidFill>
                  <a:srgbClr val="0F172A"/>
                </a:solidFill>
                <a:latin typeface="Calibri"/>
              </a:rPr>
              <a:t>  Azure (free tier OK) · Anthropic Claude Code · OpenAI.</a:t>
            </a:r>
          </a:p>
          <a:p>
            <a:pPr algn="l" indent="-228600" marL="228600">
              <a:spcAft>
                <a:spcPts val="1200"/>
              </a:spcAft>
              <a:buChar char="•"/>
            </a:pPr>
            <a:r>
              <a:rPr sz="1500" b="1">
                <a:solidFill>
                  <a:srgbClr val="0F172A"/>
                </a:solidFill>
                <a:latin typeface="Calibri"/>
              </a:rPr>
              <a:t>Sample resumes</a:t>
            </a:r>
            <a:r>
              <a:rPr sz="1500">
                <a:solidFill>
                  <a:srgbClr val="0F172A"/>
                </a:solidFill>
                <a:latin typeface="Calibri"/>
              </a:rPr>
              <a:t>  13 candidates spanning Strong Match → Not Qualified.</a:t>
            </a:r>
          </a:p>
        </p:txBody>
      </p:sp>
      <p:sp>
        <p:nvSpPr>
          <p:cNvPr id="8" name="Rectangle 7"/>
          <p:cNvSpPr/>
          <p:nvPr/>
        </p:nvSpPr>
        <p:spPr>
          <a:xfrm>
            <a:off x="7863840" y="1417320"/>
            <a:ext cx="384048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If you only do one thing</a:t>
            </a:r>
          </a:p>
        </p:txBody>
      </p:sp>
      <p:sp>
        <p:nvSpPr>
          <p:cNvPr id="10" name="TextBox 9"/>
          <p:cNvSpPr txBox="1"/>
          <p:nvPr/>
        </p:nvSpPr>
        <p:spPr>
          <a:xfrm>
            <a:off x="8092440" y="2286000"/>
            <a:ext cx="3383280" cy="2286000"/>
          </a:xfrm>
          <a:prstGeom prst="rect">
            <a:avLst/>
          </a:prstGeom>
          <a:noFill/>
        </p:spPr>
        <p:txBody>
          <a:bodyPr wrap="square" lIns="0" rIns="0" tIns="0" bIns="0" anchor="t">
            <a:spAutoFit/>
          </a:bodyPr>
          <a:lstStyle/>
          <a:p>
            <a:pPr algn="l"/>
            <a:r>
              <a:rPr sz="1400" b="0" i="0">
                <a:solidFill>
                  <a:srgbClr val="FFFFFF"/>
                </a:solidFill>
                <a:latin typeface="Calibri"/>
              </a:rPr>
              <a:t>Clone the repo right now and run
uv venv &amp;&amp; uv sync &amp;&amp; uv run hr-seed.
Seeding takes ~60 seconds and lets you follow every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we'll work together</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a:solidFill>
                  <a:srgbClr val="0F172A"/>
                </a:solidFill>
                <a:latin typeface="Calibri"/>
              </a:rPr>
              <a:t>Live demos drive the session — slides exist to anchor the concept, not replace the work.</a:t>
            </a:r>
          </a:p>
          <a:p>
            <a:pPr algn="l" indent="-228600" marL="228600">
              <a:spcAft>
                <a:spcPts val="1000"/>
              </a:spcAft>
              <a:buChar char="•"/>
            </a:pPr>
            <a:r>
              <a:rPr sz="1800">
                <a:solidFill>
                  <a:srgbClr val="0F172A"/>
                </a:solidFill>
                <a:latin typeface="Calibri"/>
              </a:rPr>
              <a:t>I'll narrate every keystroke. If I move too fast, drop a note in Q&amp;A.</a:t>
            </a:r>
          </a:p>
          <a:p>
            <a:pPr algn="l" indent="-228600" marL="228600">
              <a:spcAft>
                <a:spcPts val="1000"/>
              </a:spcAft>
              <a:buChar char="•"/>
            </a:pPr>
            <a:r>
              <a:rPr sz="1800">
                <a:solidFill>
                  <a:srgbClr val="0F172A"/>
                </a:solidFill>
                <a:latin typeface="Calibri"/>
              </a:rPr>
              <a:t>Use the Q&amp;A window for questions; chat for side-conversations and links.</a:t>
            </a:r>
          </a:p>
          <a:p>
            <a:pPr algn="l" indent="-228600" marL="228600">
              <a:spcAft>
                <a:spcPts val="1000"/>
              </a:spcAft>
              <a:buChar char="•"/>
            </a:pPr>
            <a:r>
              <a:rPr sz="1800">
                <a:solidFill>
                  <a:srgbClr val="0F172A"/>
                </a:solidFill>
                <a:latin typeface="Calibri"/>
              </a:rPr>
              <a:t>Code is in the repo. You can follow along, watch, or skim — all three work.</a:t>
            </a:r>
          </a:p>
          <a:p>
            <a:pPr algn="l" indent="-228600" marL="228600">
              <a:spcAft>
                <a:spcPts val="1000"/>
              </a:spcAft>
              <a:buChar char="•"/>
            </a:pPr>
            <a:r>
              <a:rPr sz="1800">
                <a:solidFill>
                  <a:srgbClr val="0F172A"/>
                </a:solidFill>
                <a:latin typeface="Calibri"/>
              </a:rPr>
              <a:t>Stretch breaks at the top of each hour and a longer break at the half.</a:t>
            </a:r>
          </a:p>
          <a:p>
            <a:pPr algn="l" indent="-228600" marL="228600">
              <a:spcAft>
                <a:spcPts val="1000"/>
              </a:spcAft>
              <a:buChar char="•"/>
            </a:pPr>
            <a:r>
              <a:rPr sz="1800">
                <a:solidFill>
                  <a:srgbClr val="0F172A"/>
                </a:solidFill>
                <a:latin typeface="Calibri"/>
              </a:rPr>
              <a:t>Finished a section early? Jump ahead. The repo has the full pipeline ready to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Recording, slides &amp; completion badge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572000"/>
          </a:xfrm>
          <a:prstGeom prst="rect">
            <a:avLst/>
          </a:prstGeom>
          <a:noFill/>
        </p:spPr>
        <p:txBody>
          <a:bodyPr wrap="square" lIns="0" rIns="0" tIns="0" bIns="0">
            <a:spAutoFit/>
          </a:bodyPr>
          <a:lstStyle/>
          <a:p>
            <a:pPr algn="l" indent="-228600" marL="228600">
              <a:spcAft>
                <a:spcPts val="1400"/>
              </a:spcAft>
              <a:buChar char="•"/>
            </a:pPr>
            <a:r>
              <a:rPr sz="1800" b="1">
                <a:solidFill>
                  <a:srgbClr val="0F172A"/>
                </a:solidFill>
                <a:latin typeface="Calibri"/>
              </a:rPr>
              <a:t>Recording</a:t>
            </a:r>
            <a:r>
              <a:rPr sz="1800">
                <a:solidFill>
                  <a:srgbClr val="0F172A"/>
                </a:solidFill>
                <a:latin typeface="Calibri"/>
              </a:rPr>
              <a:t>  Available on the O'Reilly platform within 24-48 hours.</a:t>
            </a:r>
          </a:p>
          <a:p>
            <a:pPr algn="l" indent="-228600" marL="228600">
              <a:spcAft>
                <a:spcPts val="1400"/>
              </a:spcAft>
              <a:buChar char="•"/>
            </a:pPr>
            <a:r>
              <a:rPr sz="1800" b="1">
                <a:solidFill>
                  <a:srgbClr val="0F172A"/>
                </a:solidFill>
                <a:latin typeface="Calibri"/>
              </a:rPr>
              <a:t>Slides</a:t>
            </a:r>
            <a:r>
              <a:rPr sz="1800">
                <a:solidFill>
                  <a:srgbClr val="0F172A"/>
                </a:solidFill>
                <a:latin typeface="Calibri"/>
              </a:rPr>
              <a:t>  Posted in the course landing page · also at timw.info/agents2.</a:t>
            </a:r>
          </a:p>
          <a:p>
            <a:pPr algn="l" indent="-228600" marL="228600">
              <a:spcAft>
                <a:spcPts val="1400"/>
              </a:spcAft>
              <a:buChar char="•"/>
            </a:pPr>
            <a:r>
              <a:rPr sz="1800" b="1">
                <a:solidFill>
                  <a:srgbClr val="0F172A"/>
                </a:solidFill>
                <a:latin typeface="Calibri"/>
              </a:rPr>
              <a:t>Completion badge</a:t>
            </a:r>
            <a:r>
              <a:rPr sz="1800">
                <a:solidFill>
                  <a:srgbClr val="0F172A"/>
                </a:solidFill>
                <a:latin typeface="Calibri"/>
              </a:rPr>
              <a:t>  Issued after the session if you attend live (Acclaim / Credly).</a:t>
            </a:r>
          </a:p>
          <a:p>
            <a:pPr algn="l" indent="-228600" marL="228600">
              <a:spcAft>
                <a:spcPts val="1400"/>
              </a:spcAft>
              <a:buChar char="•"/>
            </a:pPr>
            <a:r>
              <a:rPr sz="1800" b="1">
                <a:solidFill>
                  <a:srgbClr val="0F172A"/>
                </a:solidFill>
                <a:latin typeface="Calibri"/>
              </a:rPr>
              <a:t>Captions</a:t>
            </a:r>
            <a:r>
              <a:rPr sz="1800">
                <a:solidFill>
                  <a:srgbClr val="0F172A"/>
                </a:solidFill>
                <a:latin typeface="Calibri"/>
              </a:rPr>
              <a:t>  Live captions on by default · search the transcript after the fact.</a:t>
            </a:r>
          </a:p>
          <a:p>
            <a:pPr algn="l" indent="-228600" marL="228600">
              <a:spcAft>
                <a:spcPts val="1400"/>
              </a:spcAft>
              <a:buChar char="•"/>
            </a:pPr>
            <a:r>
              <a:rPr sz="1800" b="1">
                <a:solidFill>
                  <a:srgbClr val="0F172A"/>
                </a:solidFill>
                <a:latin typeface="Calibri"/>
              </a:rPr>
              <a:t>CPE / continuing education</a:t>
            </a:r>
            <a:r>
              <a:rPr sz="1800">
                <a:solidFill>
                  <a:srgbClr val="0F172A"/>
                </a:solidFill>
                <a:latin typeface="Calibri"/>
              </a:rPr>
              <a:t>  O'Reilly issues a certificate of completion on request.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to ask questions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600" b="1">
                <a:solidFill>
                  <a:srgbClr val="0F172A"/>
                </a:solidFill>
                <a:latin typeface="Calibri"/>
              </a:rPr>
              <a:t>Q&amp;A window</a:t>
            </a:r>
            <a:r>
              <a:rPr sz="1600">
                <a:solidFill>
                  <a:srgbClr val="0F172A"/>
                </a:solidFill>
                <a:latin typeface="Calibri"/>
              </a:rPr>
              <a:t>  Drop questions there — only O'Reilly staff and I see them.</a:t>
            </a:r>
          </a:p>
          <a:p>
            <a:pPr algn="l" indent="-228600" marL="228600">
              <a:spcAft>
                <a:spcPts val="1100"/>
              </a:spcAft>
              <a:buChar char="•"/>
            </a:pPr>
            <a:r>
              <a:rPr sz="1600" b="1">
                <a:solidFill>
                  <a:srgbClr val="0F172A"/>
                </a:solidFill>
                <a:latin typeface="Calibri"/>
              </a:rPr>
              <a:t>Chat</a:t>
            </a:r>
            <a:r>
              <a:rPr sz="1600">
                <a:solidFill>
                  <a:srgbClr val="0F172A"/>
                </a:solidFill>
                <a:latin typeface="Calibri"/>
              </a:rPr>
              <a:t>  Use chat for links, side-conversations, and emoji reactions.</a:t>
            </a:r>
          </a:p>
          <a:p>
            <a:pPr algn="l" indent="-228600" marL="228600">
              <a:spcAft>
                <a:spcPts val="1100"/>
              </a:spcAft>
              <a:buChar char="•"/>
            </a:pPr>
            <a:r>
              <a:rPr sz="1600" b="1">
                <a:solidFill>
                  <a:srgbClr val="0F172A"/>
                </a:solidFill>
                <a:latin typeface="Calibri"/>
              </a:rPr>
              <a:t>Audio glitches</a:t>
            </a:r>
            <a:r>
              <a:rPr sz="1600">
                <a:solidFill>
                  <a:srgbClr val="0F172A"/>
                </a:solidFill>
                <a:latin typeface="Calibri"/>
              </a:rPr>
              <a:t>  Tell me in Q&amp;A if I get crispy or my video freezes.</a:t>
            </a:r>
          </a:p>
          <a:p>
            <a:pPr algn="l" indent="-228600" marL="228600">
              <a:spcAft>
                <a:spcPts val="1100"/>
              </a:spcAft>
              <a:buChar char="•"/>
            </a:pPr>
            <a:r>
              <a:rPr sz="1600" b="1">
                <a:solidFill>
                  <a:srgbClr val="0F172A"/>
                </a:solidFill>
                <a:latin typeface="Calibri"/>
              </a:rPr>
              <a:t>Privacy</a:t>
            </a:r>
            <a:r>
              <a:rPr sz="1600">
                <a:solidFill>
                  <a:srgbClr val="0F172A"/>
                </a:solidFill>
                <a:latin typeface="Calibri"/>
              </a:rPr>
              <a:t>  Your name shows as initials only · no company is visible.</a:t>
            </a:r>
          </a:p>
          <a:p>
            <a:pPr algn="l" indent="-228600" marL="228600">
              <a:spcAft>
                <a:spcPts val="1100"/>
              </a:spcAft>
              <a:buChar char="•"/>
            </a:pPr>
            <a:r>
              <a:rPr sz="1600" b="1">
                <a:solidFill>
                  <a:srgbClr val="0F172A"/>
                </a:solidFill>
                <a:latin typeface="Calibri"/>
              </a:rPr>
              <a:t>Don't wait</a:t>
            </a:r>
            <a:r>
              <a:rPr sz="1600">
                <a:solidFill>
                  <a:srgbClr val="0F172A"/>
                </a:solidFill>
                <a:latin typeface="Calibri"/>
              </a:rPr>
              <a:t>  Ask the question while it's hot — I'd rather pause than miss it.</a:t>
            </a:r>
          </a:p>
        </p:txBody>
      </p:sp>
      <p:sp>
        <p:nvSpPr>
          <p:cNvPr id="8" name="Rectangle 7"/>
          <p:cNvSpPr/>
          <p:nvPr/>
        </p:nvSpPr>
        <p:spPr>
          <a:xfrm>
            <a:off x="7863840" y="1417320"/>
            <a:ext cx="384048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828800"/>
            <a:ext cx="3383280" cy="2743200"/>
          </a:xfrm>
          <a:prstGeom prst="rect">
            <a:avLst/>
          </a:prstGeom>
          <a:noFill/>
        </p:spPr>
        <p:txBody>
          <a:bodyPr wrap="square" lIns="0" rIns="0" tIns="0" bIns="0" anchor="t">
            <a:spAutoFit/>
          </a:bodyPr>
          <a:lstStyle/>
          <a:p>
            <a:pPr algn="l"/>
            <a:r>
              <a:rPr sz="1800" b="1" i="1">
                <a:solidFill>
                  <a:srgbClr val="07122C"/>
                </a:solidFill>
                <a:latin typeface="Georgia"/>
              </a:rPr>
              <a:t>There are no silly questions. The dumb question you didn't ask is the one that's also bothering 12 other people.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you'll leave with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F172A"/>
                </a:solidFill>
                <a:latin typeface="Calibri"/>
              </a:rPr>
              <a:t>A working agent</a:t>
            </a:r>
            <a:r>
              <a:rPr sz="1800">
                <a:solidFill>
                  <a:srgbClr val="0F172A"/>
                </a:solidFill>
                <a:latin typeface="Calibri"/>
              </a:rPr>
              <a:t>  The Contoso HR Agent — a 4-agent parallel pipeline you can run on your laptop.</a:t>
            </a:r>
          </a:p>
          <a:p>
            <a:pPr algn="l" indent="-228600" marL="228600">
              <a:spcAft>
                <a:spcPts val="1000"/>
              </a:spcAft>
              <a:buChar char="•"/>
            </a:pPr>
            <a:r>
              <a:rPr sz="1800" b="1">
                <a:solidFill>
                  <a:srgbClr val="0F172A"/>
                </a:solidFill>
                <a:latin typeface="Calibri"/>
              </a:rPr>
              <a:t>A mental model</a:t>
            </a:r>
            <a:r>
              <a:rPr sz="1800">
                <a:solidFill>
                  <a:srgbClr val="0F172A"/>
                </a:solidFill>
                <a:latin typeface="Calibri"/>
              </a:rPr>
              <a:t>  When to reach for low-code (Copilot Studio) vs code-first (LangGraph + CrewAI).</a:t>
            </a:r>
          </a:p>
          <a:p>
            <a:pPr algn="l" indent="-228600" marL="228600">
              <a:spcAft>
                <a:spcPts val="1000"/>
              </a:spcAft>
              <a:buChar char="•"/>
            </a:pPr>
            <a:r>
              <a:rPr sz="1800" b="1">
                <a:solidFill>
                  <a:srgbClr val="0F172A"/>
                </a:solidFill>
                <a:latin typeface="Calibri"/>
              </a:rPr>
              <a:t>MCP fluency</a:t>
            </a:r>
            <a:r>
              <a:rPr sz="1800">
                <a:solidFill>
                  <a:srgbClr val="0F172A"/>
                </a:solidFill>
                <a:latin typeface="Calibri"/>
              </a:rPr>
              <a:t>  All five primitives: tools, resources, prompts, sampling, elicitation.</a:t>
            </a:r>
          </a:p>
          <a:p>
            <a:pPr algn="l" indent="-228600" marL="228600">
              <a:spcAft>
                <a:spcPts val="1000"/>
              </a:spcAft>
              <a:buChar char="•"/>
            </a:pPr>
            <a:r>
              <a:rPr sz="1800" b="1">
                <a:solidFill>
                  <a:srgbClr val="0F172A"/>
                </a:solidFill>
                <a:latin typeface="Calibri"/>
              </a:rPr>
              <a:t>Production patterns</a:t>
            </a:r>
            <a:r>
              <a:rPr sz="1800">
                <a:solidFill>
                  <a:srgbClr val="0F172A"/>
                </a:solidFill>
                <a:latin typeface="Calibri"/>
              </a:rPr>
              <a:t>  Foundry Agent Service · APIM AI gateway · guardrails · cost controls.</a:t>
            </a:r>
          </a:p>
          <a:p>
            <a:pPr algn="l" indent="-228600" marL="228600">
              <a:spcAft>
                <a:spcPts val="1000"/>
              </a:spcAft>
              <a:buChar char="•"/>
            </a:pPr>
            <a:r>
              <a:rPr sz="1800" b="1">
                <a:solidFill>
                  <a:srgbClr val="0F172A"/>
                </a:solidFill>
                <a:latin typeface="Calibri"/>
              </a:rPr>
              <a:t>A repo to fork</a:t>
            </a:r>
            <a:r>
              <a:rPr sz="1800">
                <a:solidFill>
                  <a:srgbClr val="0F172A"/>
                </a:solidFill>
                <a:latin typeface="Calibri"/>
              </a:rPr>
              <a:t>  github.com/timothywarner-org/agents2 — clone it, break it, ship something.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01</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What is an Agent?</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From chatbot to ReAct loop · low-code vs code-first · build with both.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Chatbot vs Agent — the action gap</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Chatbot</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Answers a question.</a:t>
            </a:r>
          </a:p>
          <a:p>
            <a:pPr algn="l" indent="-228600" marL="228600">
              <a:spcAft>
                <a:spcPts val="800"/>
              </a:spcAft>
              <a:buChar char="•"/>
            </a:pPr>
            <a:r>
              <a:rPr sz="1600">
                <a:solidFill>
                  <a:srgbClr val="0F172A"/>
                </a:solidFill>
                <a:latin typeface="Calibri"/>
              </a:rPr>
              <a:t>Stateless — each message is fresh.</a:t>
            </a:r>
          </a:p>
          <a:p>
            <a:pPr algn="l" indent="-228600" marL="228600">
              <a:spcAft>
                <a:spcPts val="800"/>
              </a:spcAft>
              <a:buChar char="•"/>
            </a:pPr>
            <a:r>
              <a:rPr sz="1600">
                <a:solidFill>
                  <a:srgbClr val="0F172A"/>
                </a:solidFill>
                <a:latin typeface="Calibri"/>
              </a:rPr>
              <a:t>No tools beyond text generation.</a:t>
            </a:r>
          </a:p>
          <a:p>
            <a:pPr algn="l" indent="-228600" marL="228600">
              <a:spcAft>
                <a:spcPts val="800"/>
              </a:spcAft>
              <a:buChar char="•"/>
            </a:pPr>
            <a:r>
              <a:rPr sz="1600">
                <a:solidFill>
                  <a:srgbClr val="0F172A"/>
                </a:solidFill>
                <a:latin typeface="Calibri"/>
              </a:rPr>
              <a:t>Single turn: prompt in, completion out.</a:t>
            </a:r>
          </a:p>
          <a:p>
            <a:pPr algn="l" indent="-228600" marL="228600">
              <a:spcAft>
                <a:spcPts val="800"/>
              </a:spcAft>
              <a:buChar char="•"/>
            </a:pPr>
            <a:r>
              <a:rPr sz="1600">
                <a:solidFill>
                  <a:srgbClr val="0F172A"/>
                </a:solidFill>
                <a:latin typeface="Calibri"/>
              </a:rPr>
              <a:t>If it can't answer, it apologizes.</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Agent</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Takes an action toward a goal.</a:t>
            </a:r>
          </a:p>
          <a:p>
            <a:pPr algn="l" indent="-228600" marL="228600">
              <a:spcAft>
                <a:spcPts val="800"/>
              </a:spcAft>
              <a:buChar char="•"/>
            </a:pPr>
            <a:r>
              <a:rPr sz="1600">
                <a:solidFill>
                  <a:srgbClr val="0F172A"/>
                </a:solidFill>
                <a:latin typeface="Calibri"/>
              </a:rPr>
              <a:t>Stateful — remembers context across turns.</a:t>
            </a:r>
          </a:p>
          <a:p>
            <a:pPr algn="l" indent="-228600" marL="228600">
              <a:spcAft>
                <a:spcPts val="800"/>
              </a:spcAft>
              <a:buChar char="•"/>
            </a:pPr>
            <a:r>
              <a:rPr sz="1600">
                <a:solidFill>
                  <a:srgbClr val="0F172A"/>
                </a:solidFill>
                <a:latin typeface="Calibri"/>
              </a:rPr>
              <a:t>Calls tools: APIs, files, databases, code.</a:t>
            </a:r>
          </a:p>
          <a:p>
            <a:pPr algn="l" indent="-228600" marL="228600">
              <a:spcAft>
                <a:spcPts val="800"/>
              </a:spcAft>
              <a:buChar char="•"/>
            </a:pPr>
            <a:r>
              <a:rPr sz="1600">
                <a:solidFill>
                  <a:srgbClr val="0F172A"/>
                </a:solidFill>
                <a:latin typeface="Calibri"/>
              </a:rPr>
              <a:t>Multi-turn loop: observe → think → act.</a:t>
            </a:r>
          </a:p>
          <a:p>
            <a:pPr algn="l" indent="-228600" marL="228600">
              <a:spcAft>
                <a:spcPts val="800"/>
              </a:spcAft>
              <a:buChar char="•"/>
            </a:pPr>
            <a:r>
              <a:rPr sz="1600">
                <a:solidFill>
                  <a:srgbClr val="0F172A"/>
                </a:solidFill>
                <a:latin typeface="Calibri"/>
              </a:rPr>
              <a:t>If it can't do it, it tries another path.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The ReAct loop — observe · think · act · repeat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417320"/>
            <a:ext cx="6400800" cy="47548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94560"/>
            <a:ext cx="2194560" cy="9144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2194560" cy="731520"/>
          </a:xfrm>
          <a:prstGeom prst="rect">
            <a:avLst/>
          </a:prstGeom>
          <a:noFill/>
        </p:spPr>
        <p:txBody>
          <a:bodyPr wrap="square" lIns="0" rIns="0" tIns="0" bIns="0" anchor="ctr">
            <a:spAutoFit/>
          </a:bodyPr>
          <a:lstStyle/>
          <a:p>
            <a:pPr algn="ctr"/>
            <a:r>
              <a:rPr sz="1800" b="1" i="0">
                <a:solidFill>
                  <a:srgbClr val="07122C"/>
                </a:solidFill>
                <a:latin typeface="Calibri"/>
              </a:rPr>
              <a:t>Observe</a:t>
            </a:r>
          </a:p>
        </p:txBody>
      </p:sp>
      <p:sp>
        <p:nvSpPr>
          <p:cNvPr id="10" name="Rectangle 9"/>
          <p:cNvSpPr/>
          <p:nvPr/>
        </p:nvSpPr>
        <p:spPr>
          <a:xfrm>
            <a:off x="4297680" y="2194560"/>
            <a:ext cx="2194560"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286000"/>
            <a:ext cx="2194560" cy="731520"/>
          </a:xfrm>
          <a:prstGeom prst="rect">
            <a:avLst/>
          </a:prstGeom>
          <a:noFill/>
        </p:spPr>
        <p:txBody>
          <a:bodyPr wrap="square" lIns="0" rIns="0" tIns="0" bIns="0" anchor="ctr">
            <a:spAutoFit/>
          </a:bodyPr>
          <a:lstStyle/>
          <a:p>
            <a:pPr algn="ctr"/>
            <a:r>
              <a:rPr sz="1800" b="1" i="0">
                <a:solidFill>
                  <a:srgbClr val="07122C"/>
                </a:solidFill>
                <a:latin typeface="Calibri"/>
              </a:rPr>
              <a:t>Think</a:t>
            </a:r>
          </a:p>
        </p:txBody>
      </p:sp>
      <p:sp>
        <p:nvSpPr>
          <p:cNvPr id="12" name="Rectangle 11"/>
          <p:cNvSpPr/>
          <p:nvPr/>
        </p:nvSpPr>
        <p:spPr>
          <a:xfrm>
            <a:off x="2697480" y="4206240"/>
            <a:ext cx="219456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80" y="4297680"/>
            <a:ext cx="2194560" cy="731520"/>
          </a:xfrm>
          <a:prstGeom prst="rect">
            <a:avLst/>
          </a:prstGeom>
          <a:noFill/>
        </p:spPr>
        <p:txBody>
          <a:bodyPr wrap="square" lIns="0" rIns="0" tIns="0" bIns="0" anchor="ctr">
            <a:spAutoFit/>
          </a:bodyPr>
          <a:lstStyle/>
          <a:p>
            <a:pPr algn="ctr"/>
            <a:r>
              <a:rPr sz="1800" b="1" i="0">
                <a:solidFill>
                  <a:srgbClr val="FFFFFF"/>
                </a:solidFill>
                <a:latin typeface="Calibri"/>
              </a:rPr>
              <a:t>Act</a:t>
            </a:r>
          </a:p>
        </p:txBody>
      </p:sp>
      <p:sp>
        <p:nvSpPr>
          <p:cNvPr id="14" name="Right Arrow 13"/>
          <p:cNvSpPr/>
          <p:nvPr/>
        </p:nvSpPr>
        <p:spPr>
          <a:xfrm>
            <a:off x="3383280" y="2468880"/>
            <a:ext cx="822960"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rot="5400000">
            <a:off x="4572000" y="3200400"/>
            <a:ext cx="822960"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rot="12600000">
            <a:off x="2377440" y="3657600"/>
            <a:ext cx="822960"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417320"/>
            <a:ext cx="4297680" cy="457200"/>
          </a:xfrm>
          <a:prstGeom prst="rect">
            <a:avLst/>
          </a:prstGeom>
          <a:noFill/>
        </p:spPr>
        <p:txBody>
          <a:bodyPr wrap="square" lIns="0" rIns="0" tIns="0" bIns="0" anchor="t">
            <a:spAutoFit/>
          </a:bodyPr>
          <a:lstStyle/>
          <a:p>
            <a:pPr algn="l"/>
            <a:r>
              <a:rPr sz="1800" b="1" i="0">
                <a:solidFill>
                  <a:srgbClr val="0B1B3F"/>
                </a:solidFill>
                <a:latin typeface="Calibri"/>
              </a:rPr>
              <a:t>What it looks like</a:t>
            </a:r>
          </a:p>
        </p:txBody>
      </p:sp>
      <p:sp>
        <p:nvSpPr>
          <p:cNvPr id="18" name="TextBox 17"/>
          <p:cNvSpPr txBox="1"/>
          <p:nvPr/>
        </p:nvSpPr>
        <p:spPr>
          <a:xfrm>
            <a:off x="7315200" y="1920240"/>
            <a:ext cx="4297680" cy="4114800"/>
          </a:xfrm>
          <a:prstGeom prst="rect">
            <a:avLst/>
          </a:prstGeom>
          <a:noFill/>
        </p:spPr>
        <p:txBody>
          <a:bodyPr wrap="square" lIns="0" rIns="0" tIns="0" bIns="0">
            <a:spAutoFit/>
          </a:bodyPr>
          <a:lstStyle/>
          <a:p>
            <a:pPr algn="l">
              <a:spcAft>
                <a:spcPts val="400"/>
              </a:spcAft>
            </a:pPr>
            <a:r>
              <a:rPr sz="1200">
                <a:solidFill>
                  <a:srgbClr val="0F172A"/>
                </a:solidFill>
                <a:latin typeface="Calibri"/>
              </a:rPr>
              <a:t>User: 'Add a login button to the header.'</a:t>
            </a:r>
          </a:p>
          <a:p>
            <a:pPr algn="l">
              <a:spcAft>
                <a:spcPts val="400"/>
              </a:spcAft>
            </a:pPr>
            <a:r>
              <a:rPr sz="1200">
                <a:solidFill>
                  <a:srgbClr val="0F172A"/>
                </a:solidFill>
                <a:latin typeface="Calibri"/>
              </a:rPr>
              <a:t>Think: I need to find the header file first.</a:t>
            </a:r>
          </a:p>
          <a:p>
            <a:pPr algn="l">
              <a:spcAft>
                <a:spcPts val="400"/>
              </a:spcAft>
            </a:pPr>
            <a:r>
              <a:rPr sz="1200">
                <a:solidFill>
                  <a:srgbClr val="0F172A"/>
                </a:solidFill>
                <a:latin typeface="Calibri"/>
              </a:rPr>
              <a:t>Act: search('Header.tsx').</a:t>
            </a:r>
          </a:p>
          <a:p>
            <a:pPr algn="l">
              <a:spcAft>
                <a:spcPts val="400"/>
              </a:spcAft>
            </a:pPr>
            <a:r>
              <a:rPr sz="1200">
                <a:solidFill>
                  <a:srgbClr val="0F172A"/>
                </a:solidFill>
                <a:latin typeface="Calibri"/>
              </a:rPr>
              <a:t>Observe: src/components/Header.tsx found.</a:t>
            </a:r>
          </a:p>
          <a:p>
            <a:pPr algn="l">
              <a:spcAft>
                <a:spcPts val="400"/>
              </a:spcAft>
            </a:pPr>
            <a:r>
              <a:rPr sz="1200">
                <a:solidFill>
                  <a:srgbClr val="0F172A"/>
                </a:solidFill>
                <a:latin typeface="Calibri"/>
              </a:rPr>
              <a:t>Think: Read it to understand structure.</a:t>
            </a:r>
          </a:p>
          <a:p>
            <a:pPr algn="l">
              <a:spcAft>
                <a:spcPts val="400"/>
              </a:spcAft>
            </a:pPr>
            <a:r>
              <a:rPr sz="1200">
                <a:solidFill>
                  <a:srgbClr val="0F172A"/>
                </a:solidFill>
                <a:latin typeface="Calibri"/>
              </a:rPr>
              <a:t>Act: read_file(...).</a:t>
            </a:r>
          </a:p>
          <a:p>
            <a:pPr algn="l">
              <a:spcAft>
                <a:spcPts val="400"/>
              </a:spcAft>
            </a:pPr>
            <a:r>
              <a:rPr sz="1200">
                <a:solidFill>
                  <a:srgbClr val="0F172A"/>
                </a:solidFill>
                <a:latin typeface="Calibri"/>
              </a:rPr>
              <a:t>Observe: React component with NavBar.</a:t>
            </a:r>
          </a:p>
          <a:p>
            <a:pPr algn="l">
              <a:spcAft>
                <a:spcPts val="400"/>
              </a:spcAft>
            </a:pPr>
            <a:r>
              <a:rPr sz="1200">
                <a:solidFill>
                  <a:srgbClr val="0F172A"/>
                </a:solidFill>
                <a:latin typeface="Calibri"/>
              </a:rPr>
              <a:t>Act: edit Header.tsx → import LoginButton.</a:t>
            </a:r>
          </a:p>
          <a:p>
            <a:pPr algn="l">
              <a:spcAft>
                <a:spcPts val="400"/>
              </a:spcAft>
            </a:pPr>
            <a:r>
              <a:rPr sz="1200">
                <a:solidFill>
                  <a:srgbClr val="0F172A"/>
                </a:solidFill>
                <a:latin typeface="Calibri"/>
              </a:rPr>
              <a:t>Reply: 'Done. Login button added.'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Five pillars of an agent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Goal</a:t>
            </a:r>
          </a:p>
        </p:txBody>
      </p:sp>
      <p:sp>
        <p:nvSpPr>
          <p:cNvPr id="10" name="TextBox 9"/>
          <p:cNvSpPr txBox="1"/>
          <p:nvPr/>
        </p:nvSpPr>
        <p:spPr>
          <a:xfrm>
            <a:off x="82296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A clear objective the agent is trying to satisfy. Without a goal, the LLM is just chatting.</a:t>
            </a:r>
          </a:p>
        </p:txBody>
      </p:sp>
      <p:sp>
        <p:nvSpPr>
          <p:cNvPr id="11" name="Rectangle 10"/>
          <p:cNvSpPr/>
          <p:nvPr/>
        </p:nvSpPr>
        <p:spPr>
          <a:xfrm>
            <a:off x="617220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14" name="TextBox 13"/>
          <p:cNvSpPr txBox="1"/>
          <p:nvPr/>
        </p:nvSpPr>
        <p:spPr>
          <a:xfrm>
            <a:off x="644652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APIs, files, shells, databases. Tools turn reasoning into action. No tools = no agency.</a:t>
            </a:r>
          </a:p>
        </p:txBody>
      </p:sp>
      <p:sp>
        <p:nvSpPr>
          <p:cNvPr id="15" name="Rectangle 14"/>
          <p:cNvSpPr/>
          <p:nvPr/>
        </p:nvSpPr>
        <p:spPr>
          <a:xfrm>
            <a:off x="54864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Memory</a:t>
            </a:r>
          </a:p>
        </p:txBody>
      </p:sp>
      <p:sp>
        <p:nvSpPr>
          <p:cNvPr id="18" name="TextBox 17"/>
          <p:cNvSpPr txBox="1"/>
          <p:nvPr/>
        </p:nvSpPr>
        <p:spPr>
          <a:xfrm>
            <a:off x="82296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Short-term (working context) and long-term (vector DB, SQLite checkpoints). Without it, every turn is groundhog day.</a:t>
            </a:r>
          </a:p>
        </p:txBody>
      </p:sp>
      <p:sp>
        <p:nvSpPr>
          <p:cNvPr id="19" name="Rectangle 18"/>
          <p:cNvSpPr/>
          <p:nvPr/>
        </p:nvSpPr>
        <p:spPr>
          <a:xfrm>
            <a:off x="617220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Loop + autonomy</a:t>
            </a:r>
          </a:p>
        </p:txBody>
      </p:sp>
      <p:sp>
        <p:nvSpPr>
          <p:cNvPr id="22" name="TextBox 21"/>
          <p:cNvSpPr txBox="1"/>
          <p:nvPr/>
        </p:nvSpPr>
        <p:spPr>
          <a:xfrm>
            <a:off x="644652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Multi-step planning with the right amount of human-in-the-loop. Too autonomous is dangerous; too little is a chatbot.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Two paths into agentic AI — pick one (or both)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Low-code path</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Microsoft Copilot Studio (graphical, drag &amp; drop).</a:t>
            </a:r>
          </a:p>
          <a:p>
            <a:pPr algn="l" indent="-228600" marL="228600">
              <a:spcAft>
                <a:spcPts val="800"/>
              </a:spcAft>
              <a:buChar char="•"/>
            </a:pPr>
            <a:r>
              <a:rPr sz="1600">
                <a:solidFill>
                  <a:srgbClr val="0F172A"/>
                </a:solidFill>
                <a:latin typeface="Calibri"/>
              </a:rPr>
              <a:t>Power Platform connectors do the heavy lifting.</a:t>
            </a:r>
          </a:p>
          <a:p>
            <a:pPr algn="l" indent="-228600" marL="228600">
              <a:spcAft>
                <a:spcPts val="800"/>
              </a:spcAft>
              <a:buChar char="•"/>
            </a:pPr>
            <a:r>
              <a:rPr sz="1600">
                <a:solidFill>
                  <a:srgbClr val="0F172A"/>
                </a:solidFill>
                <a:latin typeface="Calibri"/>
              </a:rPr>
              <a:t>Generative answers + generative actions.</a:t>
            </a:r>
          </a:p>
          <a:p>
            <a:pPr algn="l" indent="-228600" marL="228600">
              <a:spcAft>
                <a:spcPts val="800"/>
              </a:spcAft>
              <a:buChar char="•"/>
            </a:pPr>
            <a:r>
              <a:rPr sz="1600">
                <a:solidFill>
                  <a:srgbClr val="0F172A"/>
                </a:solidFill>
                <a:latin typeface="Calibri"/>
              </a:rPr>
              <a:t>Publish to Teams, M365 Copilot, websites.</a:t>
            </a:r>
          </a:p>
          <a:p>
            <a:pPr algn="l" indent="-228600" marL="228600">
              <a:spcAft>
                <a:spcPts val="800"/>
              </a:spcAft>
              <a:buChar char="•"/>
            </a:pPr>
            <a:r>
              <a:rPr sz="1600">
                <a:solidFill>
                  <a:srgbClr val="0F172A"/>
                </a:solidFill>
                <a:latin typeface="Calibri"/>
              </a:rPr>
              <a:t>Best for: business analysts, departmental bots, fast wins.</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Code-first path</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Claude Code, LangGraph, CrewAI, FastMCP 2, Foundry SDK.</a:t>
            </a:r>
          </a:p>
          <a:p>
            <a:pPr algn="l" indent="-228600" marL="228600">
              <a:spcAft>
                <a:spcPts val="800"/>
              </a:spcAft>
              <a:buChar char="•"/>
            </a:pPr>
            <a:r>
              <a:rPr sz="1600">
                <a:solidFill>
                  <a:srgbClr val="0F172A"/>
                </a:solidFill>
                <a:latin typeface="Calibri"/>
              </a:rPr>
              <a:t>Full control over state, tools, models, and routing.</a:t>
            </a:r>
          </a:p>
          <a:p>
            <a:pPr algn="l" indent="-228600" marL="228600">
              <a:spcAft>
                <a:spcPts val="800"/>
              </a:spcAft>
              <a:buChar char="•"/>
            </a:pPr>
            <a:r>
              <a:rPr sz="1600">
                <a:solidFill>
                  <a:srgbClr val="0F172A"/>
                </a:solidFill>
                <a:latin typeface="Calibri"/>
              </a:rPr>
              <a:t>Versioned in git, tested in CI, deployed to your cloud.</a:t>
            </a:r>
          </a:p>
          <a:p>
            <a:pPr algn="l" indent="-228600" marL="228600">
              <a:spcAft>
                <a:spcPts val="800"/>
              </a:spcAft>
              <a:buChar char="•"/>
            </a:pPr>
            <a:r>
              <a:rPr sz="1600">
                <a:solidFill>
                  <a:srgbClr val="0F172A"/>
                </a:solidFill>
                <a:latin typeface="Calibri"/>
              </a:rPr>
              <a:t>Production patterns: parallel branches, MCP, observability.</a:t>
            </a:r>
          </a:p>
          <a:p>
            <a:pPr algn="l" indent="-228600" marL="228600">
              <a:spcAft>
                <a:spcPts val="800"/>
              </a:spcAft>
              <a:buChar char="•"/>
            </a:pPr>
            <a:r>
              <a:rPr sz="1600">
                <a:solidFill>
                  <a:srgbClr val="0F172A"/>
                </a:solidFill>
                <a:latin typeface="Calibri"/>
              </a:rPr>
              <a:t>Best for: engineers, complex pipelines, enterprise scale.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Demo · Claude Code in the agents2 repo</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858000" cy="4572000"/>
          </a:xfrm>
          <a:prstGeom prst="rect">
            <a:avLst/>
          </a:prstGeom>
          <a:noFill/>
        </p:spPr>
        <p:txBody>
          <a:bodyPr wrap="square" lIns="0" rIns="0" tIns="0" bIns="0">
            <a:spAutoFit/>
          </a:bodyPr>
          <a:lstStyle/>
          <a:p>
            <a:pPr algn="l" indent="-228600" marL="228600">
              <a:spcAft>
                <a:spcPts val="1100"/>
              </a:spcAft>
              <a:buChar char="•"/>
            </a:pPr>
            <a:r>
              <a:rPr sz="1500" b="1">
                <a:solidFill>
                  <a:srgbClr val="0F172A"/>
                </a:solidFill>
                <a:latin typeface="Calibri"/>
              </a:rPr>
              <a:t>Setup</a:t>
            </a:r>
            <a:r>
              <a:rPr sz="1500">
                <a:solidFill>
                  <a:srgbClr val="0F172A"/>
                </a:solidFill>
                <a:latin typeface="Calibri"/>
              </a:rPr>
              <a:t>  claude --version · cd agents2/contoso-hr-agent · run claude.</a:t>
            </a:r>
          </a:p>
          <a:p>
            <a:pPr algn="l" indent="-228600" marL="228600">
              <a:spcAft>
                <a:spcPts val="1100"/>
              </a:spcAft>
              <a:buChar char="•"/>
            </a:pPr>
            <a:r>
              <a:rPr sz="1500" b="1">
                <a:solidFill>
                  <a:srgbClr val="0F172A"/>
                </a:solidFill>
                <a:latin typeface="Calibri"/>
              </a:rPr>
              <a:t>Prompt 1</a:t>
            </a:r>
            <a:r>
              <a:rPr sz="1500">
                <a:solidFill>
                  <a:srgbClr val="0F172A"/>
                </a:solidFill>
                <a:latin typeface="Calibri"/>
              </a:rPr>
              <a:t>  'What files handle the HR pipeline? Give me a quick overview.'</a:t>
            </a:r>
          </a:p>
          <a:p>
            <a:pPr algn="l" indent="-228600" marL="228600">
              <a:spcAft>
                <a:spcPts val="1100"/>
              </a:spcAft>
              <a:buChar char="•"/>
            </a:pPr>
            <a:r>
              <a:rPr sz="1500" b="1">
                <a:solidFill>
                  <a:srgbClr val="0F172A"/>
                </a:solidFill>
                <a:latin typeface="Calibri"/>
              </a:rPr>
              <a:t>Prompt 2</a:t>
            </a:r>
            <a:r>
              <a:rPr sz="1500">
                <a:solidFill>
                  <a:srgbClr val="0F172A"/>
                </a:solidFill>
                <a:latin typeface="Calibri"/>
              </a:rPr>
              <a:t>  'How do policy_expert and resume_analyst run concurrently?'</a:t>
            </a:r>
          </a:p>
          <a:p>
            <a:pPr algn="l" indent="-228600" marL="228600">
              <a:spcAft>
                <a:spcPts val="1100"/>
              </a:spcAft>
              <a:buChar char="•"/>
            </a:pPr>
            <a:r>
              <a:rPr sz="1500" b="1">
                <a:solidFill>
                  <a:srgbClr val="0F172A"/>
                </a:solidFill>
                <a:latin typeface="Calibri"/>
              </a:rPr>
              <a:t>Prompt 3</a:t>
            </a:r>
            <a:r>
              <a:rPr sz="1500">
                <a:solidFill>
                  <a:srgbClr val="0F172A"/>
                </a:solidFill>
                <a:latin typeface="Calibri"/>
              </a:rPr>
              <a:t>  'Add a docstring to the intake node function.'</a:t>
            </a:r>
          </a:p>
          <a:p>
            <a:pPr algn="l" indent="-228600" marL="228600">
              <a:spcAft>
                <a:spcPts val="1100"/>
              </a:spcAft>
              <a:buChar char="•"/>
            </a:pPr>
            <a:r>
              <a:rPr sz="1500" b="1">
                <a:solidFill>
                  <a:srgbClr val="0F172A"/>
                </a:solidFill>
                <a:latin typeface="Calibri"/>
              </a:rPr>
              <a:t>Watch the loop</a:t>
            </a:r>
            <a:r>
              <a:rPr sz="1500">
                <a:solidFill>
                  <a:srgbClr val="0F172A"/>
                </a:solidFill>
                <a:latin typeface="Calibri"/>
              </a:rPr>
              <a:t>  Claude reads files, searches the repo, edits, then explains.</a:t>
            </a:r>
          </a:p>
          <a:p>
            <a:pPr algn="l" indent="-228600" marL="228600">
              <a:spcAft>
                <a:spcPts val="1100"/>
              </a:spcAft>
              <a:buChar char="•"/>
            </a:pPr>
            <a:r>
              <a:rPr sz="1500" b="1">
                <a:solidFill>
                  <a:srgbClr val="0F172A"/>
                </a:solidFill>
                <a:latin typeface="Calibri"/>
              </a:rPr>
              <a:t>Compare to ChatGPT</a:t>
            </a:r>
            <a:r>
              <a:rPr sz="1500">
                <a:solidFill>
                  <a:srgbClr val="0F172A"/>
                </a:solidFill>
                <a:latin typeface="Calibri"/>
              </a:rPr>
              <a:t>  Same questions, no tool use → no concrete answer.</a:t>
            </a:r>
          </a:p>
        </p:txBody>
      </p:sp>
      <p:sp>
        <p:nvSpPr>
          <p:cNvPr id="8" name="Rectangle 7"/>
          <p:cNvSpPr/>
          <p:nvPr/>
        </p:nvSpPr>
        <p:spPr>
          <a:xfrm>
            <a:off x="7863840" y="1417320"/>
            <a:ext cx="384048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417320"/>
            <a:ext cx="9144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691640"/>
            <a:ext cx="3383280" cy="457200"/>
          </a:xfrm>
          <a:prstGeom prst="rect">
            <a:avLst/>
          </a:prstGeom>
          <a:noFill/>
        </p:spPr>
        <p:txBody>
          <a:bodyPr wrap="square" lIns="0" rIns="0" tIns="0" bIns="0" anchor="t">
            <a:spAutoFit/>
          </a:bodyPr>
          <a:lstStyle/>
          <a:p>
            <a:pPr algn="l"/>
            <a:r>
              <a:rPr sz="1600" b="1" i="0">
                <a:solidFill>
                  <a:srgbClr val="FFB703"/>
                </a:solidFill>
                <a:latin typeface="Calibri"/>
              </a:rPr>
              <a:t>Demo checkpoint</a:t>
            </a:r>
          </a:p>
        </p:txBody>
      </p:sp>
      <p:sp>
        <p:nvSpPr>
          <p:cNvPr id="11" name="TextBox 10"/>
          <p:cNvSpPr txBox="1"/>
          <p:nvPr/>
        </p:nvSpPr>
        <p:spPr>
          <a:xfrm>
            <a:off x="8092440" y="2286000"/>
            <a:ext cx="3383280" cy="3657600"/>
          </a:xfrm>
          <a:prstGeom prst="rect">
            <a:avLst/>
          </a:prstGeom>
          <a:noFill/>
        </p:spPr>
        <p:txBody>
          <a:bodyPr wrap="square" lIns="0" rIns="0" tIns="0" bIns="0" anchor="t">
            <a:spAutoFit/>
          </a:bodyPr>
          <a:lstStyle/>
          <a:p>
            <a:pPr algn="l"/>
            <a:r>
              <a:rPr sz="1400" b="0" i="0">
                <a:solidFill>
                  <a:srgbClr val="FFFFFF"/>
                </a:solidFill>
                <a:latin typeface="Calibri"/>
              </a:rPr>
              <a:t>Count the tool calls Claude makes for each prompt.
The tool count is the difference between an agent and a chatbot.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Demo · Copilot Studio — HR Policy Advisor in 5 minutes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F172A"/>
                </a:solidFill>
                <a:latin typeface="Calibri"/>
              </a:rPr>
              <a:t>1. Sign in</a:t>
            </a:r>
            <a:r>
              <a:rPr sz="1500">
                <a:solidFill>
                  <a:srgbClr val="0F172A"/>
                </a:solidFill>
                <a:latin typeface="Calibri"/>
              </a:rPr>
              <a:t>  copilotstudio.microsoft.com · personal MSA or work account.</a:t>
            </a:r>
          </a:p>
          <a:p>
            <a:pPr algn="l" indent="-228600" marL="228600">
              <a:spcAft>
                <a:spcPts val="1000"/>
              </a:spcAft>
              <a:buChar char="•"/>
            </a:pPr>
            <a:r>
              <a:rPr sz="1500" b="1">
                <a:solidFill>
                  <a:srgbClr val="0F172A"/>
                </a:solidFill>
                <a:latin typeface="Calibri"/>
              </a:rPr>
              <a:t>2. New copilot</a:t>
            </a:r>
            <a:r>
              <a:rPr sz="1500">
                <a:solidFill>
                  <a:srgbClr val="0F172A"/>
                </a:solidFill>
                <a:latin typeface="Calibri"/>
              </a:rPr>
              <a:t>  Name it HR Policy Advisor · pick generative AI mode.</a:t>
            </a:r>
          </a:p>
          <a:p>
            <a:pPr algn="l" indent="-228600" marL="228600">
              <a:spcAft>
                <a:spcPts val="1000"/>
              </a:spcAft>
              <a:buChar char="•"/>
            </a:pPr>
            <a:r>
              <a:rPr sz="1500" b="1">
                <a:solidFill>
                  <a:srgbClr val="0F172A"/>
                </a:solidFill>
                <a:latin typeface="Calibri"/>
              </a:rPr>
              <a:t>3. Add a topic</a:t>
            </a:r>
            <a:r>
              <a:rPr sz="1500">
                <a:solidFill>
                  <a:srgbClr val="0F172A"/>
                </a:solidFill>
                <a:latin typeface="Calibri"/>
              </a:rPr>
              <a:t>  Trigger phrases: 'check HR policy', 'what does the policy say'.</a:t>
            </a:r>
          </a:p>
          <a:p>
            <a:pPr algn="l" indent="-228600" marL="228600">
              <a:spcAft>
                <a:spcPts val="1000"/>
              </a:spcAft>
              <a:buChar char="•"/>
            </a:pPr>
            <a:r>
              <a:rPr sz="1500" b="1">
                <a:solidFill>
                  <a:srgbClr val="0F172A"/>
                </a:solidFill>
                <a:latin typeface="Calibri"/>
              </a:rPr>
              <a:t>4. Ask a question node</a:t>
            </a:r>
            <a:r>
              <a:rPr sz="1500">
                <a:solidFill>
                  <a:srgbClr val="0F172A"/>
                </a:solidFill>
                <a:latin typeface="Calibri"/>
              </a:rPr>
              <a:t>  'What HR policy question do you have?' → save as PolicyQuery.</a:t>
            </a:r>
          </a:p>
          <a:p>
            <a:pPr algn="l" indent="-228600" marL="228600">
              <a:spcAft>
                <a:spcPts val="1000"/>
              </a:spcAft>
              <a:buChar char="•"/>
            </a:pPr>
            <a:r>
              <a:rPr sz="1500" b="1">
                <a:solidFill>
                  <a:srgbClr val="0F172A"/>
                </a:solidFill>
                <a:latin typeface="Calibri"/>
              </a:rPr>
              <a:t>5. Generative answer</a:t>
            </a:r>
            <a:r>
              <a:rPr sz="1500">
                <a:solidFill>
                  <a:srgbClr val="0F172A"/>
                </a:solidFill>
                <a:latin typeface="Calibri"/>
              </a:rPr>
              <a:t>  Point at the HR policy SharePoint or upload PDFs as knowledge.</a:t>
            </a:r>
          </a:p>
          <a:p>
            <a:pPr algn="l" indent="-228600" marL="228600">
              <a:spcAft>
                <a:spcPts val="1000"/>
              </a:spcAft>
              <a:buChar char="•"/>
            </a:pPr>
            <a:r>
              <a:rPr sz="1500" b="1">
                <a:solidFill>
                  <a:srgbClr val="0F172A"/>
                </a:solidFill>
                <a:latin typeface="Calibri"/>
              </a:rPr>
              <a:t>6. Test pane</a:t>
            </a:r>
            <a:r>
              <a:rPr sz="1500">
                <a:solidFill>
                  <a:srgbClr val="0F172A"/>
                </a:solidFill>
                <a:latin typeface="Calibri"/>
              </a:rPr>
              <a:t>  Ask: 'What certifications are required for the MCT role?'</a:t>
            </a:r>
          </a:p>
          <a:p>
            <a:pPr algn="l" indent="-228600" marL="228600">
              <a:spcAft>
                <a:spcPts val="1000"/>
              </a:spcAft>
              <a:buChar char="•"/>
            </a:pPr>
            <a:r>
              <a:rPr sz="1500" b="1">
                <a:solidFill>
                  <a:srgbClr val="0F172A"/>
                </a:solidFill>
                <a:latin typeface="Calibri"/>
              </a:rPr>
              <a:t>Stretch goal</a:t>
            </a:r>
            <a:r>
              <a:rPr sz="1500">
                <a:solidFill>
                  <a:srgbClr val="0F172A"/>
                </a:solidFill>
                <a:latin typeface="Calibri"/>
              </a:rPr>
              <a:t>  Add a second topic that evaluates a pasted resume.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When to use which path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7" name="Table 6"/>
          <p:cNvGraphicFramePr>
            <a:graphicFrameLocks noGrp="1"/>
          </p:cNvGraphicFramePr>
          <p:nvPr/>
        </p:nvGraphicFramePr>
        <p:xfrm>
          <a:off x="548640" y="1417320"/>
          <a:ext cx="11064240" cy="3611880"/>
        </p:xfrm>
        <a:graphic>
          <a:graphicData uri="http://schemas.openxmlformats.org/drawingml/2006/table">
            <a:tbl>
              <a:tblPr firstRow="1" bandRow="1">
                <a:tableStyleId>{5C22544A-7EE6-4342-B048-85BDC9FD1C3A}</a:tableStyleId>
              </a:tblPr>
              <a:tblGrid>
                <a:gridCol w="3688080"/>
                <a:gridCol w="3688080"/>
                <a:gridCol w="3688080"/>
              </a:tblGrid>
              <a:tr h="515982">
                <a:tc>
                  <a:txBody>
                    <a:bodyPr/>
                    <a:lstStyle/>
                    <a:p>
                      <a:pPr algn="l"/>
                      <a:r>
                        <a:rPr sz="1300" b="1">
                          <a:solidFill>
                            <a:srgbClr val="FFFFFF"/>
                          </a:solidFill>
                          <a:latin typeface="Calibri"/>
                        </a:rPr>
                        <a:t>Need</a:t>
                      </a:r>
                    </a:p>
                  </a:txBody>
                  <a:tcPr>
                    <a:solidFill>
                      <a:srgbClr val="0B1B3F"/>
                    </a:solidFill>
                  </a:tcPr>
                </a:tc>
                <a:tc>
                  <a:txBody>
                    <a:bodyPr/>
                    <a:lstStyle/>
                    <a:p>
                      <a:pPr algn="l"/>
                      <a:r>
                        <a:rPr sz="1300" b="1">
                          <a:solidFill>
                            <a:srgbClr val="FFFFFF"/>
                          </a:solidFill>
                          <a:latin typeface="Calibri"/>
                        </a:rPr>
                        <a:t>Pick this</a:t>
                      </a:r>
                    </a:p>
                  </a:txBody>
                  <a:tcPr>
                    <a:solidFill>
                      <a:srgbClr val="0B1B3F"/>
                    </a:solidFill>
                  </a:tcPr>
                </a:tc>
                <a:tc>
                  <a:txBody>
                    <a:bodyPr/>
                    <a:lstStyle/>
                    <a:p>
                      <a:pPr algn="l"/>
                      <a:r>
                        <a:rPr sz="1300" b="1">
                          <a:solidFill>
                            <a:srgbClr val="FFFFFF"/>
                          </a:solidFill>
                          <a:latin typeface="Calibri"/>
                        </a:rPr>
                        <a:t>Why</a:t>
                      </a:r>
                    </a:p>
                  </a:txBody>
                  <a:tcPr>
                    <a:solidFill>
                      <a:srgbClr val="0B1B3F"/>
                    </a:solidFill>
                  </a:tcPr>
                </a:tc>
              </a:tr>
              <a:tr h="515982">
                <a:tc>
                  <a:txBody>
                    <a:bodyPr/>
                    <a:lstStyle/>
                    <a:p>
                      <a:pPr algn="l"/>
                      <a:r>
                        <a:rPr sz="1100" b="1">
                          <a:solidFill>
                            <a:srgbClr val="0B1B3F"/>
                          </a:solidFill>
                          <a:latin typeface="Calibri"/>
                        </a:rPr>
                        <a:t>Customer-facing FAQ in Teams</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Built-in channels, no infra to manage, IT can govern centrally.</a:t>
                      </a:r>
                    </a:p>
                  </a:txBody>
                  <a:tcPr>
                    <a:solidFill>
                      <a:srgbClr val="F8FAFC"/>
                    </a:solidFill>
                  </a:tcPr>
                </a:tc>
              </a:tr>
              <a:tr h="515982">
                <a:tc>
                  <a:txBody>
                    <a:bodyPr/>
                    <a:lstStyle/>
                    <a:p>
                      <a:pPr algn="l"/>
                      <a:r>
                        <a:rPr sz="1100" b="1">
                          <a:solidFill>
                            <a:srgbClr val="0B1B3F"/>
                          </a:solidFill>
                          <a:latin typeface="Calibri"/>
                        </a:rPr>
                        <a:t>Multi-step internal automation</a:t>
                      </a:r>
                    </a:p>
                  </a:txBody>
                  <a:tcPr>
                    <a:solidFill>
                      <a:srgbClr val="EEF2F7"/>
                    </a:solidFill>
                  </a:tcPr>
                </a:tc>
                <a:tc>
                  <a:txBody>
                    <a:bodyPr/>
                    <a:lstStyle/>
                    <a:p>
                      <a:pPr algn="l"/>
                      <a:r>
                        <a:rPr sz="1100">
                          <a:solidFill>
                            <a:srgbClr val="0F172A"/>
                          </a:solidFill>
                          <a:latin typeface="Calibri"/>
                        </a:rPr>
                        <a:t>LangGraph + CrewAI</a:t>
                      </a:r>
                    </a:p>
                  </a:txBody>
                  <a:tcPr>
                    <a:solidFill>
                      <a:srgbClr val="EEF2F7"/>
                    </a:solidFill>
                  </a:tcPr>
                </a:tc>
                <a:tc>
                  <a:txBody>
                    <a:bodyPr/>
                    <a:lstStyle/>
                    <a:p>
                      <a:pPr algn="l"/>
                      <a:r>
                        <a:rPr sz="1100">
                          <a:solidFill>
                            <a:srgbClr val="0F172A"/>
                          </a:solidFill>
                          <a:latin typeface="Calibri"/>
                        </a:rPr>
                        <a:t>Parallel branches, custom state, full control over routing.</a:t>
                      </a:r>
                    </a:p>
                  </a:txBody>
                  <a:tcPr>
                    <a:solidFill>
                      <a:srgbClr val="EEF2F7"/>
                    </a:solidFill>
                  </a:tcPr>
                </a:tc>
              </a:tr>
              <a:tr h="515982">
                <a:tc>
                  <a:txBody>
                    <a:bodyPr/>
                    <a:lstStyle/>
                    <a:p>
                      <a:pPr algn="l"/>
                      <a:r>
                        <a:rPr sz="1100" b="1">
                          <a:solidFill>
                            <a:srgbClr val="0B1B3F"/>
                          </a:solidFill>
                          <a:latin typeface="Calibri"/>
                        </a:rPr>
                        <a:t>Coding assistant in your terminal</a:t>
                      </a:r>
                    </a:p>
                  </a:txBody>
                  <a:tcPr>
                    <a:solidFill>
                      <a:srgbClr val="F8FAFC"/>
                    </a:solidFill>
                  </a:tcPr>
                </a:tc>
                <a:tc>
                  <a:txBody>
                    <a:bodyPr/>
                    <a:lstStyle/>
                    <a:p>
                      <a:pPr algn="l"/>
                      <a:r>
                        <a:rPr sz="1100">
                          <a:solidFill>
                            <a:srgbClr val="0F172A"/>
                          </a:solidFill>
                          <a:latin typeface="Calibri"/>
                        </a:rPr>
                        <a:t>Claude Code</a:t>
                      </a:r>
                    </a:p>
                  </a:txBody>
                  <a:tcPr>
                    <a:solidFill>
                      <a:srgbClr val="F8FAFC"/>
                    </a:solidFill>
                  </a:tcPr>
                </a:tc>
                <a:tc>
                  <a:txBody>
                    <a:bodyPr/>
                    <a:lstStyle/>
                    <a:p>
                      <a:pPr algn="l"/>
                      <a:r>
                        <a:rPr sz="1100">
                          <a:solidFill>
                            <a:srgbClr val="0F172A"/>
                          </a:solidFill>
                          <a:latin typeface="Calibri"/>
                        </a:rPr>
                        <a:t>Reads &amp; writes your filesystem; great for exploration &amp; refactors.</a:t>
                      </a:r>
                    </a:p>
                  </a:txBody>
                  <a:tcPr>
                    <a:solidFill>
                      <a:srgbClr val="F8FAFC"/>
                    </a:solidFill>
                  </a:tcPr>
                </a:tc>
              </a:tr>
              <a:tr h="515982">
                <a:tc>
                  <a:txBody>
                    <a:bodyPr/>
                    <a:lstStyle/>
                    <a:p>
                      <a:pPr algn="l"/>
                      <a:r>
                        <a:rPr sz="1100" b="1">
                          <a:solidFill>
                            <a:srgbClr val="0B1B3F"/>
                          </a:solidFill>
                          <a:latin typeface="Calibri"/>
                        </a:rPr>
                        <a:t>Production agent on Azure</a:t>
                      </a:r>
                    </a:p>
                  </a:txBody>
                  <a:tcPr>
                    <a:solidFill>
                      <a:srgbClr val="EEF2F7"/>
                    </a:solidFill>
                  </a:tcPr>
                </a:tc>
                <a:tc>
                  <a:txBody>
                    <a:bodyPr/>
                    <a:lstStyle/>
                    <a:p>
                      <a:pPr algn="l"/>
                      <a:r>
                        <a:rPr sz="1100">
                          <a:solidFill>
                            <a:srgbClr val="0F172A"/>
                          </a:solidFill>
                          <a:latin typeface="Calibri"/>
                        </a:rPr>
                        <a:t>Foundry Agent Service</a:t>
                      </a:r>
                    </a:p>
                  </a:txBody>
                  <a:tcPr>
                    <a:solidFill>
                      <a:srgbClr val="EEF2F7"/>
                    </a:solidFill>
                  </a:tcPr>
                </a:tc>
                <a:tc>
                  <a:txBody>
                    <a:bodyPr/>
                    <a:lstStyle/>
                    <a:p>
                      <a:pPr algn="l"/>
                      <a:r>
                        <a:rPr sz="1100">
                          <a:solidFill>
                            <a:srgbClr val="0F172A"/>
                          </a:solidFill>
                          <a:latin typeface="Calibri"/>
                        </a:rPr>
                        <a:t>Managed runtime, identity, content safety, MCP tool catalog.</a:t>
                      </a:r>
                    </a:p>
                  </a:txBody>
                  <a:tcPr>
                    <a:solidFill>
                      <a:srgbClr val="EEF2F7"/>
                    </a:solidFill>
                  </a:tcPr>
                </a:tc>
              </a:tr>
              <a:tr h="515982">
                <a:tc>
                  <a:txBody>
                    <a:bodyPr/>
                    <a:lstStyle/>
                    <a:p>
                      <a:pPr algn="l"/>
                      <a:r>
                        <a:rPr sz="1100" b="1">
                          <a:solidFill>
                            <a:srgbClr val="0B1B3F"/>
                          </a:solidFill>
                          <a:latin typeface="Calibri"/>
                        </a:rPr>
                        <a:t>Quick prototype to sell internally</a:t>
                      </a:r>
                    </a:p>
                  </a:txBody>
                  <a:tcPr>
                    <a:solidFill>
                      <a:srgbClr val="F8FAFC"/>
                    </a:solidFill>
                  </a:tcPr>
                </a:tc>
                <a:tc>
                  <a:txBody>
                    <a:bodyPr/>
                    <a:lstStyle/>
                    <a:p>
                      <a:pPr algn="l"/>
                      <a:r>
                        <a:rPr sz="1100">
                          <a:solidFill>
                            <a:srgbClr val="0F172A"/>
                          </a:solidFill>
                          <a:latin typeface="Calibri"/>
                        </a:rPr>
                        <a:t>Copilot Studio</a:t>
                      </a:r>
                    </a:p>
                  </a:txBody>
                  <a:tcPr>
                    <a:solidFill>
                      <a:srgbClr val="F8FAFC"/>
                    </a:solidFill>
                  </a:tcPr>
                </a:tc>
                <a:tc>
                  <a:txBody>
                    <a:bodyPr/>
                    <a:lstStyle/>
                    <a:p>
                      <a:pPr algn="l"/>
                      <a:r>
                        <a:rPr sz="1100">
                          <a:solidFill>
                            <a:srgbClr val="0F172A"/>
                          </a:solidFill>
                          <a:latin typeface="Calibri"/>
                        </a:rPr>
                        <a:t>Demo-ready in 30 minutes; iterate visually with stakeholders.</a:t>
                      </a:r>
                    </a:p>
                  </a:txBody>
                  <a:tcPr>
                    <a:solidFill>
                      <a:srgbClr val="F8FAFC"/>
                    </a:solidFill>
                  </a:tcPr>
                </a:tc>
              </a:tr>
              <a:tr h="515988">
                <a:tc>
                  <a:txBody>
                    <a:bodyPr/>
                    <a:lstStyle/>
                    <a:p>
                      <a:pPr algn="l"/>
                      <a:r>
                        <a:rPr sz="1100" b="1">
                          <a:solidFill>
                            <a:srgbClr val="0B1B3F"/>
                          </a:solidFill>
                          <a:latin typeface="Calibri"/>
                        </a:rPr>
                        <a:t>Enterprise pipeline with tests + CI</a:t>
                      </a:r>
                    </a:p>
                  </a:txBody>
                  <a:tcPr>
                    <a:solidFill>
                      <a:srgbClr val="EEF2F7"/>
                    </a:solidFill>
                  </a:tcPr>
                </a:tc>
                <a:tc>
                  <a:txBody>
                    <a:bodyPr/>
                    <a:lstStyle/>
                    <a:p>
                      <a:pPr algn="l"/>
                      <a:r>
                        <a:rPr sz="1100">
                          <a:solidFill>
                            <a:srgbClr val="0F172A"/>
                          </a:solidFill>
                          <a:latin typeface="Calibri"/>
                        </a:rPr>
                        <a:t>LangGraph + FastMCP</a:t>
                      </a:r>
                    </a:p>
                  </a:txBody>
                  <a:tcPr>
                    <a:solidFill>
                      <a:srgbClr val="EEF2F7"/>
                    </a:solidFill>
                  </a:tcPr>
                </a:tc>
                <a:tc>
                  <a:txBody>
                    <a:bodyPr/>
                    <a:lstStyle/>
                    <a:p>
                      <a:pPr algn="l"/>
                      <a:r>
                        <a:rPr sz="1100">
                          <a:solidFill>
                            <a:srgbClr val="0F172A"/>
                          </a:solidFill>
                          <a:latin typeface="Calibri"/>
                        </a:rPr>
                        <a:t>Versioned in git, unit-testable, deployable to Container Apps.</a:t>
                      </a:r>
                    </a:p>
                  </a:txBody>
                  <a:tcPr>
                    <a:solidFill>
                      <a:srgbClr val="EEF2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1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a:solidFill>
                  <a:srgbClr val="0F172A"/>
                </a:solidFill>
                <a:latin typeface="Calibri"/>
              </a:rPr>
              <a:t>Agents take actions. Chatbots answer questions. The difference is tool use.</a:t>
            </a:r>
          </a:p>
          <a:p>
            <a:pPr algn="l" indent="-228600" marL="228600">
              <a:spcAft>
                <a:spcPts val="1000"/>
              </a:spcAft>
              <a:buChar char="•"/>
            </a:pPr>
            <a:r>
              <a:rPr sz="1800">
                <a:solidFill>
                  <a:srgbClr val="0F172A"/>
                </a:solidFill>
                <a:latin typeface="Calibri"/>
              </a:rPr>
              <a:t>ReAct loop: observe → think → act → repeat. Memorize this — every framework reduces to it.</a:t>
            </a:r>
          </a:p>
          <a:p>
            <a:pPr algn="l" indent="-228600" marL="228600">
              <a:spcAft>
                <a:spcPts val="1000"/>
              </a:spcAft>
              <a:buChar char="•"/>
            </a:pPr>
            <a:r>
              <a:rPr sz="1800">
                <a:solidFill>
                  <a:srgbClr val="0F172A"/>
                </a:solidFill>
                <a:latin typeface="Calibri"/>
              </a:rPr>
              <a:t>Five pillars: goal, tools, memory, loop, autonomy.</a:t>
            </a:r>
          </a:p>
          <a:p>
            <a:pPr algn="l" indent="-228600" marL="228600">
              <a:spcAft>
                <a:spcPts val="1000"/>
              </a:spcAft>
              <a:buChar char="•"/>
            </a:pPr>
            <a:r>
              <a:rPr sz="1800">
                <a:solidFill>
                  <a:srgbClr val="0F172A"/>
                </a:solidFill>
                <a:latin typeface="Calibri"/>
              </a:rPr>
              <a:t>Two paths: low-code Copilot Studio for fast wins; code-first LangGraph + CrewAI for production.</a:t>
            </a:r>
          </a:p>
          <a:p>
            <a:pPr algn="l" indent="-228600" marL="228600">
              <a:spcAft>
                <a:spcPts val="1000"/>
              </a:spcAft>
              <a:buChar char="•"/>
            </a:pPr>
            <a:r>
              <a:rPr sz="1800">
                <a:solidFill>
                  <a:srgbClr val="0F172A"/>
                </a:solidFill>
                <a:latin typeface="Calibri"/>
              </a:rPr>
              <a:t>You ran Claude Code against agents2 and built a Copilot Studio bot from scratch.</a:t>
            </a:r>
          </a:p>
          <a:p>
            <a:pPr algn="l" indent="-228600" marL="228600">
              <a:spcAft>
                <a:spcPts val="1000"/>
              </a:spcAft>
              <a:buChar char="•"/>
            </a:pPr>
            <a:r>
              <a:rPr sz="1800">
                <a:solidFill>
                  <a:srgbClr val="0F172A"/>
                </a:solidFill>
                <a:latin typeface="Calibri"/>
              </a:rPr>
              <a:t>Next up: the parallel pipeline running live. This is where it gets fun.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02</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Run the Parallel Pipeline</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LangGraph + CrewAI · runs.html · debugging · the fan-out / fan-in pattern.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Meet the Contoso HR Agent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100"/>
              </a:spcAft>
              <a:buChar char="•"/>
            </a:pPr>
            <a:r>
              <a:rPr sz="1500" b="1">
                <a:solidFill>
                  <a:srgbClr val="0F172A"/>
                </a:solidFill>
                <a:latin typeface="Calibri"/>
              </a:rPr>
              <a:t>The use case</a:t>
            </a:r>
            <a:r>
              <a:rPr sz="1500">
                <a:solidFill>
                  <a:srgbClr val="0F172A"/>
                </a:solidFill>
                <a:latin typeface="Calibri"/>
              </a:rPr>
              <a:t>  Automated MCT trainer screening + interactive HR policy chat for hiring managers.</a:t>
            </a:r>
          </a:p>
          <a:p>
            <a:pPr algn="l" indent="-228600" marL="228600">
              <a:spcAft>
                <a:spcPts val="1100"/>
              </a:spcAft>
              <a:buChar char="•"/>
            </a:pPr>
            <a:r>
              <a:rPr sz="1500" b="1">
                <a:solidFill>
                  <a:srgbClr val="0F172A"/>
                </a:solidFill>
                <a:latin typeface="Calibri"/>
              </a:rPr>
              <a:t>The flow</a:t>
            </a:r>
            <a:r>
              <a:rPr sz="1500">
                <a:solidFill>
                  <a:srgbClr val="0F172A"/>
                </a:solidFill>
                <a:latin typeface="Calibri"/>
              </a:rPr>
              <a:t>  Drop a resume in data/incoming/ → 4-agent pipeline runs → disposition + reasoning.</a:t>
            </a:r>
          </a:p>
          <a:p>
            <a:pPr algn="l" indent="-228600" marL="228600">
              <a:spcAft>
                <a:spcPts val="1100"/>
              </a:spcAft>
              <a:buChar char="•"/>
            </a:pPr>
            <a:r>
              <a:rPr sz="1500" b="1">
                <a:solidFill>
                  <a:srgbClr val="0F172A"/>
                </a:solidFill>
                <a:latin typeface="Calibri"/>
              </a:rPr>
              <a:t>The dispositions</a:t>
            </a:r>
            <a:r>
              <a:rPr sz="1500">
                <a:solidFill>
                  <a:srgbClr val="0F172A"/>
                </a:solidFill>
                <a:latin typeface="Calibri"/>
              </a:rPr>
              <a:t>  Strong Match · Possible Match · Needs Review · Not Qualified.</a:t>
            </a:r>
          </a:p>
          <a:p>
            <a:pPr algn="l" indent="-228600" marL="228600">
              <a:spcAft>
                <a:spcPts val="1100"/>
              </a:spcAft>
              <a:buChar char="•"/>
            </a:pPr>
            <a:r>
              <a:rPr sz="1500" b="1">
                <a:solidFill>
                  <a:srgbClr val="0F172A"/>
                </a:solidFill>
                <a:latin typeface="Calibri"/>
              </a:rPr>
              <a:t>The chat side</a:t>
            </a:r>
            <a:r>
              <a:rPr sz="1500">
                <a:solidFill>
                  <a:srgbClr val="0F172A"/>
                </a:solidFill>
                <a:latin typeface="Calibri"/>
              </a:rPr>
              <a:t>  Alex (ChatConcierge) answers policy Q&amp;A grounded in ChromaDB.</a:t>
            </a:r>
          </a:p>
          <a:p>
            <a:pPr algn="l" indent="-228600" marL="228600">
              <a:spcAft>
                <a:spcPts val="1100"/>
              </a:spcAft>
              <a:buChar char="•"/>
            </a:pPr>
            <a:r>
              <a:rPr sz="1500" b="1">
                <a:solidFill>
                  <a:srgbClr val="0F172A"/>
                </a:solidFill>
                <a:latin typeface="Calibri"/>
              </a:rPr>
              <a:t>Why it matters</a:t>
            </a:r>
            <a:r>
              <a:rPr sz="1500">
                <a:solidFill>
                  <a:srgbClr val="0F172A"/>
                </a:solidFill>
                <a:latin typeface="Calibri"/>
              </a:rPr>
              <a:t>  Every pillar of production agentic AI in one ~3,000-line repo.</a:t>
            </a:r>
          </a:p>
        </p:txBody>
      </p:sp>
      <p:sp>
        <p:nvSpPr>
          <p:cNvPr id="8" name="Rectangle 7"/>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What's in the repo</a:t>
            </a:r>
          </a:p>
        </p:txBody>
      </p:sp>
      <p:sp>
        <p:nvSpPr>
          <p:cNvPr id="10" name="TextBox 9"/>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200">
                <a:solidFill>
                  <a:srgbClr val="FFFFFF"/>
                </a:solidFill>
                <a:latin typeface="Calibri"/>
              </a:rPr>
              <a:t>13 sample resumes (3 quality tiers)</a:t>
            </a:r>
          </a:p>
          <a:p>
            <a:pPr algn="l" indent="-228600" marL="228600">
              <a:spcAft>
                <a:spcPts val="700"/>
              </a:spcAft>
              <a:buChar char="•"/>
            </a:pPr>
            <a:r>
              <a:rPr sz="1200">
                <a:solidFill>
                  <a:srgbClr val="FFFFFF"/>
                </a:solidFill>
                <a:latin typeface="Calibri"/>
              </a:rPr>
              <a:t>8 HR policy docs · 146 ChromaDB chunks</a:t>
            </a:r>
          </a:p>
          <a:p>
            <a:pPr algn="l" indent="-228600" marL="228600">
              <a:spcAft>
                <a:spcPts val="700"/>
              </a:spcAft>
              <a:buChar char="•"/>
            </a:pPr>
            <a:r>
              <a:rPr sz="1200">
                <a:solidFill>
                  <a:srgbClr val="FFFFFF"/>
                </a:solidFill>
                <a:latin typeface="Calibri"/>
              </a:rPr>
              <a:t>FastAPI engine + 3 web pages</a:t>
            </a:r>
          </a:p>
          <a:p>
            <a:pPr algn="l" indent="-228600" marL="228600">
              <a:spcAft>
                <a:spcPts val="700"/>
              </a:spcAft>
              <a:buChar char="•"/>
            </a:pPr>
            <a:r>
              <a:rPr sz="1200">
                <a:solidFill>
                  <a:srgbClr val="FFFFFF"/>
                </a:solidFill>
                <a:latin typeface="Calibri"/>
              </a:rPr>
              <a:t>FastMCP 2 server (5 primitives)</a:t>
            </a:r>
          </a:p>
          <a:p>
            <a:pPr algn="l" indent="-228600" marL="228600">
              <a:spcAft>
                <a:spcPts val="700"/>
              </a:spcAft>
              <a:buChar char="•"/>
            </a:pPr>
            <a:r>
              <a:rPr sz="1200">
                <a:solidFill>
                  <a:srgbClr val="FFFFFF"/>
                </a:solidFill>
                <a:latin typeface="Calibri"/>
              </a:rPr>
              <a:t>VS Code launch configs · pytest suite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The stack — five layers, one pipeline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41732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LangGraph</a:t>
            </a:r>
          </a:p>
        </p:txBody>
      </p:sp>
      <p:sp>
        <p:nvSpPr>
          <p:cNvPr id="10" name="TextBox 9"/>
          <p:cNvSpPr txBox="1"/>
          <p:nvPr/>
        </p:nvSpPr>
        <p:spPr>
          <a:xfrm>
            <a:off x="411480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Stateful orchestration: nodes, edges, parallel branches, checkpoints.</a:t>
            </a:r>
          </a:p>
        </p:txBody>
      </p:sp>
      <p:sp>
        <p:nvSpPr>
          <p:cNvPr id="11" name="Rectangle 10"/>
          <p:cNvSpPr/>
          <p:nvPr/>
        </p:nvSpPr>
        <p:spPr>
          <a:xfrm>
            <a:off x="54864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237744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CrewAI</a:t>
            </a:r>
          </a:p>
        </p:txBody>
      </p:sp>
      <p:sp>
        <p:nvSpPr>
          <p:cNvPr id="14" name="TextBox 13"/>
          <p:cNvSpPr txBox="1"/>
          <p:nvPr/>
        </p:nvSpPr>
        <p:spPr>
          <a:xfrm>
            <a:off x="411480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Persona execution: Agent + Task + Crew. One kickoff() per LangGraph node.</a:t>
            </a:r>
          </a:p>
        </p:txBody>
      </p:sp>
      <p:sp>
        <p:nvSpPr>
          <p:cNvPr id="15" name="Rectangle 14"/>
          <p:cNvSpPr/>
          <p:nvPr/>
        </p:nvSpPr>
        <p:spPr>
          <a:xfrm>
            <a:off x="548640" y="333756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33756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ChromaDB + Azure embeddings</a:t>
            </a:r>
          </a:p>
        </p:txBody>
      </p:sp>
      <p:sp>
        <p:nvSpPr>
          <p:cNvPr id="18" name="TextBox 17"/>
          <p:cNvSpPr txBox="1"/>
          <p:nvPr/>
        </p:nvSpPr>
        <p:spPr>
          <a:xfrm>
            <a:off x="411480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Vector knowledge base for HR policy retrieval (RAG).</a:t>
            </a:r>
          </a:p>
        </p:txBody>
      </p:sp>
      <p:sp>
        <p:nvSpPr>
          <p:cNvPr id="19" name="Rectangle 18"/>
          <p:cNvSpPr/>
          <p:nvPr/>
        </p:nvSpPr>
        <p:spPr>
          <a:xfrm>
            <a:off x="54864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29768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Azure AI Foundry</a:t>
            </a:r>
          </a:p>
        </p:txBody>
      </p:sp>
      <p:sp>
        <p:nvSpPr>
          <p:cNvPr id="22" name="TextBox 21"/>
          <p:cNvSpPr txBox="1"/>
          <p:nvPr/>
        </p:nvSpPr>
        <p:spPr>
          <a:xfrm>
            <a:off x="411480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Hosted LLM + embeddings (gpt-5.4 + text-embedding-ada-002).</a:t>
            </a:r>
          </a:p>
        </p:txBody>
      </p:sp>
      <p:sp>
        <p:nvSpPr>
          <p:cNvPr id="23" name="Rectangle 22"/>
          <p:cNvSpPr/>
          <p:nvPr/>
        </p:nvSpPr>
        <p:spPr>
          <a:xfrm>
            <a:off x="548640" y="5257800"/>
            <a:ext cx="164592"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13232" y="5257800"/>
            <a:ext cx="1097280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FastMCP 2</a:t>
            </a:r>
          </a:p>
        </p:txBody>
      </p:sp>
      <p:sp>
        <p:nvSpPr>
          <p:cNvPr id="26" name="TextBox 25"/>
          <p:cNvSpPr txBox="1"/>
          <p:nvPr/>
        </p:nvSpPr>
        <p:spPr>
          <a:xfrm>
            <a:off x="411480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Exposes the pipeline to external clients via the MCP protocol.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The four CrewAI agents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graphicFrame>
        <p:nvGraphicFramePr>
          <p:cNvPr id="7" name="Table 6"/>
          <p:cNvGraphicFramePr>
            <a:graphicFrameLocks noGrp="1"/>
          </p:cNvGraphicFramePr>
          <p:nvPr/>
        </p:nvGraphicFramePr>
        <p:xfrm>
          <a:off x="548640" y="1417320"/>
          <a:ext cx="11064240" cy="2606040"/>
        </p:xfrm>
        <a:graphic>
          <a:graphicData uri="http://schemas.openxmlformats.org/drawingml/2006/table">
            <a:tbl>
              <a:tblPr firstRow="1" bandRow="1">
                <a:tableStyleId>{5C22544A-7EE6-4342-B048-85BDC9FD1C3A}</a:tableStyleId>
              </a:tblPr>
              <a:tblGrid>
                <a:gridCol w="2766060"/>
                <a:gridCol w="2766060"/>
                <a:gridCol w="2766060"/>
                <a:gridCol w="2766060"/>
              </a:tblGrid>
              <a:tr h="521208">
                <a:tc>
                  <a:txBody>
                    <a:bodyPr/>
                    <a:lstStyle/>
                    <a:p>
                      <a:pPr algn="l"/>
                      <a:r>
                        <a:rPr sz="1300" b="1">
                          <a:solidFill>
                            <a:srgbClr val="FFFFFF"/>
                          </a:solidFill>
                          <a:latin typeface="Calibri"/>
                        </a:rPr>
                        <a:t>Agent</a:t>
                      </a:r>
                    </a:p>
                  </a:txBody>
                  <a:tcPr>
                    <a:solidFill>
                      <a:srgbClr val="0B1B3F"/>
                    </a:solidFill>
                  </a:tcPr>
                </a:tc>
                <a:tc>
                  <a:txBody>
                    <a:bodyPr/>
                    <a:lstStyle/>
                    <a:p>
                      <a:pPr algn="l"/>
                      <a:r>
                        <a:rPr sz="1300" b="1">
                          <a:solidFill>
                            <a:srgbClr val="FFFFFF"/>
                          </a:solidFill>
                          <a:latin typeface="Calibri"/>
                        </a:rPr>
                        <a:t>Pipeline node</a:t>
                      </a:r>
                    </a:p>
                  </a:txBody>
                  <a:tcPr>
                    <a:solidFill>
                      <a:srgbClr val="0B1B3F"/>
                    </a:solidFill>
                  </a:tcPr>
                </a:tc>
                <a:tc>
                  <a:txBody>
                    <a:bodyPr/>
                    <a:lstStyle/>
                    <a:p>
                      <a:pPr algn="l"/>
                      <a:r>
                        <a:rPr sz="1300" b="1">
                          <a:solidFill>
                            <a:srgbClr val="FFFFFF"/>
                          </a:solidFill>
                          <a:latin typeface="Calibri"/>
                        </a:rPr>
                        <a:t>Tools</a:t>
                      </a:r>
                    </a:p>
                  </a:txBody>
                  <a:tcPr>
                    <a:solidFill>
                      <a:srgbClr val="0B1B3F"/>
                    </a:solidFill>
                  </a:tcPr>
                </a:tc>
                <a:tc>
                  <a:txBody>
                    <a:bodyPr/>
                    <a:lstStyle/>
                    <a:p>
                      <a:pPr algn="l"/>
                      <a:r>
                        <a:rPr sz="1300" b="1">
                          <a:solidFill>
                            <a:srgbClr val="FFFFFF"/>
                          </a:solidFill>
                          <a:latin typeface="Calibri"/>
                        </a:rPr>
                        <a:t>Job</a:t>
                      </a:r>
                    </a:p>
                  </a:txBody>
                  <a:tcPr>
                    <a:solidFill>
                      <a:srgbClr val="0B1B3F"/>
                    </a:solidFill>
                  </a:tcPr>
                </a:tc>
              </a:tr>
              <a:tr h="521208">
                <a:tc>
                  <a:txBody>
                    <a:bodyPr/>
                    <a:lstStyle/>
                    <a:p>
                      <a:pPr algn="l"/>
                      <a:r>
                        <a:rPr sz="1100" b="1">
                          <a:solidFill>
                            <a:srgbClr val="0B1B3F"/>
                          </a:solidFill>
                          <a:latin typeface="Calibri"/>
                        </a:rPr>
                        <a:t>Alex (ChatConcierge)</a:t>
                      </a:r>
                    </a:p>
                  </a:txBody>
                  <a:tcPr>
                    <a:solidFill>
                      <a:srgbClr val="F8FAFC"/>
                    </a:solidFill>
                  </a:tcPr>
                </a:tc>
                <a:tc>
                  <a:txBody>
                    <a:bodyPr/>
                    <a:lstStyle/>
                    <a:p>
                      <a:pPr algn="l"/>
                      <a:r>
                        <a:rPr sz="1100">
                          <a:solidFill>
                            <a:srgbClr val="0F172A"/>
                          </a:solidFill>
                          <a:latin typeface="Calibri"/>
                        </a:rPr>
                        <a:t>/api/chat</a:t>
                      </a:r>
                    </a:p>
                  </a:txBody>
                  <a:tcPr>
                    <a:solidFill>
                      <a:srgbClr val="F8FAFC"/>
                    </a:solidFill>
                  </a:tcPr>
                </a:tc>
                <a:tc>
                  <a:txBody>
                    <a:bodyPr/>
                    <a:lstStyle/>
                    <a:p>
                      <a:pPr algn="l"/>
                      <a:r>
                        <a:rPr sz="1100">
                          <a:solidFill>
                            <a:srgbClr val="0F172A"/>
                          </a:solidFill>
                          <a:latin typeface="Calibri"/>
                        </a:rPr>
                        <a:t>query_hr_policy</a:t>
                      </a:r>
                    </a:p>
                  </a:txBody>
                  <a:tcPr>
                    <a:solidFill>
                      <a:srgbClr val="F8FAFC"/>
                    </a:solidFill>
                  </a:tcPr>
                </a:tc>
                <a:tc>
                  <a:txBody>
                    <a:bodyPr/>
                    <a:lstStyle/>
                    <a:p>
                      <a:pPr algn="l"/>
                      <a:r>
                        <a:rPr sz="1100">
                          <a:solidFill>
                            <a:srgbClr val="0F172A"/>
                          </a:solidFill>
                          <a:latin typeface="Calibri"/>
                        </a:rPr>
                        <a:t>Interactive HR Q&amp;A grounded in ChromaDB.</a:t>
                      </a:r>
                    </a:p>
                  </a:txBody>
                  <a:tcPr>
                    <a:solidFill>
                      <a:srgbClr val="F8FAFC"/>
                    </a:solidFill>
                  </a:tcPr>
                </a:tc>
              </a:tr>
              <a:tr h="521208">
                <a:tc>
                  <a:txBody>
                    <a:bodyPr/>
                    <a:lstStyle/>
                    <a:p>
                      <a:pPr algn="l"/>
                      <a:r>
                        <a:rPr sz="1100" b="1">
                          <a:solidFill>
                            <a:srgbClr val="0B1B3F"/>
                          </a:solidFill>
                          <a:latin typeface="Calibri"/>
                        </a:rPr>
                        <a:t>PolicyExpertAgent</a:t>
                      </a:r>
                    </a:p>
                  </a:txBody>
                  <a:tcPr>
                    <a:solidFill>
                      <a:srgbClr val="EEF2F7"/>
                    </a:solidFill>
                  </a:tcPr>
                </a:tc>
                <a:tc>
                  <a:txBody>
                    <a:bodyPr/>
                    <a:lstStyle/>
                    <a:p>
                      <a:pPr algn="l"/>
                      <a:r>
                        <a:rPr sz="1100">
                          <a:solidFill>
                            <a:srgbClr val="0F172A"/>
                          </a:solidFill>
                          <a:latin typeface="Calibri"/>
                        </a:rPr>
                        <a:t>policy_expert (parallel)</a:t>
                      </a:r>
                    </a:p>
                  </a:txBody>
                  <a:tcPr>
                    <a:solidFill>
                      <a:srgbClr val="EEF2F7"/>
                    </a:solidFill>
                  </a:tcPr>
                </a:tc>
                <a:tc>
                  <a:txBody>
                    <a:bodyPr/>
                    <a:lstStyle/>
                    <a:p>
                      <a:pPr algn="l"/>
                      <a:r>
                        <a:rPr sz="1100">
                          <a:solidFill>
                            <a:srgbClr val="0F172A"/>
                          </a:solidFill>
                          <a:latin typeface="Calibri"/>
                        </a:rPr>
                        <a:t>query_hr_policy</a:t>
                      </a:r>
                    </a:p>
                  </a:txBody>
                  <a:tcPr>
                    <a:solidFill>
                      <a:srgbClr val="EEF2F7"/>
                    </a:solidFill>
                  </a:tcPr>
                </a:tc>
                <a:tc>
                  <a:txBody>
                    <a:bodyPr/>
                    <a:lstStyle/>
                    <a:p>
                      <a:pPr algn="l"/>
                      <a:r>
                        <a:rPr sz="1100">
                          <a:solidFill>
                            <a:srgbClr val="0F172A"/>
                          </a:solidFill>
                          <a:latin typeface="Calibri"/>
                        </a:rPr>
                        <a:t>Assess resume against policy; recommend level + comp band.</a:t>
                      </a:r>
                    </a:p>
                  </a:txBody>
                  <a:tcPr>
                    <a:solidFill>
                      <a:srgbClr val="EEF2F7"/>
                    </a:solidFill>
                  </a:tcPr>
                </a:tc>
              </a:tr>
              <a:tr h="521208">
                <a:tc>
                  <a:txBody>
                    <a:bodyPr/>
                    <a:lstStyle/>
                    <a:p>
                      <a:pPr algn="l"/>
                      <a:r>
                        <a:rPr sz="1100" b="1">
                          <a:solidFill>
                            <a:srgbClr val="0B1B3F"/>
                          </a:solidFill>
                          <a:latin typeface="Calibri"/>
                        </a:rPr>
                        <a:t>ResumeAnalystAgent</a:t>
                      </a:r>
                    </a:p>
                  </a:txBody>
                  <a:tcPr>
                    <a:solidFill>
                      <a:srgbClr val="F8FAFC"/>
                    </a:solidFill>
                  </a:tcPr>
                </a:tc>
                <a:tc>
                  <a:txBody>
                    <a:bodyPr/>
                    <a:lstStyle/>
                    <a:p>
                      <a:pPr algn="l"/>
                      <a:r>
                        <a:rPr sz="1100">
                          <a:solidFill>
                            <a:srgbClr val="0F172A"/>
                          </a:solidFill>
                          <a:latin typeface="Calibri"/>
                        </a:rPr>
                        <a:t>resume_analyst (parallel)</a:t>
                      </a:r>
                    </a:p>
                  </a:txBody>
                  <a:tcPr>
                    <a:solidFill>
                      <a:srgbClr val="F8FAFC"/>
                    </a:solidFill>
                  </a:tcPr>
                </a:tc>
                <a:tc>
                  <a:txBody>
                    <a:bodyPr/>
                    <a:lstStyle/>
                    <a:p>
                      <a:pPr algn="l"/>
                      <a:r>
                        <a:rPr sz="1100">
                          <a:solidFill>
                            <a:srgbClr val="0F172A"/>
                          </a:solidFill>
                          <a:latin typeface="Calibri"/>
                        </a:rPr>
                        <a:t>brave_web_search</a:t>
                      </a:r>
                    </a:p>
                  </a:txBody>
                  <a:tcPr>
                    <a:solidFill>
                      <a:srgbClr val="F8FAFC"/>
                    </a:solidFill>
                  </a:tcPr>
                </a:tc>
                <a:tc>
                  <a:txBody>
                    <a:bodyPr/>
                    <a:lstStyle/>
                    <a:p>
                      <a:pPr algn="l"/>
                      <a:r>
                        <a:rPr sz="1100">
                          <a:solidFill>
                            <a:srgbClr val="0F172A"/>
                          </a:solidFill>
                          <a:latin typeface="Calibri"/>
                        </a:rPr>
                        <a:t>Score skills + experience; verify creds via web.</a:t>
                      </a:r>
                    </a:p>
                  </a:txBody>
                  <a:tcPr>
                    <a:solidFill>
                      <a:srgbClr val="F8FAFC"/>
                    </a:solidFill>
                  </a:tcPr>
                </a:tc>
              </a:tr>
              <a:tr h="521208">
                <a:tc>
                  <a:txBody>
                    <a:bodyPr/>
                    <a:lstStyle/>
                    <a:p>
                      <a:pPr algn="l"/>
                      <a:r>
                        <a:rPr sz="1100" b="1">
                          <a:solidFill>
                            <a:srgbClr val="0B1B3F"/>
                          </a:solidFill>
                          <a:latin typeface="Calibri"/>
                        </a:rPr>
                        <a:t>DecisionMakerAgent</a:t>
                      </a:r>
                    </a:p>
                  </a:txBody>
                  <a:tcPr>
                    <a:solidFill>
                      <a:srgbClr val="EEF2F7"/>
                    </a:solidFill>
                  </a:tcPr>
                </a:tc>
                <a:tc>
                  <a:txBody>
                    <a:bodyPr/>
                    <a:lstStyle/>
                    <a:p>
                      <a:pPr algn="l"/>
                      <a:r>
                        <a:rPr sz="1100">
                          <a:solidFill>
                            <a:srgbClr val="0F172A"/>
                          </a:solidFill>
                          <a:latin typeface="Calibri"/>
                        </a:rPr>
                        <a:t>decision_maker (fan-in)</a:t>
                      </a:r>
                    </a:p>
                  </a:txBody>
                  <a:tcPr>
                    <a:solidFill>
                      <a:srgbClr val="EEF2F7"/>
                    </a:solidFill>
                  </a:tcPr>
                </a:tc>
                <a:tc>
                  <a:txBody>
                    <a:bodyPr/>
                    <a:lstStyle/>
                    <a:p>
                      <a:pPr algn="l"/>
                      <a:r>
                        <a:rPr sz="1100">
                          <a:solidFill>
                            <a:srgbClr val="0F172A"/>
                          </a:solidFill>
                          <a:latin typeface="Calibri"/>
                        </a:rPr>
                        <a:t>none — pure reasoning</a:t>
                      </a:r>
                    </a:p>
                  </a:txBody>
                  <a:tcPr>
                    <a:solidFill>
                      <a:srgbClr val="EEF2F7"/>
                    </a:solidFill>
                  </a:tcPr>
                </a:tc>
                <a:tc>
                  <a:txBody>
                    <a:bodyPr/>
                    <a:lstStyle/>
                    <a:p>
                      <a:pPr algn="l"/>
                      <a:r>
                        <a:rPr sz="1100">
                          <a:solidFill>
                            <a:srgbClr val="0F172A"/>
                          </a:solidFill>
                          <a:latin typeface="Calibri"/>
                        </a:rPr>
                        <a:t>Render the final disposition with next steps.</a:t>
                      </a:r>
                    </a:p>
                  </a:txBody>
                  <a:tcPr>
                    <a:solidFill>
                      <a:srgbClr val="EEF2F7"/>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The parallel pipeline — fan-out &amp; fan-in</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2743200"/>
            <a:ext cx="182880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34640"/>
            <a:ext cx="1828800" cy="411480"/>
          </a:xfrm>
          <a:prstGeom prst="rect">
            <a:avLst/>
          </a:prstGeom>
          <a:noFill/>
        </p:spPr>
        <p:txBody>
          <a:bodyPr wrap="square" lIns="0" rIns="0" tIns="0" bIns="0" anchor="ctr">
            <a:spAutoFit/>
          </a:bodyPr>
          <a:lstStyle/>
          <a:p>
            <a:pPr algn="ctr"/>
            <a:r>
              <a:rPr sz="1600" b="1" i="0">
                <a:solidFill>
                  <a:srgbClr val="FFFFFF"/>
                </a:solidFill>
                <a:latin typeface="Calibri"/>
              </a:rPr>
              <a:t>intake</a:t>
            </a:r>
          </a:p>
        </p:txBody>
      </p:sp>
      <p:sp>
        <p:nvSpPr>
          <p:cNvPr id="9" name="TextBox 8"/>
          <p:cNvSpPr txBox="1"/>
          <p:nvPr/>
        </p:nvSpPr>
        <p:spPr>
          <a:xfrm>
            <a:off x="548640" y="3246120"/>
            <a:ext cx="1828800" cy="365760"/>
          </a:xfrm>
          <a:prstGeom prst="rect">
            <a:avLst/>
          </a:prstGeom>
          <a:noFill/>
        </p:spPr>
        <p:txBody>
          <a:bodyPr wrap="square" lIns="0" rIns="0" tIns="0" bIns="0" anchor="ctr">
            <a:spAutoFit/>
          </a:bodyPr>
          <a:lstStyle/>
          <a:p>
            <a:pPr algn="ctr"/>
            <a:r>
              <a:rPr sz="1100" b="0" i="1">
                <a:solidFill>
                  <a:srgbClr val="FFFFFF"/>
                </a:solidFill>
                <a:latin typeface="Calibri"/>
              </a:rPr>
              <a:t>validate</a:t>
            </a:r>
          </a:p>
        </p:txBody>
      </p:sp>
      <p:sp>
        <p:nvSpPr>
          <p:cNvPr id="10" name="Right Arrow 9"/>
          <p:cNvSpPr/>
          <p:nvPr/>
        </p:nvSpPr>
        <p:spPr>
          <a:xfrm>
            <a:off x="2468880" y="2971800"/>
            <a:ext cx="73152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417320"/>
            <a:ext cx="5669280" cy="365760"/>
          </a:xfrm>
          <a:prstGeom prst="rect">
            <a:avLst/>
          </a:prstGeom>
          <a:noFill/>
        </p:spPr>
        <p:txBody>
          <a:bodyPr wrap="square" lIns="0" rIns="0" tIns="0" bIns="0" anchor="t">
            <a:spAutoFit/>
          </a:bodyPr>
          <a:lstStyle/>
          <a:p>
            <a:pPr algn="ctr"/>
            <a:r>
              <a:rPr sz="1400" b="1" i="0">
                <a:solidFill>
                  <a:srgbClr val="FFB703"/>
                </a:solidFill>
                <a:latin typeface="Calibri"/>
              </a:rPr>
              <a:t>PARALLEL FAN-OUT  →  FAN-IN</a:t>
            </a:r>
          </a:p>
        </p:txBody>
      </p:sp>
      <p:sp>
        <p:nvSpPr>
          <p:cNvPr id="12" name="Rectangle 11"/>
          <p:cNvSpPr/>
          <p:nvPr/>
        </p:nvSpPr>
        <p:spPr>
          <a:xfrm>
            <a:off x="3291840" y="1874519"/>
            <a:ext cx="5669280" cy="9144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1965959"/>
            <a:ext cx="5669280" cy="411480"/>
          </a:xfrm>
          <a:prstGeom prst="rect">
            <a:avLst/>
          </a:prstGeom>
          <a:noFill/>
        </p:spPr>
        <p:txBody>
          <a:bodyPr wrap="square" lIns="0" rIns="0" tIns="0" bIns="0" anchor="ctr">
            <a:spAutoFit/>
          </a:bodyPr>
          <a:lstStyle/>
          <a:p>
            <a:pPr algn="ctr"/>
            <a:r>
              <a:rPr sz="1600" b="1" i="0">
                <a:solidFill>
                  <a:srgbClr val="07122C"/>
                </a:solidFill>
                <a:latin typeface="Calibri"/>
              </a:rPr>
              <a:t>policy_expert</a:t>
            </a:r>
          </a:p>
        </p:txBody>
      </p:sp>
      <p:sp>
        <p:nvSpPr>
          <p:cNvPr id="14" name="TextBox 13"/>
          <p:cNvSpPr txBox="1"/>
          <p:nvPr/>
        </p:nvSpPr>
        <p:spPr>
          <a:xfrm>
            <a:off x="3291840" y="2377439"/>
            <a:ext cx="5669280" cy="365760"/>
          </a:xfrm>
          <a:prstGeom prst="rect">
            <a:avLst/>
          </a:prstGeom>
          <a:noFill/>
        </p:spPr>
        <p:txBody>
          <a:bodyPr wrap="square" lIns="0" rIns="0" tIns="0" bIns="0" anchor="ctr">
            <a:spAutoFit/>
          </a:bodyPr>
          <a:lstStyle/>
          <a:p>
            <a:pPr algn="ctr"/>
            <a:r>
              <a:rPr sz="1100" b="0" i="1">
                <a:solidFill>
                  <a:srgbClr val="07122C"/>
                </a:solidFill>
                <a:latin typeface="Calibri"/>
              </a:rPr>
              <a:t>ChromaDB · query_hr_policy</a:t>
            </a:r>
          </a:p>
        </p:txBody>
      </p:sp>
      <p:sp>
        <p:nvSpPr>
          <p:cNvPr id="15" name="Rectangle 14"/>
          <p:cNvSpPr/>
          <p:nvPr/>
        </p:nvSpPr>
        <p:spPr>
          <a:xfrm>
            <a:off x="3291840" y="3611880"/>
            <a:ext cx="5669280" cy="9144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0" y="3703320"/>
            <a:ext cx="5669280" cy="411480"/>
          </a:xfrm>
          <a:prstGeom prst="rect">
            <a:avLst/>
          </a:prstGeom>
          <a:noFill/>
        </p:spPr>
        <p:txBody>
          <a:bodyPr wrap="square" lIns="0" rIns="0" tIns="0" bIns="0" anchor="ctr">
            <a:spAutoFit/>
          </a:bodyPr>
          <a:lstStyle/>
          <a:p>
            <a:pPr algn="ctr"/>
            <a:r>
              <a:rPr sz="1600" b="1" i="0">
                <a:solidFill>
                  <a:srgbClr val="07122C"/>
                </a:solidFill>
                <a:latin typeface="Calibri"/>
              </a:rPr>
              <a:t>resume_analyst</a:t>
            </a:r>
          </a:p>
        </p:txBody>
      </p:sp>
      <p:sp>
        <p:nvSpPr>
          <p:cNvPr id="17" name="TextBox 16"/>
          <p:cNvSpPr txBox="1"/>
          <p:nvPr/>
        </p:nvSpPr>
        <p:spPr>
          <a:xfrm>
            <a:off x="3291840" y="4114800"/>
            <a:ext cx="5669280" cy="365760"/>
          </a:xfrm>
          <a:prstGeom prst="rect">
            <a:avLst/>
          </a:prstGeom>
          <a:noFill/>
        </p:spPr>
        <p:txBody>
          <a:bodyPr wrap="square" lIns="0" rIns="0" tIns="0" bIns="0" anchor="ctr">
            <a:spAutoFit/>
          </a:bodyPr>
          <a:lstStyle/>
          <a:p>
            <a:pPr algn="ctr"/>
            <a:r>
              <a:rPr sz="1100" b="0" i="1">
                <a:solidFill>
                  <a:srgbClr val="07122C"/>
                </a:solidFill>
                <a:latin typeface="Calibri"/>
              </a:rPr>
              <a:t>Brave Search · brave_web_search</a:t>
            </a:r>
          </a:p>
        </p:txBody>
      </p:sp>
      <p:sp>
        <p:nvSpPr>
          <p:cNvPr id="18" name="Rectangle 17"/>
          <p:cNvSpPr/>
          <p:nvPr/>
        </p:nvSpPr>
        <p:spPr>
          <a:xfrm>
            <a:off x="3200400" y="2240280"/>
            <a:ext cx="91440" cy="219456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006840" y="210312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9006840" y="3840480"/>
            <a:ext cx="548640" cy="411480"/>
          </a:xfrm>
          <a:prstGeom prst="rightArrow">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46920" y="2743200"/>
            <a:ext cx="2011680" cy="9144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2834640"/>
            <a:ext cx="2011680" cy="411480"/>
          </a:xfrm>
          <a:prstGeom prst="rect">
            <a:avLst/>
          </a:prstGeom>
          <a:noFill/>
        </p:spPr>
        <p:txBody>
          <a:bodyPr wrap="square" lIns="0" rIns="0" tIns="0" bIns="0" anchor="ctr">
            <a:spAutoFit/>
          </a:bodyPr>
          <a:lstStyle/>
          <a:p>
            <a:pPr algn="ctr"/>
            <a:r>
              <a:rPr sz="1600" b="1" i="0">
                <a:solidFill>
                  <a:srgbClr val="FFFFFF"/>
                </a:solidFill>
                <a:latin typeface="Calibri"/>
              </a:rPr>
              <a:t>decision_maker</a:t>
            </a:r>
          </a:p>
        </p:txBody>
      </p:sp>
      <p:sp>
        <p:nvSpPr>
          <p:cNvPr id="23" name="TextBox 22"/>
          <p:cNvSpPr txBox="1"/>
          <p:nvPr/>
        </p:nvSpPr>
        <p:spPr>
          <a:xfrm>
            <a:off x="9646920" y="3246120"/>
            <a:ext cx="2011680" cy="365760"/>
          </a:xfrm>
          <a:prstGeom prst="rect">
            <a:avLst/>
          </a:prstGeom>
          <a:noFill/>
        </p:spPr>
        <p:txBody>
          <a:bodyPr wrap="square" lIns="0" rIns="0" tIns="0" bIns="0" anchor="ctr">
            <a:spAutoFit/>
          </a:bodyPr>
          <a:lstStyle/>
          <a:p>
            <a:pPr algn="ctr"/>
            <a:r>
              <a:rPr sz="1100" b="0" i="1">
                <a:solidFill>
                  <a:srgbClr val="FFFFFF"/>
                </a:solidFill>
                <a:latin typeface="Calibri"/>
              </a:rPr>
              <a:t>pure reasoning</a:t>
            </a:r>
          </a:p>
        </p:txBody>
      </p:sp>
      <p:sp>
        <p:nvSpPr>
          <p:cNvPr id="24" name="Rectangle 23"/>
          <p:cNvSpPr/>
          <p:nvPr/>
        </p:nvSpPr>
        <p:spPr>
          <a:xfrm>
            <a:off x="5029200" y="5120640"/>
            <a:ext cx="219456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5212080"/>
            <a:ext cx="2194560" cy="411480"/>
          </a:xfrm>
          <a:prstGeom prst="rect">
            <a:avLst/>
          </a:prstGeom>
          <a:noFill/>
        </p:spPr>
        <p:txBody>
          <a:bodyPr wrap="square" lIns="0" rIns="0" tIns="0" bIns="0" anchor="ctr">
            <a:spAutoFit/>
          </a:bodyPr>
          <a:lstStyle/>
          <a:p>
            <a:pPr algn="ctr"/>
            <a:r>
              <a:rPr sz="1600" b="1" i="0">
                <a:solidFill>
                  <a:srgbClr val="FFFFFF"/>
                </a:solidFill>
                <a:latin typeface="Calibri"/>
              </a:rPr>
              <a:t>notify</a:t>
            </a:r>
          </a:p>
        </p:txBody>
      </p:sp>
      <p:sp>
        <p:nvSpPr>
          <p:cNvPr id="26" name="TextBox 25"/>
          <p:cNvSpPr txBox="1"/>
          <p:nvPr/>
        </p:nvSpPr>
        <p:spPr>
          <a:xfrm>
            <a:off x="5029200" y="5623560"/>
            <a:ext cx="2194560" cy="365760"/>
          </a:xfrm>
          <a:prstGeom prst="rect">
            <a:avLst/>
          </a:prstGeom>
          <a:noFill/>
        </p:spPr>
        <p:txBody>
          <a:bodyPr wrap="square" lIns="0" rIns="0" tIns="0" bIns="0" anchor="ctr">
            <a:spAutoFit/>
          </a:bodyPr>
          <a:lstStyle/>
          <a:p>
            <a:pPr algn="ctr"/>
            <a:r>
              <a:rPr sz="1100" b="0" i="1">
                <a:solidFill>
                  <a:srgbClr val="FFFFFF"/>
                </a:solidFill>
                <a:latin typeface="Calibri"/>
              </a:rPr>
              <a:t>EvaluationResult → SQLite</a:t>
            </a:r>
          </a:p>
        </p:txBody>
      </p:sp>
      <p:sp>
        <p:nvSpPr>
          <p:cNvPr id="27" name="TextBox 26"/>
          <p:cNvSpPr txBox="1"/>
          <p:nvPr/>
        </p:nvSpPr>
        <p:spPr>
          <a:xfrm>
            <a:off x="640080" y="6126480"/>
            <a:ext cx="10972800" cy="365760"/>
          </a:xfrm>
          <a:prstGeom prst="rect">
            <a:avLst/>
          </a:prstGeom>
          <a:noFill/>
        </p:spPr>
        <p:txBody>
          <a:bodyPr wrap="square" lIns="0" rIns="0" tIns="0" bIns="0" anchor="t">
            <a:spAutoFit/>
          </a:bodyPr>
          <a:lstStyle/>
          <a:p>
            <a:pPr algn="ctr"/>
            <a:r>
              <a:rPr sz="1200" b="0" i="1">
                <a:solidFill>
                  <a:srgbClr val="475569"/>
                </a:solidFill>
                <a:latin typeface="Calibri"/>
              </a:rPr>
              <a:t>LangGraph owns routing &amp; state · CrewAI owns the persona inside each node · one Crew.kickoff() per node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How fan-out / fan-in is wired in LangGraph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325880"/>
            <a:ext cx="10972800" cy="457200"/>
          </a:xfrm>
          <a:prstGeom prst="rect">
            <a:avLst/>
          </a:prstGeom>
          <a:noFill/>
        </p:spPr>
        <p:txBody>
          <a:bodyPr wrap="square" lIns="0" rIns="0" tIns="0" bIns="0" anchor="t">
            <a:spAutoFit/>
          </a:bodyPr>
          <a:lstStyle/>
          <a:p>
            <a:pPr algn="l"/>
            <a:r>
              <a:rPr sz="1500" b="0" i="1">
                <a:solidFill>
                  <a:srgbClr val="475569"/>
                </a:solidFill>
                <a:latin typeface="Calibri"/>
              </a:rPr>
              <a:t>Two add_edge() calls from intake = fan-out. Two add_edge() calls into decision_maker = fan-in.</a:t>
            </a:r>
          </a:p>
        </p:txBody>
      </p:sp>
      <p:sp>
        <p:nvSpPr>
          <p:cNvPr id="8" name="Rectangle 7"/>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65960"/>
            <a:ext cx="10607040" cy="3931920"/>
          </a:xfrm>
          <a:prstGeom prst="rect">
            <a:avLst/>
          </a:prstGeom>
          <a:noFill/>
        </p:spPr>
        <p:txBody>
          <a:bodyPr wrap="square" lIns="0" rIns="0" tIns="0" bIns="0">
            <a:spAutoFit/>
          </a:bodyPr>
          <a:lstStyle/>
          <a:p>
            <a:pPr>
              <a:spcAft>
                <a:spcPts val="0"/>
              </a:spcAft>
            </a:pPr>
            <a:r>
              <a:rPr sz="1300">
                <a:solidFill>
                  <a:srgbClr val="FFFFFF"/>
                </a:solidFill>
                <a:latin typeface="Consolas"/>
              </a:rPr>
              <a:t>from langgraph.graph import StateGraph, START, END</a:t>
            </a:r>
          </a:p>
          <a:p>
            <a:pPr>
              <a:spcAft>
                <a:spcPts val="0"/>
              </a:spcAft>
            </a:pPr>
            <a:r>
              <a:rPr sz="1300">
                <a:solidFill>
                  <a:srgbClr val="FFFFFF"/>
                </a:solidFill>
                <a:latin typeface="Consolas"/>
              </a:rPr>
              <a:t>from langgraph.checkpoint.sqlite import SqliteSaver</a:t>
            </a:r>
          </a:p>
          <a:p>
            <a:pPr>
              <a:spcAft>
                <a:spcPts val="0"/>
              </a:spcAft>
            </a:pPr>
            <a:r>
              <a:rPr sz="1300">
                <a:solidFill>
                  <a:srgbClr val="FFFFFF"/>
                </a:solidFill>
                <a:latin typeface="Consolas"/>
              </a:rPr>
              <a:t> </a:t>
            </a:r>
          </a:p>
          <a:p>
            <a:pPr>
              <a:spcAft>
                <a:spcPts val="0"/>
              </a:spcAft>
            </a:pPr>
            <a:r>
              <a:rPr sz="1300">
                <a:solidFill>
                  <a:srgbClr val="FFFFFF"/>
                </a:solidFill>
                <a:latin typeface="Consolas"/>
              </a:rPr>
              <a:t>builder = StateGraph(HRState)</a:t>
            </a:r>
          </a:p>
          <a:p>
            <a:pPr>
              <a:spcAft>
                <a:spcPts val="0"/>
              </a:spcAft>
            </a:pPr>
            <a:r>
              <a:rPr sz="1300">
                <a:solidFill>
                  <a:srgbClr val="FFFFFF"/>
                </a:solidFill>
                <a:latin typeface="Consolas"/>
              </a:rPr>
              <a:t>builder.add_node("intake", intake_node)</a:t>
            </a:r>
          </a:p>
          <a:p>
            <a:pPr>
              <a:spcAft>
                <a:spcPts val="0"/>
              </a:spcAft>
            </a:pPr>
            <a:r>
              <a:rPr sz="1300">
                <a:solidFill>
                  <a:srgbClr val="FFFFFF"/>
                </a:solidFill>
                <a:latin typeface="Consolas"/>
              </a:rPr>
              <a:t>builder.add_node("policy_expert", policy_expert_crew_node)</a:t>
            </a:r>
          </a:p>
          <a:p>
            <a:pPr>
              <a:spcAft>
                <a:spcPts val="0"/>
              </a:spcAft>
            </a:pPr>
            <a:r>
              <a:rPr sz="1300">
                <a:solidFill>
                  <a:srgbClr val="FFFFFF"/>
                </a:solidFill>
                <a:latin typeface="Consolas"/>
              </a:rPr>
              <a:t>builder.add_node("resume_analyst", resume_analyst_crew_node)</a:t>
            </a:r>
          </a:p>
          <a:p>
            <a:pPr>
              <a:spcAft>
                <a:spcPts val="0"/>
              </a:spcAft>
            </a:pPr>
            <a:r>
              <a:rPr sz="1300">
                <a:solidFill>
                  <a:srgbClr val="FFFFFF"/>
                </a:solidFill>
                <a:latin typeface="Consolas"/>
              </a:rPr>
              <a:t>builder.add_node("decision_maker", decision_maker_crew_node)</a:t>
            </a:r>
          </a:p>
          <a:p>
            <a:pPr>
              <a:spcAft>
                <a:spcPts val="0"/>
              </a:spcAft>
            </a:pPr>
            <a:r>
              <a:rPr sz="1300">
                <a:solidFill>
                  <a:srgbClr val="FFFFFF"/>
                </a:solidFill>
                <a:latin typeface="Consolas"/>
              </a:rPr>
              <a:t>builder.add_node("notify", notify_node)</a:t>
            </a:r>
          </a:p>
          <a:p>
            <a:pPr>
              <a:spcAft>
                <a:spcPts val="0"/>
              </a:spcAft>
            </a:pPr>
            <a:r>
              <a:rPr sz="1300">
                <a:solidFill>
                  <a:srgbClr val="FFFFFF"/>
                </a:solidFill>
                <a:latin typeface="Consolas"/>
              </a:rPr>
              <a:t> </a:t>
            </a:r>
          </a:p>
          <a:p>
            <a:pPr>
              <a:spcAft>
                <a:spcPts val="0"/>
              </a:spcAft>
            </a:pPr>
            <a:r>
              <a:rPr sz="1300">
                <a:solidFill>
                  <a:srgbClr val="FFFFFF"/>
                </a:solidFill>
                <a:latin typeface="Consolas"/>
              </a:rPr>
              <a:t>builder.add_edge(START, "intake")</a:t>
            </a:r>
          </a:p>
          <a:p>
            <a:pPr>
              <a:spcAft>
                <a:spcPts val="0"/>
              </a:spcAft>
            </a:pPr>
            <a:r>
              <a:rPr sz="1300">
                <a:solidFill>
                  <a:srgbClr val="FFFFFF"/>
                </a:solidFill>
                <a:latin typeface="Consolas"/>
              </a:rPr>
              <a:t>builder.add_edge("intake", "policy_expert")     # fan-out edge 1</a:t>
            </a:r>
          </a:p>
          <a:p>
            <a:pPr>
              <a:spcAft>
                <a:spcPts val="0"/>
              </a:spcAft>
            </a:pPr>
            <a:r>
              <a:rPr sz="1300">
                <a:solidFill>
                  <a:srgbClr val="FFFFFF"/>
                </a:solidFill>
                <a:latin typeface="Consolas"/>
              </a:rPr>
              <a:t>builder.add_edge("intake", "resume_analyst")    # fan-out edge 2</a:t>
            </a:r>
          </a:p>
          <a:p>
            <a:pPr>
              <a:spcAft>
                <a:spcPts val="0"/>
              </a:spcAft>
            </a:pPr>
            <a:r>
              <a:rPr sz="1300">
                <a:solidFill>
                  <a:srgbClr val="FFFFFF"/>
                </a:solidFill>
                <a:latin typeface="Consolas"/>
              </a:rPr>
              <a:t>builder.add_edge("policy_expert", "decision_maker")    # fan-in edge 1</a:t>
            </a:r>
          </a:p>
          <a:p>
            <a:pPr>
              <a:spcAft>
                <a:spcPts val="0"/>
              </a:spcAft>
            </a:pPr>
            <a:r>
              <a:rPr sz="1300">
                <a:solidFill>
                  <a:srgbClr val="FFFFFF"/>
                </a:solidFill>
                <a:latin typeface="Consolas"/>
              </a:rPr>
              <a:t>builder.add_edge("resume_analyst", "decision_maker")   # fan-in edge 2</a:t>
            </a:r>
          </a:p>
          <a:p>
            <a:pPr>
              <a:spcAft>
                <a:spcPts val="0"/>
              </a:spcAft>
            </a:pPr>
            <a:r>
              <a:rPr sz="1300">
                <a:solidFill>
                  <a:srgbClr val="FFFFFF"/>
                </a:solidFill>
                <a:latin typeface="Consolas"/>
              </a:rPr>
              <a:t>builder.add_edge("decision_maker", "notify")</a:t>
            </a:r>
          </a:p>
          <a:p>
            <a:pPr>
              <a:spcAft>
                <a:spcPts val="0"/>
              </a:spcAft>
            </a:pPr>
            <a:r>
              <a:rPr sz="1300">
                <a:solidFill>
                  <a:srgbClr val="FFFFFF"/>
                </a:solidFill>
                <a:latin typeface="Consolas"/>
              </a:rPr>
              <a:t>builder.add_edge("notify", END)</a:t>
            </a:r>
          </a:p>
          <a:p>
            <a:pPr>
              <a:spcAft>
                <a:spcPts val="0"/>
              </a:spcAft>
            </a:pPr>
            <a:r>
              <a:rPr sz="1300">
                <a:solidFill>
                  <a:srgbClr val="FFFFFF"/>
                </a:solidFill>
                <a:latin typeface="Consolas"/>
              </a:rPr>
              <a:t> </a:t>
            </a:r>
          </a:p>
          <a:p>
            <a:pPr>
              <a:spcAft>
                <a:spcPts val="0"/>
              </a:spcAft>
            </a:pPr>
            <a:r>
              <a:rPr sz="1300">
                <a:solidFill>
                  <a:srgbClr val="FFFFFF"/>
                </a:solidFill>
                <a:latin typeface="Consolas"/>
              </a:rPr>
              <a:t>graph = builder.compile(checkpointer=SqliteSaver.from_conn_string("hr.db"))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State as a bucket — and the data model chain</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325880"/>
            <a:ext cx="5486400" cy="457200"/>
          </a:xfrm>
          <a:prstGeom prst="rect">
            <a:avLst/>
          </a:prstGeom>
          <a:noFill/>
        </p:spPr>
        <p:txBody>
          <a:bodyPr wrap="square" lIns="0" rIns="0" tIns="0" bIns="0" anchor="t">
            <a:spAutoFit/>
          </a:bodyPr>
          <a:lstStyle/>
          <a:p>
            <a:pPr algn="l"/>
            <a:r>
              <a:rPr sz="1800" b="1" i="0">
                <a:solidFill>
                  <a:srgbClr val="0B1B3F"/>
                </a:solidFill>
                <a:latin typeface="Calibri"/>
              </a:rPr>
              <a:t>HRState (TypedDict)</a:t>
            </a:r>
          </a:p>
        </p:txBody>
      </p:sp>
      <p:sp>
        <p:nvSpPr>
          <p:cNvPr id="8" name="TextBox 7"/>
          <p:cNvSpPr txBox="1"/>
          <p:nvPr/>
        </p:nvSpPr>
        <p:spPr>
          <a:xfrm>
            <a:off x="640080" y="1828800"/>
            <a:ext cx="5486400" cy="4114800"/>
          </a:xfrm>
          <a:prstGeom prst="rect">
            <a:avLst/>
          </a:prstGeom>
          <a:noFill/>
        </p:spPr>
        <p:txBody>
          <a:bodyPr wrap="square" lIns="0" rIns="0" tIns="0" bIns="0">
            <a:spAutoFit/>
          </a:bodyPr>
          <a:lstStyle/>
          <a:p>
            <a:pPr algn="l" indent="-228600" marL="228600">
              <a:spcAft>
                <a:spcPts val="800"/>
              </a:spcAft>
              <a:buChar char="•"/>
            </a:pPr>
            <a:r>
              <a:rPr sz="1400">
                <a:solidFill>
                  <a:srgbClr val="0F172A"/>
                </a:solidFill>
                <a:latin typeface="Consolas"/>
              </a:rPr>
              <a:t>session_id</a:t>
            </a:r>
          </a:p>
          <a:p>
            <a:pPr algn="l" indent="-228600" marL="228600">
              <a:spcAft>
                <a:spcPts val="800"/>
              </a:spcAft>
              <a:buChar char="•"/>
            </a:pPr>
            <a:r>
              <a:rPr sz="1400">
                <a:solidFill>
                  <a:srgbClr val="0F172A"/>
                </a:solidFill>
                <a:latin typeface="Consolas"/>
              </a:rPr>
              <a:t>resume_submission   ← intake fills this</a:t>
            </a:r>
          </a:p>
          <a:p>
            <a:pPr algn="l" indent="-228600" marL="228600">
              <a:spcAft>
                <a:spcPts val="800"/>
              </a:spcAft>
              <a:buChar char="•"/>
            </a:pPr>
            <a:r>
              <a:rPr sz="1400">
                <a:solidFill>
                  <a:srgbClr val="0F172A"/>
                </a:solidFill>
                <a:latin typeface="Consolas"/>
              </a:rPr>
              <a:t>policy_context        ← policy_expert fills this</a:t>
            </a:r>
          </a:p>
          <a:p>
            <a:pPr algn="l" indent="-228600" marL="228600">
              <a:spcAft>
                <a:spcPts val="800"/>
              </a:spcAft>
              <a:buChar char="•"/>
            </a:pPr>
            <a:r>
              <a:rPr sz="1400">
                <a:solidFill>
                  <a:srgbClr val="0F172A"/>
                </a:solidFill>
                <a:latin typeface="Consolas"/>
              </a:rPr>
              <a:t>candidate_eval         ← resume_analyst fills this</a:t>
            </a:r>
          </a:p>
          <a:p>
            <a:pPr algn="l" indent="-228600" marL="228600">
              <a:spcAft>
                <a:spcPts val="800"/>
              </a:spcAft>
              <a:buChar char="•"/>
            </a:pPr>
            <a:r>
              <a:rPr sz="1400">
                <a:solidFill>
                  <a:srgbClr val="0F172A"/>
                </a:solidFill>
                <a:latin typeface="Consolas"/>
              </a:rPr>
              <a:t>hr_decision             ← decision_maker fills this</a:t>
            </a:r>
          </a:p>
          <a:p>
            <a:pPr algn="l" indent="-228600" marL="228600">
              <a:spcAft>
                <a:spcPts val="800"/>
              </a:spcAft>
              <a:buChar char="•"/>
            </a:pPr>
            <a:r>
              <a:rPr sz="1400">
                <a:solidFill>
                  <a:srgbClr val="0F172A"/>
                </a:solidFill>
                <a:latin typeface="Consolas"/>
              </a:rPr>
              <a:t>evaluation_result     ← notify fills this</a:t>
            </a:r>
          </a:p>
        </p:txBody>
      </p:sp>
      <p:sp>
        <p:nvSpPr>
          <p:cNvPr id="9" name="TextBox 8"/>
          <p:cNvSpPr txBox="1"/>
          <p:nvPr/>
        </p:nvSpPr>
        <p:spPr>
          <a:xfrm>
            <a:off x="6583680" y="1325880"/>
            <a:ext cx="5120640" cy="457200"/>
          </a:xfrm>
          <a:prstGeom prst="rect">
            <a:avLst/>
          </a:prstGeom>
          <a:noFill/>
        </p:spPr>
        <p:txBody>
          <a:bodyPr wrap="square" lIns="0" rIns="0" tIns="0" bIns="0" anchor="t">
            <a:spAutoFit/>
          </a:bodyPr>
          <a:lstStyle/>
          <a:p>
            <a:pPr algn="l"/>
            <a:r>
              <a:rPr sz="1800" b="1" i="0">
                <a:solidFill>
                  <a:srgbClr val="0B1B3F"/>
                </a:solidFill>
                <a:latin typeface="Calibri"/>
              </a:rPr>
              <a:t>Pydantic data model chain</a:t>
            </a:r>
          </a:p>
        </p:txBody>
      </p:sp>
      <p:sp>
        <p:nvSpPr>
          <p:cNvPr id="10" name="TextBox 9"/>
          <p:cNvSpPr txBox="1"/>
          <p:nvPr/>
        </p:nvSpPr>
        <p:spPr>
          <a:xfrm>
            <a:off x="6583680" y="1828800"/>
            <a:ext cx="5120640" cy="4114800"/>
          </a:xfrm>
          <a:prstGeom prst="rect">
            <a:avLst/>
          </a:prstGeom>
          <a:noFill/>
        </p:spPr>
        <p:txBody>
          <a:bodyPr wrap="square" lIns="0" rIns="0" tIns="0" bIns="0">
            <a:spAutoFit/>
          </a:bodyPr>
          <a:lstStyle/>
          <a:p>
            <a:pPr algn="l" indent="-228600" marL="228600">
              <a:spcAft>
                <a:spcPts val="800"/>
              </a:spcAft>
              <a:buChar char="•"/>
            </a:pPr>
            <a:r>
              <a:rPr sz="1400">
                <a:solidFill>
                  <a:srgbClr val="0F172A"/>
                </a:solidFill>
                <a:latin typeface="Consolas"/>
              </a:rPr>
              <a:t>ResumeSubmission   (input)</a:t>
            </a:r>
          </a:p>
          <a:p>
            <a:pPr algn="l" indent="-228600" marL="228600">
              <a:spcAft>
                <a:spcPts val="800"/>
              </a:spcAft>
              <a:buChar char="•"/>
            </a:pPr>
            <a:r>
              <a:rPr sz="1400">
                <a:solidFill>
                  <a:srgbClr val="0F172A"/>
                </a:solidFill>
                <a:latin typeface="Consolas"/>
              </a:rPr>
              <a:t>  → PolicyContext            (RAG result)</a:t>
            </a:r>
          </a:p>
          <a:p>
            <a:pPr algn="l" indent="-228600" marL="228600">
              <a:spcAft>
                <a:spcPts val="800"/>
              </a:spcAft>
              <a:buChar char="•"/>
            </a:pPr>
            <a:r>
              <a:rPr sz="1400">
                <a:solidFill>
                  <a:srgbClr val="0F172A"/>
                </a:solidFill>
                <a:latin typeface="Consolas"/>
              </a:rPr>
              <a:t>  → CandidateEval            (skills + xp scores)</a:t>
            </a:r>
          </a:p>
          <a:p>
            <a:pPr algn="l" indent="-228600" marL="228600">
              <a:spcAft>
                <a:spcPts val="800"/>
              </a:spcAft>
              <a:buChar char="•"/>
            </a:pPr>
            <a:r>
              <a:rPr sz="1400">
                <a:solidFill>
                  <a:srgbClr val="0F172A"/>
                </a:solidFill>
                <a:latin typeface="Consolas"/>
              </a:rPr>
              <a:t>  → HRDecision                (disposition + reasoning)</a:t>
            </a:r>
          </a:p>
          <a:p>
            <a:pPr algn="l" indent="-228600" marL="228600">
              <a:spcAft>
                <a:spcPts val="800"/>
              </a:spcAft>
              <a:buChar char="•"/>
            </a:pPr>
            <a:r>
              <a:rPr sz="1400">
                <a:solidFill>
                  <a:srgbClr val="0F172A"/>
                </a:solidFill>
                <a:latin typeface="Consolas"/>
              </a:rPr>
              <a:t>  → EvaluationResult       (final → SQLite)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Four dispositions, one decision</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554480"/>
            <a:ext cx="10972800" cy="105156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200400" cy="685800"/>
          </a:xfrm>
          <a:prstGeom prst="rect">
            <a:avLst/>
          </a:prstGeom>
          <a:noFill/>
        </p:spPr>
        <p:txBody>
          <a:bodyPr wrap="square" lIns="0" rIns="0" tIns="0" bIns="0" anchor="ctr">
            <a:spAutoFit/>
          </a:bodyPr>
          <a:lstStyle/>
          <a:p>
            <a:pPr algn="l"/>
            <a:r>
              <a:rPr sz="2200" b="1" i="0">
                <a:solidFill>
                  <a:srgbClr val="07122C"/>
                </a:solidFill>
                <a:latin typeface="Calibri"/>
              </a:rPr>
              <a:t>Strong Match</a:t>
            </a:r>
          </a:p>
        </p:txBody>
      </p:sp>
      <p:sp>
        <p:nvSpPr>
          <p:cNvPr id="9" name="TextBox 8"/>
          <p:cNvSpPr txBox="1"/>
          <p:nvPr/>
        </p:nvSpPr>
        <p:spPr>
          <a:xfrm>
            <a:off x="4572000" y="1737360"/>
            <a:ext cx="7040880" cy="685800"/>
          </a:xfrm>
          <a:prstGeom prst="rect">
            <a:avLst/>
          </a:prstGeom>
          <a:noFill/>
        </p:spPr>
        <p:txBody>
          <a:bodyPr wrap="square" lIns="0" rIns="0" tIns="0" bIns="0" anchor="ctr">
            <a:spAutoFit/>
          </a:bodyPr>
          <a:lstStyle/>
          <a:p>
            <a:pPr algn="l"/>
            <a:r>
              <a:rPr sz="1500" b="0" i="0">
                <a:solidFill>
                  <a:srgbClr val="07122C"/>
                </a:solidFill>
                <a:latin typeface="Calibri"/>
              </a:rPr>
              <a:t>Exceeds requirements. Schedule interview now.</a:t>
            </a:r>
          </a:p>
        </p:txBody>
      </p:sp>
      <p:sp>
        <p:nvSpPr>
          <p:cNvPr id="10" name="Rectangle 9"/>
          <p:cNvSpPr/>
          <p:nvPr/>
        </p:nvSpPr>
        <p:spPr>
          <a:xfrm>
            <a:off x="640080" y="2697480"/>
            <a:ext cx="10972800" cy="105156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80360"/>
            <a:ext cx="3200400" cy="685800"/>
          </a:xfrm>
          <a:prstGeom prst="rect">
            <a:avLst/>
          </a:prstGeom>
          <a:noFill/>
        </p:spPr>
        <p:txBody>
          <a:bodyPr wrap="square" lIns="0" rIns="0" tIns="0" bIns="0" anchor="ctr">
            <a:spAutoFit/>
          </a:bodyPr>
          <a:lstStyle/>
          <a:p>
            <a:pPr algn="l"/>
            <a:r>
              <a:rPr sz="2200" b="1" i="0">
                <a:solidFill>
                  <a:srgbClr val="07122C"/>
                </a:solidFill>
                <a:latin typeface="Calibri"/>
              </a:rPr>
              <a:t>Possible Match</a:t>
            </a:r>
          </a:p>
        </p:txBody>
      </p:sp>
      <p:sp>
        <p:nvSpPr>
          <p:cNvPr id="12" name="TextBox 11"/>
          <p:cNvSpPr txBox="1"/>
          <p:nvPr/>
        </p:nvSpPr>
        <p:spPr>
          <a:xfrm>
            <a:off x="4572000" y="2880360"/>
            <a:ext cx="7040880" cy="685800"/>
          </a:xfrm>
          <a:prstGeom prst="rect">
            <a:avLst/>
          </a:prstGeom>
          <a:noFill/>
        </p:spPr>
        <p:txBody>
          <a:bodyPr wrap="square" lIns="0" rIns="0" tIns="0" bIns="0" anchor="ctr">
            <a:spAutoFit/>
          </a:bodyPr>
          <a:lstStyle/>
          <a:p>
            <a:pPr algn="l"/>
            <a:r>
              <a:rPr sz="1500" b="0" i="0">
                <a:solidFill>
                  <a:srgbClr val="07122C"/>
                </a:solidFill>
                <a:latin typeface="Calibri"/>
              </a:rPr>
              <a:t>Meets most. Some gaps to discuss in screen.</a:t>
            </a:r>
          </a:p>
        </p:txBody>
      </p:sp>
      <p:sp>
        <p:nvSpPr>
          <p:cNvPr id="13" name="Rectangle 12"/>
          <p:cNvSpPr/>
          <p:nvPr/>
        </p:nvSpPr>
        <p:spPr>
          <a:xfrm>
            <a:off x="640080" y="3840480"/>
            <a:ext cx="10972800" cy="10515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Needs Review</a:t>
            </a:r>
          </a:p>
        </p:txBody>
      </p:sp>
      <p:sp>
        <p:nvSpPr>
          <p:cNvPr id="15" name="TextBox 14"/>
          <p:cNvSpPr txBox="1"/>
          <p:nvPr/>
        </p:nvSpPr>
        <p:spPr>
          <a:xfrm>
            <a:off x="4572000" y="4023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Edge case. Recruiter follow-up needed.</a:t>
            </a:r>
          </a:p>
        </p:txBody>
      </p:sp>
      <p:sp>
        <p:nvSpPr>
          <p:cNvPr id="16" name="Rectangle 15"/>
          <p:cNvSpPr/>
          <p:nvPr/>
        </p:nvSpPr>
        <p:spPr>
          <a:xfrm>
            <a:off x="640080" y="4983480"/>
            <a:ext cx="10972800" cy="105156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66360"/>
            <a:ext cx="3200400" cy="685800"/>
          </a:xfrm>
          <a:prstGeom prst="rect">
            <a:avLst/>
          </a:prstGeom>
          <a:noFill/>
        </p:spPr>
        <p:txBody>
          <a:bodyPr wrap="square" lIns="0" rIns="0" tIns="0" bIns="0" anchor="ctr">
            <a:spAutoFit/>
          </a:bodyPr>
          <a:lstStyle/>
          <a:p>
            <a:pPr algn="l"/>
            <a:r>
              <a:rPr sz="2200" b="1" i="0">
                <a:solidFill>
                  <a:srgbClr val="FFFFFF"/>
                </a:solidFill>
                <a:latin typeface="Calibri"/>
              </a:rPr>
              <a:t>Not Qualified</a:t>
            </a:r>
          </a:p>
        </p:txBody>
      </p:sp>
      <p:sp>
        <p:nvSpPr>
          <p:cNvPr id="18" name="TextBox 17"/>
          <p:cNvSpPr txBox="1"/>
          <p:nvPr/>
        </p:nvSpPr>
        <p:spPr>
          <a:xfrm>
            <a:off x="4572000" y="5166360"/>
            <a:ext cx="7040880" cy="685800"/>
          </a:xfrm>
          <a:prstGeom prst="rect">
            <a:avLst/>
          </a:prstGeom>
          <a:noFill/>
        </p:spPr>
        <p:txBody>
          <a:bodyPr wrap="square" lIns="0" rIns="0" tIns="0" bIns="0" anchor="ctr">
            <a:spAutoFit/>
          </a:bodyPr>
          <a:lstStyle/>
          <a:p>
            <a:pPr algn="l"/>
            <a:r>
              <a:rPr sz="1500" b="0" i="0">
                <a:solidFill>
                  <a:srgbClr val="FFFFFF"/>
                </a:solidFill>
                <a:latin typeface="Calibri"/>
              </a:rPr>
              <a:t>Below bar. Decline with courtesy.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Demo · drop a resume, watch the pipeline run</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600" b="1">
                <a:solidFill>
                  <a:srgbClr val="0F172A"/>
                </a:solidFill>
                <a:latin typeface="Calibri"/>
              </a:rPr>
              <a:t>1.</a:t>
            </a:r>
            <a:r>
              <a:rPr sz="1600">
                <a:solidFill>
                  <a:srgbClr val="0F172A"/>
                </a:solidFill>
                <a:latin typeface="Calibri"/>
              </a:rPr>
              <a:t>  uv run hr-engine — FastAPI on :8090 (auto-kills the port first).</a:t>
            </a:r>
          </a:p>
          <a:p>
            <a:pPr algn="l" indent="-228600" marL="228600">
              <a:spcAft>
                <a:spcPts val="1100"/>
              </a:spcAft>
              <a:buChar char="•"/>
            </a:pPr>
            <a:r>
              <a:rPr sz="1600" b="1">
                <a:solidFill>
                  <a:srgbClr val="0F172A"/>
                </a:solidFill>
                <a:latin typeface="Calibri"/>
              </a:rPr>
              <a:t>2.</a:t>
            </a:r>
            <a:r>
              <a:rPr sz="1600">
                <a:solidFill>
                  <a:srgbClr val="0F172A"/>
                </a:solidFill>
                <a:latin typeface="Calibri"/>
              </a:rPr>
              <a:t>  Open http://localhost:8090/chat.html · upload Sarah Chen's resume.</a:t>
            </a:r>
          </a:p>
          <a:p>
            <a:pPr algn="l" indent="-228600" marL="228600">
              <a:spcAft>
                <a:spcPts val="1100"/>
              </a:spcAft>
              <a:buChar char="•"/>
            </a:pPr>
            <a:r>
              <a:rPr sz="1600" b="1">
                <a:solidFill>
                  <a:srgbClr val="0F172A"/>
                </a:solidFill>
                <a:latin typeface="Calibri"/>
              </a:rPr>
              <a:t>3.</a:t>
            </a:r>
            <a:r>
              <a:rPr sz="1600">
                <a:solidFill>
                  <a:srgbClr val="0F172A"/>
                </a:solidFill>
                <a:latin typeface="Calibri"/>
              </a:rPr>
              <a:t>  Watch the terminal — Rich-formatted node entries print live.</a:t>
            </a:r>
          </a:p>
          <a:p>
            <a:pPr algn="l" indent="-228600" marL="228600">
              <a:spcAft>
                <a:spcPts val="1100"/>
              </a:spcAft>
              <a:buChar char="•"/>
            </a:pPr>
            <a:r>
              <a:rPr sz="1600" b="1">
                <a:solidFill>
                  <a:srgbClr val="0F172A"/>
                </a:solidFill>
                <a:latin typeface="Calibri"/>
              </a:rPr>
              <a:t>4.</a:t>
            </a:r>
            <a:r>
              <a:rPr sz="1600">
                <a:solidFill>
                  <a:srgbClr val="0F172A"/>
                </a:solidFill>
                <a:latin typeface="Calibri"/>
              </a:rPr>
              <a:t>  Open http://localhost:8090/runs.html — split-panel pipeline trace.</a:t>
            </a:r>
          </a:p>
          <a:p>
            <a:pPr algn="l" indent="-228600" marL="228600">
              <a:spcAft>
                <a:spcPts val="1100"/>
              </a:spcAft>
              <a:buChar char="•"/>
            </a:pPr>
            <a:r>
              <a:rPr sz="1600" b="1">
                <a:solidFill>
                  <a:srgbClr val="0F172A"/>
                </a:solidFill>
                <a:latin typeface="Calibri"/>
              </a:rPr>
              <a:t>5.</a:t>
            </a:r>
            <a:r>
              <a:rPr sz="1600">
                <a:solidFill>
                  <a:srgbClr val="0F172A"/>
                </a:solidFill>
                <a:latin typeface="Calibri"/>
              </a:rPr>
              <a:t>  Spot the parallel branches: policy_expert and resume_analyst overlap in time.</a:t>
            </a:r>
          </a:p>
          <a:p>
            <a:pPr algn="l" indent="-228600" marL="228600">
              <a:spcAft>
                <a:spcPts val="1100"/>
              </a:spcAft>
              <a:buChar char="•"/>
            </a:pPr>
            <a:r>
              <a:rPr sz="1600" b="1">
                <a:solidFill>
                  <a:srgbClr val="0F172A"/>
                </a:solidFill>
                <a:latin typeface="Calibri"/>
              </a:rPr>
              <a:t>6.</a:t>
            </a:r>
            <a:r>
              <a:rPr sz="1600">
                <a:solidFill>
                  <a:srgbClr val="0F172A"/>
                </a:solidFill>
                <a:latin typeface="Calibri"/>
              </a:rPr>
              <a:t>  Open candidates.html — see disposition + reasoning + next steps.</a:t>
            </a:r>
          </a:p>
          <a:p>
            <a:pPr algn="l" indent="-228600" marL="228600">
              <a:spcAft>
                <a:spcPts val="1100"/>
              </a:spcAft>
              <a:buChar char="•"/>
            </a:pPr>
            <a:r>
              <a:rPr sz="1600" b="1">
                <a:solidFill>
                  <a:srgbClr val="0F172A"/>
                </a:solidFill>
                <a:latin typeface="Calibri"/>
              </a:rPr>
              <a:t>7.</a:t>
            </a:r>
            <a:r>
              <a:rPr sz="1600">
                <a:solidFill>
                  <a:srgbClr val="0F172A"/>
                </a:solidFill>
                <a:latin typeface="Calibri"/>
              </a:rPr>
              <a:t>  Re-run the same resume — LangGraph SqliteSaver finds the prior checkpoint.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Two-layer chat memory — instant + durable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100"/>
              </a:spcAft>
              <a:buChar char="•"/>
            </a:pPr>
            <a:r>
              <a:rPr sz="1500" b="1">
                <a:solidFill>
                  <a:srgbClr val="0F172A"/>
                </a:solidFill>
                <a:latin typeface="Calibri"/>
              </a:rPr>
              <a:t>Browser localStorage</a:t>
            </a:r>
            <a:r>
              <a:rPr sz="1500">
                <a:solidFill>
                  <a:srgbClr val="0F172A"/>
                </a:solidFill>
                <a:latin typeface="Calibri"/>
              </a:rPr>
              <a:t>  Instant restore on reload — zero server round-trip.</a:t>
            </a:r>
          </a:p>
          <a:p>
            <a:pPr algn="l" indent="-228600" marL="228600">
              <a:spcAft>
                <a:spcPts val="1100"/>
              </a:spcAft>
              <a:buChar char="•"/>
            </a:pPr>
            <a:r>
              <a:rPr sz="1500" b="1">
                <a:solidFill>
                  <a:srgbClr val="0F172A"/>
                </a:solidFill>
                <a:latin typeface="Calibri"/>
              </a:rPr>
              <a:t>Server-side JSON</a:t>
            </a:r>
            <a:r>
              <a:rPr sz="1500">
                <a:solidFill>
                  <a:srgbClr val="0F172A"/>
                </a:solidFill>
                <a:latin typeface="Calibri"/>
              </a:rPr>
              <a:t>  data/chat_sessions/{session_id}.json — survives browser clears.</a:t>
            </a:r>
          </a:p>
          <a:p>
            <a:pPr algn="l" indent="-228600" marL="228600">
              <a:spcAft>
                <a:spcPts val="1100"/>
              </a:spcAft>
              <a:buChar char="•"/>
            </a:pPr>
            <a:r>
              <a:rPr sz="1500" b="1">
                <a:solidFill>
                  <a:srgbClr val="0F172A"/>
                </a:solidFill>
                <a:latin typeface="Calibri"/>
              </a:rPr>
              <a:t>Past-session context</a:t>
            </a:r>
            <a:r>
              <a:rPr sz="1500">
                <a:solidFill>
                  <a:srgbClr val="0F172A"/>
                </a:solidFill>
                <a:latin typeface="Calibri"/>
              </a:rPr>
              <a:t>  Last 6 turns from last 2 sessions injected into Alex's task prompt.</a:t>
            </a:r>
          </a:p>
          <a:p>
            <a:pPr algn="l" indent="-228600" marL="228600">
              <a:spcAft>
                <a:spcPts val="1100"/>
              </a:spcAft>
              <a:buChar char="•"/>
            </a:pPr>
            <a:r>
              <a:rPr sz="1500" b="1">
                <a:solidFill>
                  <a:srgbClr val="0F172A"/>
                </a:solidFill>
                <a:latin typeface="Calibri"/>
              </a:rPr>
              <a:t>Why both</a:t>
            </a:r>
            <a:r>
              <a:rPr sz="1500">
                <a:solidFill>
                  <a:srgbClr val="0F172A"/>
                </a:solidFill>
                <a:latin typeface="Calibri"/>
              </a:rPr>
              <a:t>  Local = speed. Server = durability. The combo is the production pattern.</a:t>
            </a:r>
          </a:p>
          <a:p>
            <a:pPr algn="l" indent="-228600" marL="228600">
              <a:spcAft>
                <a:spcPts val="1100"/>
              </a:spcAft>
              <a:buChar char="•"/>
            </a:pPr>
            <a:r>
              <a:rPr sz="1500" b="1">
                <a:solidFill>
                  <a:srgbClr val="0F172A"/>
                </a:solidFill>
                <a:latin typeface="Calibri"/>
              </a:rPr>
              <a:t>Not a vector DB</a:t>
            </a:r>
            <a:r>
              <a:rPr sz="1500">
                <a:solidFill>
                  <a:srgbClr val="0F172A"/>
                </a:solidFill>
                <a:latin typeface="Calibri"/>
              </a:rPr>
              <a:t>  We could embed past chats — for this scope, simple JSON wins.</a:t>
            </a:r>
          </a:p>
        </p:txBody>
      </p:sp>
      <p:sp>
        <p:nvSpPr>
          <p:cNvPr id="8" name="Rectangle 7"/>
          <p:cNvSpPr/>
          <p:nvPr/>
        </p:nvSpPr>
        <p:spPr>
          <a:xfrm>
            <a:off x="7680960" y="1417320"/>
            <a:ext cx="4023360" cy="4572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417320"/>
            <a:ext cx="9144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Production lesson</a:t>
            </a:r>
          </a:p>
        </p:txBody>
      </p:sp>
      <p:sp>
        <p:nvSpPr>
          <p:cNvPr id="11" name="TextBox 10"/>
          <p:cNvSpPr txBox="1"/>
          <p:nvPr/>
        </p:nvSpPr>
        <p:spPr>
          <a:xfrm>
            <a:off x="7909560" y="2286000"/>
            <a:ext cx="3657600" cy="3657600"/>
          </a:xfrm>
          <a:prstGeom prst="rect">
            <a:avLst/>
          </a:prstGeom>
          <a:noFill/>
        </p:spPr>
        <p:txBody>
          <a:bodyPr wrap="square" lIns="0" rIns="0" tIns="0" bIns="0" anchor="t">
            <a:spAutoFit/>
          </a:bodyPr>
          <a:lstStyle/>
          <a:p>
            <a:pPr algn="l"/>
            <a:r>
              <a:rPr sz="1300" b="0" i="0">
                <a:solidFill>
                  <a:srgbClr val="FFFFFF"/>
                </a:solidFill>
                <a:latin typeface="Calibri"/>
              </a:rPr>
              <a:t>Memory choices are architecture choices.
Know the difference between session memory, conversation memory, and long-term memory. Don't reach for a vector DB before you need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Debugging the pipeline in VS Code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F172A"/>
                </a:solidFill>
                <a:latin typeface="Calibri"/>
              </a:rPr>
              <a:t>Open the right folder</a:t>
            </a:r>
            <a:r>
              <a:rPr sz="1400">
                <a:solidFill>
                  <a:srgbClr val="0F172A"/>
                </a:solidFill>
                <a:latin typeface="Calibri"/>
              </a:rPr>
              <a:t>  code C:/github/agents2 — NOT contoso-hr-agent. PYTHONPATH depends on it.</a:t>
            </a:r>
          </a:p>
          <a:p>
            <a:pPr algn="l" indent="-228600" marL="228600">
              <a:spcAft>
                <a:spcPts val="1000"/>
              </a:spcAft>
              <a:buChar char="•"/>
            </a:pPr>
            <a:r>
              <a:rPr sz="1400" b="1">
                <a:solidFill>
                  <a:srgbClr val="0F172A"/>
                </a:solidFill>
                <a:latin typeface="Calibri"/>
              </a:rPr>
              <a:t>Press F5</a:t>
            </a:r>
            <a:r>
              <a:rPr sz="1400">
                <a:solidFill>
                  <a:srgbClr val="0F172A"/>
                </a:solidFill>
                <a:latin typeface="Calibri"/>
              </a:rPr>
              <a:t>  Pick 'HR Engine' from the launch dropdown.</a:t>
            </a:r>
          </a:p>
          <a:p>
            <a:pPr algn="l" indent="-228600" marL="228600">
              <a:spcAft>
                <a:spcPts val="1000"/>
              </a:spcAft>
              <a:buChar char="•"/>
            </a:pPr>
            <a:r>
              <a:rPr sz="1400" b="1">
                <a:solidFill>
                  <a:srgbClr val="0F172A"/>
                </a:solidFill>
                <a:latin typeface="Calibri"/>
              </a:rPr>
              <a:t>Set breakpoints</a:t>
            </a:r>
            <a:r>
              <a:rPr sz="1400">
                <a:solidFill>
                  <a:srgbClr val="0F172A"/>
                </a:solidFill>
                <a:latin typeface="Calibri"/>
              </a:rPr>
              <a:t>  intake_node, policy_expert_crew_node, decision_maker_crew_node.</a:t>
            </a:r>
          </a:p>
          <a:p>
            <a:pPr algn="l" indent="-228600" marL="228600">
              <a:spcAft>
                <a:spcPts val="1000"/>
              </a:spcAft>
              <a:buChar char="•"/>
            </a:pPr>
            <a:r>
              <a:rPr sz="1400" b="1">
                <a:solidFill>
                  <a:srgbClr val="0F172A"/>
                </a:solidFill>
                <a:latin typeface="Calibri"/>
              </a:rPr>
              <a:t>Inspect state</a:t>
            </a:r>
            <a:r>
              <a:rPr sz="1400">
                <a:solidFill>
                  <a:srgbClr val="0F172A"/>
                </a:solidFill>
                <a:latin typeface="Calibri"/>
              </a:rPr>
              <a:t>  state['policy_context']['chunks'][0] in the Debug Console.</a:t>
            </a:r>
          </a:p>
          <a:p>
            <a:pPr algn="l" indent="-228600" marL="228600">
              <a:spcAft>
                <a:spcPts val="1000"/>
              </a:spcAft>
              <a:buChar char="•"/>
            </a:pPr>
            <a:r>
              <a:rPr sz="1400" b="1">
                <a:solidFill>
                  <a:srgbClr val="0F172A"/>
                </a:solidFill>
                <a:latin typeface="Calibri"/>
              </a:rPr>
              <a:t>Conditional breakpoints</a:t>
            </a:r>
            <a:r>
              <a:rPr sz="1400">
                <a:solidFill>
                  <a:srgbClr val="0F172A"/>
                </a:solidFill>
                <a:latin typeface="Calibri"/>
              </a:rPr>
              <a:t>  Right-click → Edit → state['hr_decision']['disposition'] == 'Not Qualified'.</a:t>
            </a:r>
          </a:p>
        </p:txBody>
      </p:sp>
      <p:sp>
        <p:nvSpPr>
          <p:cNvPr id="8" name="Rectangle 7"/>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Hot keys</a:t>
            </a:r>
          </a:p>
        </p:txBody>
      </p:sp>
      <p:sp>
        <p:nvSpPr>
          <p:cNvPr id="10" name="TextBox 9"/>
          <p:cNvSpPr txBox="1"/>
          <p:nvPr/>
        </p:nvSpPr>
        <p:spPr>
          <a:xfrm>
            <a:off x="7909560" y="2286000"/>
            <a:ext cx="3657600" cy="3657600"/>
          </a:xfrm>
          <a:prstGeom prst="rect">
            <a:avLst/>
          </a:prstGeom>
          <a:noFill/>
        </p:spPr>
        <p:txBody>
          <a:bodyPr wrap="square" lIns="0" rIns="0" tIns="0" bIns="0">
            <a:spAutoFit/>
          </a:bodyPr>
          <a:lstStyle/>
          <a:p>
            <a:pPr algn="l" indent="-228600" marL="228600">
              <a:spcAft>
                <a:spcPts val="700"/>
              </a:spcAft>
              <a:buChar char="•"/>
            </a:pPr>
            <a:r>
              <a:rPr sz="1300" b="1">
                <a:solidFill>
                  <a:srgbClr val="FFFFFF"/>
                </a:solidFill>
                <a:latin typeface="Calibri"/>
              </a:rPr>
              <a:t>F5</a:t>
            </a:r>
            <a:r>
              <a:rPr sz="1300">
                <a:solidFill>
                  <a:srgbClr val="FFFFFF"/>
                </a:solidFill>
                <a:latin typeface="Calibri"/>
              </a:rPr>
              <a:t>  Start / continue debug</a:t>
            </a:r>
          </a:p>
          <a:p>
            <a:pPr algn="l" indent="-228600" marL="228600">
              <a:spcAft>
                <a:spcPts val="700"/>
              </a:spcAft>
              <a:buChar char="•"/>
            </a:pPr>
            <a:r>
              <a:rPr sz="1300" b="1">
                <a:solidFill>
                  <a:srgbClr val="FFFFFF"/>
                </a:solidFill>
                <a:latin typeface="Calibri"/>
              </a:rPr>
              <a:t>F9</a:t>
            </a:r>
            <a:r>
              <a:rPr sz="1300">
                <a:solidFill>
                  <a:srgbClr val="FFFFFF"/>
                </a:solidFill>
                <a:latin typeface="Calibri"/>
              </a:rPr>
              <a:t>  Toggle breakpoint</a:t>
            </a:r>
          </a:p>
          <a:p>
            <a:pPr algn="l" indent="-228600" marL="228600">
              <a:spcAft>
                <a:spcPts val="700"/>
              </a:spcAft>
              <a:buChar char="•"/>
            </a:pPr>
            <a:r>
              <a:rPr sz="1300" b="1">
                <a:solidFill>
                  <a:srgbClr val="FFFFFF"/>
                </a:solidFill>
                <a:latin typeface="Calibri"/>
              </a:rPr>
              <a:t>F10</a:t>
            </a:r>
            <a:r>
              <a:rPr sz="1300">
                <a:solidFill>
                  <a:srgbClr val="FFFFFF"/>
                </a:solidFill>
                <a:latin typeface="Calibri"/>
              </a:rPr>
              <a:t>  Step over</a:t>
            </a:r>
          </a:p>
          <a:p>
            <a:pPr algn="l" indent="-228600" marL="228600">
              <a:spcAft>
                <a:spcPts val="700"/>
              </a:spcAft>
              <a:buChar char="•"/>
            </a:pPr>
            <a:r>
              <a:rPr sz="1300" b="1">
                <a:solidFill>
                  <a:srgbClr val="FFFFFF"/>
                </a:solidFill>
                <a:latin typeface="Calibri"/>
              </a:rPr>
              <a:t>F11</a:t>
            </a:r>
            <a:r>
              <a:rPr sz="1300">
                <a:solidFill>
                  <a:srgbClr val="FFFFFF"/>
                </a:solidFill>
                <a:latin typeface="Calibri"/>
              </a:rPr>
              <a:t>  Step into</a:t>
            </a:r>
          </a:p>
          <a:p>
            <a:pPr algn="l" indent="-228600" marL="228600">
              <a:spcAft>
                <a:spcPts val="700"/>
              </a:spcAft>
              <a:buChar char="•"/>
            </a:pPr>
            <a:r>
              <a:rPr sz="1300" b="1">
                <a:solidFill>
                  <a:srgbClr val="FFFFFF"/>
                </a:solidFill>
                <a:latin typeface="Calibri"/>
              </a:rPr>
              <a:t>Shift+F11</a:t>
            </a:r>
            <a:r>
              <a:rPr sz="1300">
                <a:solidFill>
                  <a:srgbClr val="FFFFFF"/>
                </a:solidFill>
                <a:latin typeface="Calibri"/>
              </a:rPr>
              <a:t>  Step out</a:t>
            </a:r>
          </a:p>
          <a:p>
            <a:pPr algn="l" indent="-228600" marL="228600">
              <a:spcAft>
                <a:spcPts val="700"/>
              </a:spcAft>
              <a:buChar char="•"/>
            </a:pPr>
            <a:r>
              <a:rPr sz="1300" b="1">
                <a:solidFill>
                  <a:srgbClr val="FFFFFF"/>
                </a:solidFill>
                <a:latin typeface="Calibri"/>
              </a:rPr>
              <a:t>Ctrl+Shift+Y</a:t>
            </a:r>
            <a:r>
              <a:rPr sz="1300">
                <a:solidFill>
                  <a:srgbClr val="FFFFFF"/>
                </a:solidFill>
                <a:latin typeface="Calibri"/>
              </a:rPr>
              <a:t>  Open Debug Console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2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Contoso HR Agent: 4 CrewAI agents, 5 LangGraph nodes, parallel fan-out / fan-in.</a:t>
            </a:r>
          </a:p>
          <a:p>
            <a:pPr algn="l" indent="-228600" marL="228600">
              <a:spcAft>
                <a:spcPts val="1000"/>
              </a:spcAft>
              <a:buChar char="•"/>
            </a:pPr>
            <a:r>
              <a:rPr sz="1600">
                <a:solidFill>
                  <a:srgbClr val="0F172A"/>
                </a:solidFill>
                <a:latin typeface="Calibri"/>
              </a:rPr>
              <a:t>LangGraph owns routing &amp; state; CrewAI owns persona execution. One kickoff() per node.</a:t>
            </a:r>
          </a:p>
          <a:p>
            <a:pPr algn="l" indent="-228600" marL="228600">
              <a:spcAft>
                <a:spcPts val="1000"/>
              </a:spcAft>
              <a:buChar char="•"/>
            </a:pPr>
            <a:r>
              <a:rPr sz="1600">
                <a:solidFill>
                  <a:srgbClr val="0F172A"/>
                </a:solidFill>
                <a:latin typeface="Calibri"/>
              </a:rPr>
              <a:t>State as a bucket — each parallel node writes its own keys; LangGraph merges automatically.</a:t>
            </a:r>
          </a:p>
          <a:p>
            <a:pPr algn="l" indent="-228600" marL="228600">
              <a:spcAft>
                <a:spcPts val="1000"/>
              </a:spcAft>
              <a:buChar char="•"/>
            </a:pPr>
            <a:r>
              <a:rPr sz="1600">
                <a:solidFill>
                  <a:srgbClr val="0F172A"/>
                </a:solidFill>
                <a:latin typeface="Calibri"/>
              </a:rPr>
              <a:t>Pydantic data model chain: ResumeSubmission → PolicyContext → CandidateEval → HRDecision → EvaluationResult.</a:t>
            </a:r>
          </a:p>
          <a:p>
            <a:pPr algn="l" indent="-228600" marL="228600">
              <a:spcAft>
                <a:spcPts val="1000"/>
              </a:spcAft>
              <a:buChar char="•"/>
            </a:pPr>
            <a:r>
              <a:rPr sz="1600">
                <a:solidFill>
                  <a:srgbClr val="0F172A"/>
                </a:solidFill>
                <a:latin typeface="Calibri"/>
              </a:rPr>
              <a:t>runs.html visualizes the parallel branches — proof of concurrency in the timestamps.</a:t>
            </a:r>
          </a:p>
          <a:p>
            <a:pPr algn="l" indent="-228600" marL="228600">
              <a:spcAft>
                <a:spcPts val="1000"/>
              </a:spcAft>
              <a:buChar char="•"/>
            </a:pPr>
            <a:r>
              <a:rPr sz="1600">
                <a:solidFill>
                  <a:srgbClr val="0F172A"/>
                </a:solidFill>
                <a:latin typeface="Calibri"/>
              </a:rPr>
              <a:t>Two-layer chat memory + SqliteSaver checkpoints = production-grade durability.</a:t>
            </a:r>
          </a:p>
          <a:p>
            <a:pPr algn="l" indent="-228600" marL="228600">
              <a:spcAft>
                <a:spcPts val="1000"/>
              </a:spcAft>
              <a:buChar char="•"/>
            </a:pPr>
            <a:r>
              <a:rPr sz="1600">
                <a:solidFill>
                  <a:srgbClr val="0F172A"/>
                </a:solidFill>
                <a:latin typeface="Calibri"/>
              </a:rPr>
              <a:t>Next up: how the pipeline talks to the world — tools, knowledge, and MCP.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03</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Tools, Knowledge &amp; MCP</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FastMCP 2 · all five primitives · ChromaDB RAG · vibe coding live.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Why MCP exists — the integration tax</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Before MCP</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Every AI client wrote its own connector to your app.</a:t>
            </a:r>
          </a:p>
          <a:p>
            <a:pPr algn="l" indent="-228600" marL="228600">
              <a:spcAft>
                <a:spcPts val="800"/>
              </a:spcAft>
              <a:buChar char="•"/>
            </a:pPr>
            <a:r>
              <a:rPr sz="1600">
                <a:solidFill>
                  <a:srgbClr val="0F172A"/>
                </a:solidFill>
                <a:latin typeface="Calibri"/>
              </a:rPr>
              <a:t>Claude → custom API. Copilot → custom API. Cursor → custom API.</a:t>
            </a:r>
          </a:p>
          <a:p>
            <a:pPr algn="l" indent="-228600" marL="228600">
              <a:spcAft>
                <a:spcPts val="800"/>
              </a:spcAft>
              <a:buChar char="•"/>
            </a:pPr>
            <a:r>
              <a:rPr sz="1600">
                <a:solidFill>
                  <a:srgbClr val="0F172A"/>
                </a:solidFill>
                <a:latin typeface="Calibri"/>
              </a:rPr>
              <a:t>N clients × M apps = N × M integrations to maintain.</a:t>
            </a:r>
          </a:p>
          <a:p>
            <a:pPr algn="l" indent="-228600" marL="228600">
              <a:spcAft>
                <a:spcPts val="800"/>
              </a:spcAft>
              <a:buChar char="•"/>
            </a:pPr>
            <a:r>
              <a:rPr sz="1600">
                <a:solidFill>
                  <a:srgbClr val="0F172A"/>
                </a:solidFill>
                <a:latin typeface="Calibri"/>
              </a:rPr>
              <a:t>Tool catalogs lived inside each vendor's walled garden.</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After MCP</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One server speaks one protocol — every MCP-aware client just works.</a:t>
            </a:r>
          </a:p>
          <a:p>
            <a:pPr algn="l" indent="-228600" marL="228600">
              <a:spcAft>
                <a:spcPts val="800"/>
              </a:spcAft>
              <a:buChar char="•"/>
            </a:pPr>
            <a:r>
              <a:rPr sz="1600">
                <a:solidFill>
                  <a:srgbClr val="0F172A"/>
                </a:solidFill>
                <a:latin typeface="Calibri"/>
              </a:rPr>
              <a:t>N + M integrations instead of N × M.</a:t>
            </a:r>
          </a:p>
          <a:p>
            <a:pPr algn="l" indent="-228600" marL="228600">
              <a:spcAft>
                <a:spcPts val="800"/>
              </a:spcAft>
              <a:buChar char="•"/>
            </a:pPr>
            <a:r>
              <a:rPr sz="1600">
                <a:solidFill>
                  <a:srgbClr val="0F172A"/>
                </a:solidFill>
                <a:latin typeface="Calibri"/>
              </a:rPr>
              <a:t>Tools, resources, prompts, sampling, elicitation: standardized.</a:t>
            </a:r>
          </a:p>
          <a:p>
            <a:pPr algn="l" indent="-228600" marL="228600">
              <a:spcAft>
                <a:spcPts val="800"/>
              </a:spcAft>
              <a:buChar char="•"/>
            </a:pPr>
            <a:r>
              <a:rPr sz="1600">
                <a:solidFill>
                  <a:srgbClr val="0F172A"/>
                </a:solidFill>
                <a:latin typeface="Calibri"/>
              </a:rPr>
              <a:t>Hosted by Foundry, Claude Desktop, Cursor, VS Code, Continue, etc.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MCP architecture — server, client, transport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828800"/>
            <a:ext cx="3291840" cy="2286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0240"/>
            <a:ext cx="3291840" cy="365760"/>
          </a:xfrm>
          <a:prstGeom prst="rect">
            <a:avLst/>
          </a:prstGeom>
          <a:noFill/>
        </p:spPr>
        <p:txBody>
          <a:bodyPr wrap="square" lIns="0" rIns="0" tIns="0" bIns="0" anchor="t">
            <a:spAutoFit/>
          </a:bodyPr>
          <a:lstStyle/>
          <a:p>
            <a:pPr algn="ctr"/>
            <a:r>
              <a:rPr sz="1400" b="1" i="0">
                <a:solidFill>
                  <a:srgbClr val="FFB703"/>
                </a:solidFill>
                <a:latin typeface="Calibri"/>
              </a:rPr>
              <a:t>MCP SERVER</a:t>
            </a:r>
          </a:p>
        </p:txBody>
      </p:sp>
      <p:sp>
        <p:nvSpPr>
          <p:cNvPr id="9" name="TextBox 8"/>
          <p:cNvSpPr txBox="1"/>
          <p:nvPr/>
        </p:nvSpPr>
        <p:spPr>
          <a:xfrm>
            <a:off x="868680" y="2468880"/>
            <a:ext cx="2834640" cy="1554480"/>
          </a:xfrm>
          <a:prstGeom prst="rect">
            <a:avLst/>
          </a:prstGeom>
          <a:noFill/>
        </p:spPr>
        <p:txBody>
          <a:bodyPr wrap="square" lIns="0" rIns="0" tIns="0" bIns="0">
            <a:spAutoFit/>
          </a:bodyPr>
          <a:lstStyle/>
          <a:p>
            <a:pPr algn="l">
              <a:spcAft>
                <a:spcPts val="400"/>
              </a:spcAft>
            </a:pPr>
            <a:r>
              <a:rPr sz="1200">
                <a:solidFill>
                  <a:srgbClr val="FFFFFF"/>
                </a:solidFill>
                <a:latin typeface="Calibri"/>
              </a:rPr>
              <a:t>Your code, your data.</a:t>
            </a:r>
          </a:p>
          <a:p>
            <a:pPr algn="l">
              <a:spcAft>
                <a:spcPts val="400"/>
              </a:spcAft>
            </a:pPr>
            <a:r>
              <a:rPr sz="1200">
                <a:solidFill>
                  <a:srgbClr val="FFFFFF"/>
                </a:solidFill>
                <a:latin typeface="Calibri"/>
              </a:rPr>
              <a:t>Exposes tools, resources,</a:t>
            </a:r>
          </a:p>
          <a:p>
            <a:pPr algn="l">
              <a:spcAft>
                <a:spcPts val="400"/>
              </a:spcAft>
            </a:pPr>
            <a:r>
              <a:rPr sz="1200">
                <a:solidFill>
                  <a:srgbClr val="FFFFFF"/>
                </a:solidFill>
                <a:latin typeface="Calibri"/>
              </a:rPr>
              <a:t>prompts, sampling hooks,</a:t>
            </a:r>
          </a:p>
          <a:p>
            <a:pPr algn="l">
              <a:spcAft>
                <a:spcPts val="400"/>
              </a:spcAft>
            </a:pPr>
            <a:r>
              <a:rPr sz="1200">
                <a:solidFill>
                  <a:srgbClr val="FFFFFF"/>
                </a:solidFill>
                <a:latin typeface="Calibri"/>
              </a:rPr>
              <a:t>elicitation forms.</a:t>
            </a:r>
          </a:p>
        </p:txBody>
      </p:sp>
      <p:sp>
        <p:nvSpPr>
          <p:cNvPr id="10" name="Rectangle 9"/>
          <p:cNvSpPr/>
          <p:nvPr/>
        </p:nvSpPr>
        <p:spPr>
          <a:xfrm>
            <a:off x="4206240" y="1828800"/>
            <a:ext cx="3657600" cy="2286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920240"/>
            <a:ext cx="3657600" cy="365760"/>
          </a:xfrm>
          <a:prstGeom prst="rect">
            <a:avLst/>
          </a:prstGeom>
          <a:noFill/>
        </p:spPr>
        <p:txBody>
          <a:bodyPr wrap="square" lIns="0" rIns="0" tIns="0" bIns="0" anchor="t">
            <a:spAutoFit/>
          </a:bodyPr>
          <a:lstStyle/>
          <a:p>
            <a:pPr algn="ctr"/>
            <a:r>
              <a:rPr sz="1400" b="1" i="0">
                <a:solidFill>
                  <a:srgbClr val="07122C"/>
                </a:solidFill>
                <a:latin typeface="Calibri"/>
              </a:rPr>
              <a:t>TRANSPORT</a:t>
            </a:r>
          </a:p>
        </p:txBody>
      </p:sp>
      <p:sp>
        <p:nvSpPr>
          <p:cNvPr id="12" name="TextBox 11"/>
          <p:cNvSpPr txBox="1"/>
          <p:nvPr/>
        </p:nvSpPr>
        <p:spPr>
          <a:xfrm>
            <a:off x="4434840" y="2468880"/>
            <a:ext cx="3200400" cy="1554480"/>
          </a:xfrm>
          <a:prstGeom prst="rect">
            <a:avLst/>
          </a:prstGeom>
          <a:noFill/>
        </p:spPr>
        <p:txBody>
          <a:bodyPr wrap="square" lIns="0" rIns="0" tIns="0" bIns="0">
            <a:spAutoFit/>
          </a:bodyPr>
          <a:lstStyle/>
          <a:p>
            <a:pPr algn="l">
              <a:spcAft>
                <a:spcPts val="400"/>
              </a:spcAft>
            </a:pPr>
            <a:r>
              <a:rPr sz="1200">
                <a:solidFill>
                  <a:srgbClr val="07122C"/>
                </a:solidFill>
                <a:latin typeface="Calibri"/>
              </a:rPr>
              <a:t>stdio  → local dev, MCP Inspector</a:t>
            </a:r>
          </a:p>
          <a:p>
            <a:pPr algn="l">
              <a:spcAft>
                <a:spcPts val="400"/>
              </a:spcAft>
            </a:pPr>
            <a:r>
              <a:rPr sz="1200">
                <a:solidFill>
                  <a:srgbClr val="07122C"/>
                </a:solidFill>
                <a:latin typeface="Calibri"/>
              </a:rPr>
              <a:t>SSE    → HTTP server-sent events</a:t>
            </a:r>
          </a:p>
          <a:p>
            <a:pPr algn="l">
              <a:spcAft>
                <a:spcPts val="400"/>
              </a:spcAft>
            </a:pPr>
            <a:r>
              <a:rPr sz="1200">
                <a:solidFill>
                  <a:srgbClr val="07122C"/>
                </a:solidFill>
                <a:latin typeface="Calibri"/>
              </a:rPr>
              <a:t>Streamable HTTP → newer transport</a:t>
            </a:r>
          </a:p>
          <a:p>
            <a:pPr algn="l">
              <a:spcAft>
                <a:spcPts val="400"/>
              </a:spcAft>
            </a:pPr>
            <a:r>
              <a:rPr sz="1200">
                <a:solidFill>
                  <a:srgbClr val="07122C"/>
                </a:solidFill>
                <a:latin typeface="Calibri"/>
              </a:rPr>
              <a:t>Auth: bearer / OAuth / OBO</a:t>
            </a:r>
          </a:p>
        </p:txBody>
      </p:sp>
      <p:sp>
        <p:nvSpPr>
          <p:cNvPr id="13" name="Rectangle 12"/>
          <p:cNvSpPr/>
          <p:nvPr/>
        </p:nvSpPr>
        <p:spPr>
          <a:xfrm>
            <a:off x="8138160" y="1828800"/>
            <a:ext cx="3383280" cy="2286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920240"/>
            <a:ext cx="3383280" cy="365760"/>
          </a:xfrm>
          <a:prstGeom prst="rect">
            <a:avLst/>
          </a:prstGeom>
          <a:noFill/>
        </p:spPr>
        <p:txBody>
          <a:bodyPr wrap="square" lIns="0" rIns="0" tIns="0" bIns="0" anchor="t">
            <a:spAutoFit/>
          </a:bodyPr>
          <a:lstStyle/>
          <a:p>
            <a:pPr algn="ctr"/>
            <a:r>
              <a:rPr sz="1400" b="1" i="0">
                <a:solidFill>
                  <a:srgbClr val="07122C"/>
                </a:solidFill>
                <a:latin typeface="Calibri"/>
              </a:rPr>
              <a:t>MCP CLIENT</a:t>
            </a:r>
          </a:p>
        </p:txBody>
      </p:sp>
      <p:sp>
        <p:nvSpPr>
          <p:cNvPr id="15" name="TextBox 14"/>
          <p:cNvSpPr txBox="1"/>
          <p:nvPr/>
        </p:nvSpPr>
        <p:spPr>
          <a:xfrm>
            <a:off x="8366760" y="2468880"/>
            <a:ext cx="2926080" cy="1554480"/>
          </a:xfrm>
          <a:prstGeom prst="rect">
            <a:avLst/>
          </a:prstGeom>
          <a:noFill/>
        </p:spPr>
        <p:txBody>
          <a:bodyPr wrap="square" lIns="0" rIns="0" tIns="0" bIns="0">
            <a:spAutoFit/>
          </a:bodyPr>
          <a:lstStyle/>
          <a:p>
            <a:pPr algn="l">
              <a:spcAft>
                <a:spcPts val="400"/>
              </a:spcAft>
            </a:pPr>
            <a:r>
              <a:rPr sz="1200">
                <a:solidFill>
                  <a:srgbClr val="07122C"/>
                </a:solidFill>
                <a:latin typeface="Calibri"/>
              </a:rPr>
              <a:t>Claude Desktop</a:t>
            </a:r>
          </a:p>
          <a:p>
            <a:pPr algn="l">
              <a:spcAft>
                <a:spcPts val="400"/>
              </a:spcAft>
            </a:pPr>
            <a:r>
              <a:rPr sz="1200">
                <a:solidFill>
                  <a:srgbClr val="07122C"/>
                </a:solidFill>
                <a:latin typeface="Calibri"/>
              </a:rPr>
              <a:t>VS Code · Cursor · Continue</a:t>
            </a:r>
          </a:p>
          <a:p>
            <a:pPr algn="l">
              <a:spcAft>
                <a:spcPts val="400"/>
              </a:spcAft>
            </a:pPr>
            <a:r>
              <a:rPr sz="1200">
                <a:solidFill>
                  <a:srgbClr val="07122C"/>
                </a:solidFill>
                <a:latin typeface="Calibri"/>
              </a:rPr>
              <a:t>Foundry Agent Service</a:t>
            </a:r>
          </a:p>
          <a:p>
            <a:pPr algn="l">
              <a:spcAft>
                <a:spcPts val="400"/>
              </a:spcAft>
            </a:pPr>
            <a:r>
              <a:rPr sz="1200">
                <a:solidFill>
                  <a:srgbClr val="07122C"/>
                </a:solidFill>
                <a:latin typeface="Calibri"/>
              </a:rPr>
              <a:t>MCP Inspector (debugging)</a:t>
            </a:r>
          </a:p>
        </p:txBody>
      </p:sp>
      <p:sp>
        <p:nvSpPr>
          <p:cNvPr id="16" name="Left-Right Arrow 15"/>
          <p:cNvSpPr/>
          <p:nvPr/>
        </p:nvSpPr>
        <p:spPr>
          <a:xfrm>
            <a:off x="3931920" y="2834640"/>
            <a:ext cx="32004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Right Arrow 16"/>
          <p:cNvSpPr/>
          <p:nvPr/>
        </p:nvSpPr>
        <p:spPr>
          <a:xfrm>
            <a:off x="7818120" y="2834640"/>
            <a:ext cx="365760" cy="274320"/>
          </a:xfrm>
          <a:prstGeom prst="lef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72000"/>
            <a:ext cx="10972800" cy="457200"/>
          </a:xfrm>
          <a:prstGeom prst="rect">
            <a:avLst/>
          </a:prstGeom>
          <a:noFill/>
        </p:spPr>
        <p:txBody>
          <a:bodyPr wrap="square" lIns="0" rIns="0" tIns="0" bIns="0" anchor="t">
            <a:spAutoFit/>
          </a:bodyPr>
          <a:lstStyle/>
          <a:p>
            <a:pPr algn="ctr"/>
            <a:r>
              <a:rPr sz="1400" b="0" i="1">
                <a:solidFill>
                  <a:srgbClr val="475569"/>
                </a:solidFill>
                <a:latin typeface="Calibri"/>
              </a:rPr>
              <a:t>One protocol → many clients. Build the server once, reach every MCP-aware tool.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The five MCP primitives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32588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71600"/>
            <a:ext cx="2286000" cy="502920"/>
          </a:xfrm>
          <a:prstGeom prst="rect">
            <a:avLst/>
          </a:prstGeom>
          <a:noFill/>
        </p:spPr>
        <p:txBody>
          <a:bodyPr wrap="square" lIns="0" rIns="0" tIns="0" bIns="0" anchor="t">
            <a:spAutoFit/>
          </a:bodyPr>
          <a:lstStyle/>
          <a:p>
            <a:pPr algn="l"/>
            <a:r>
              <a:rPr sz="1800" b="1" i="0">
                <a:solidFill>
                  <a:srgbClr val="0B1B3F"/>
                </a:solidFill>
                <a:latin typeface="Calibri"/>
              </a:rPr>
              <a:t>Tools</a:t>
            </a:r>
          </a:p>
        </p:txBody>
      </p:sp>
      <p:sp>
        <p:nvSpPr>
          <p:cNvPr id="9" name="TextBox 8"/>
          <p:cNvSpPr txBox="1"/>
          <p:nvPr/>
        </p:nvSpPr>
        <p:spPr>
          <a:xfrm>
            <a:off x="868680" y="1828800"/>
            <a:ext cx="10515600" cy="365760"/>
          </a:xfrm>
          <a:prstGeom prst="rect">
            <a:avLst/>
          </a:prstGeom>
          <a:noFill/>
        </p:spPr>
        <p:txBody>
          <a:bodyPr wrap="square" lIns="0" rIns="0" tIns="0" bIns="0" anchor="t">
            <a:spAutoFit/>
          </a:bodyPr>
          <a:lstStyle/>
          <a:p>
            <a:pPr algn="l"/>
            <a:r>
              <a:rPr sz="1200" b="0" i="0">
                <a:solidFill>
                  <a:srgbClr val="0F172A"/>
                </a:solidFill>
                <a:latin typeface="Calibri"/>
              </a:rPr>
              <a:t>Verbs the LLM can call. Most agent capability lives here.</a:t>
            </a:r>
          </a:p>
        </p:txBody>
      </p:sp>
      <p:sp>
        <p:nvSpPr>
          <p:cNvPr id="10" name="TextBox 9"/>
          <p:cNvSpPr txBox="1"/>
          <p:nvPr/>
        </p:nvSpPr>
        <p:spPr>
          <a:xfrm>
            <a:off x="3200400" y="1371600"/>
            <a:ext cx="8229600" cy="457200"/>
          </a:xfrm>
          <a:prstGeom prst="rect">
            <a:avLst/>
          </a:prstGeom>
          <a:noFill/>
        </p:spPr>
        <p:txBody>
          <a:bodyPr wrap="square" lIns="0" rIns="0" tIns="0" bIns="0" anchor="t">
            <a:spAutoFit/>
          </a:bodyPr>
          <a:lstStyle/>
          <a:p>
            <a:pPr algn="l"/>
            <a:r>
              <a:rPr sz="1200" b="0" i="1">
                <a:solidFill>
                  <a:srgbClr val="00B4D8"/>
                </a:solidFill>
                <a:latin typeface="Consolas"/>
              </a:rPr>
              <a:t>get_candidate · query_policy · trigger_resume_evaluation</a:t>
            </a:r>
          </a:p>
        </p:txBody>
      </p:sp>
      <p:sp>
        <p:nvSpPr>
          <p:cNvPr id="11" name="Rectangle 10"/>
          <p:cNvSpPr/>
          <p:nvPr/>
        </p:nvSpPr>
        <p:spPr>
          <a:xfrm>
            <a:off x="548640" y="228600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31720"/>
            <a:ext cx="2286000" cy="502920"/>
          </a:xfrm>
          <a:prstGeom prst="rect">
            <a:avLst/>
          </a:prstGeom>
          <a:noFill/>
        </p:spPr>
        <p:txBody>
          <a:bodyPr wrap="square" lIns="0" rIns="0" tIns="0" bIns="0" anchor="t">
            <a:spAutoFit/>
          </a:bodyPr>
          <a:lstStyle/>
          <a:p>
            <a:pPr algn="l"/>
            <a:r>
              <a:rPr sz="1800" b="1" i="0">
                <a:solidFill>
                  <a:srgbClr val="0B1B3F"/>
                </a:solidFill>
                <a:latin typeface="Calibri"/>
              </a:rPr>
              <a:t>Resources</a:t>
            </a:r>
          </a:p>
        </p:txBody>
      </p:sp>
      <p:sp>
        <p:nvSpPr>
          <p:cNvPr id="13" name="TextBox 12"/>
          <p:cNvSpPr txBox="1"/>
          <p:nvPr/>
        </p:nvSpPr>
        <p:spPr>
          <a:xfrm>
            <a:off x="868680" y="2788920"/>
            <a:ext cx="10515600" cy="365760"/>
          </a:xfrm>
          <a:prstGeom prst="rect">
            <a:avLst/>
          </a:prstGeom>
          <a:noFill/>
        </p:spPr>
        <p:txBody>
          <a:bodyPr wrap="square" lIns="0" rIns="0" tIns="0" bIns="0" anchor="t">
            <a:spAutoFit/>
          </a:bodyPr>
          <a:lstStyle/>
          <a:p>
            <a:pPr algn="l"/>
            <a:r>
              <a:rPr sz="1200" b="0" i="0">
                <a:solidFill>
                  <a:srgbClr val="0F172A"/>
                </a:solidFill>
                <a:latin typeface="Calibri"/>
              </a:rPr>
              <a:t>Nouns the LLM can read. Cheaper than tools (no LLM round-trip).</a:t>
            </a:r>
          </a:p>
        </p:txBody>
      </p:sp>
      <p:sp>
        <p:nvSpPr>
          <p:cNvPr id="14" name="TextBox 13"/>
          <p:cNvSpPr txBox="1"/>
          <p:nvPr/>
        </p:nvSpPr>
        <p:spPr>
          <a:xfrm>
            <a:off x="3200400" y="2331720"/>
            <a:ext cx="8229600" cy="457200"/>
          </a:xfrm>
          <a:prstGeom prst="rect">
            <a:avLst/>
          </a:prstGeom>
          <a:noFill/>
        </p:spPr>
        <p:txBody>
          <a:bodyPr wrap="square" lIns="0" rIns="0" tIns="0" bIns="0" anchor="t">
            <a:spAutoFit/>
          </a:bodyPr>
          <a:lstStyle/>
          <a:p>
            <a:pPr algn="l"/>
            <a:r>
              <a:rPr sz="1200" b="0" i="1">
                <a:solidFill>
                  <a:srgbClr val="00B4D8"/>
                </a:solidFill>
                <a:latin typeface="Consolas"/>
              </a:rPr>
              <a:t>schema://candidate · stats://evaluations · candidate://{id}</a:t>
            </a:r>
          </a:p>
        </p:txBody>
      </p:sp>
      <p:sp>
        <p:nvSpPr>
          <p:cNvPr id="15" name="Rectangle 14"/>
          <p:cNvSpPr/>
          <p:nvPr/>
        </p:nvSpPr>
        <p:spPr>
          <a:xfrm>
            <a:off x="548640" y="324612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91840"/>
            <a:ext cx="2286000" cy="502920"/>
          </a:xfrm>
          <a:prstGeom prst="rect">
            <a:avLst/>
          </a:prstGeom>
          <a:noFill/>
        </p:spPr>
        <p:txBody>
          <a:bodyPr wrap="square" lIns="0" rIns="0" tIns="0" bIns="0" anchor="t">
            <a:spAutoFit/>
          </a:bodyPr>
          <a:lstStyle/>
          <a:p>
            <a:pPr algn="l"/>
            <a:r>
              <a:rPr sz="1800" b="1" i="0">
                <a:solidFill>
                  <a:srgbClr val="0B1B3F"/>
                </a:solidFill>
                <a:latin typeface="Calibri"/>
              </a:rPr>
              <a:t>Prompts</a:t>
            </a:r>
          </a:p>
        </p:txBody>
      </p:sp>
      <p:sp>
        <p:nvSpPr>
          <p:cNvPr id="17" name="TextBox 16"/>
          <p:cNvSpPr txBox="1"/>
          <p:nvPr/>
        </p:nvSpPr>
        <p:spPr>
          <a:xfrm>
            <a:off x="868680" y="3749040"/>
            <a:ext cx="10515600" cy="365760"/>
          </a:xfrm>
          <a:prstGeom prst="rect">
            <a:avLst/>
          </a:prstGeom>
          <a:noFill/>
        </p:spPr>
        <p:txBody>
          <a:bodyPr wrap="square" lIns="0" rIns="0" tIns="0" bIns="0" anchor="t">
            <a:spAutoFit/>
          </a:bodyPr>
          <a:lstStyle/>
          <a:p>
            <a:pPr algn="l"/>
            <a:r>
              <a:rPr sz="1200" b="0" i="0">
                <a:solidFill>
                  <a:srgbClr val="0F172A"/>
                </a:solidFill>
                <a:latin typeface="Calibri"/>
              </a:rPr>
              <a:t>Reusable message templates. Stops every client reinventing scaffolding.</a:t>
            </a:r>
          </a:p>
        </p:txBody>
      </p:sp>
      <p:sp>
        <p:nvSpPr>
          <p:cNvPr id="18" name="TextBox 17"/>
          <p:cNvSpPr txBox="1"/>
          <p:nvPr/>
        </p:nvSpPr>
        <p:spPr>
          <a:xfrm>
            <a:off x="3200400" y="3291840"/>
            <a:ext cx="8229600" cy="457200"/>
          </a:xfrm>
          <a:prstGeom prst="rect">
            <a:avLst/>
          </a:prstGeom>
          <a:noFill/>
        </p:spPr>
        <p:txBody>
          <a:bodyPr wrap="square" lIns="0" rIns="0" tIns="0" bIns="0" anchor="t">
            <a:spAutoFit/>
          </a:bodyPr>
          <a:lstStyle/>
          <a:p>
            <a:pPr algn="l"/>
            <a:r>
              <a:rPr sz="1200" b="0" i="1">
                <a:solidFill>
                  <a:srgbClr val="00B4D8"/>
                </a:solidFill>
                <a:latin typeface="Consolas"/>
              </a:rPr>
              <a:t>evaluate_resume · policy_query · disposition_review</a:t>
            </a:r>
          </a:p>
        </p:txBody>
      </p:sp>
      <p:sp>
        <p:nvSpPr>
          <p:cNvPr id="19" name="Rectangle 18"/>
          <p:cNvSpPr/>
          <p:nvPr/>
        </p:nvSpPr>
        <p:spPr>
          <a:xfrm>
            <a:off x="548640" y="420624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51960"/>
            <a:ext cx="2286000" cy="502920"/>
          </a:xfrm>
          <a:prstGeom prst="rect">
            <a:avLst/>
          </a:prstGeom>
          <a:noFill/>
        </p:spPr>
        <p:txBody>
          <a:bodyPr wrap="square" lIns="0" rIns="0" tIns="0" bIns="0" anchor="t">
            <a:spAutoFit/>
          </a:bodyPr>
          <a:lstStyle/>
          <a:p>
            <a:pPr algn="l"/>
            <a:r>
              <a:rPr sz="1800" b="1" i="0">
                <a:solidFill>
                  <a:srgbClr val="0B1B3F"/>
                </a:solidFill>
                <a:latin typeface="Calibri"/>
              </a:rPr>
              <a:t>Sampling</a:t>
            </a:r>
          </a:p>
        </p:txBody>
      </p:sp>
      <p:sp>
        <p:nvSpPr>
          <p:cNvPr id="21" name="TextBox 20"/>
          <p:cNvSpPr txBox="1"/>
          <p:nvPr/>
        </p:nvSpPr>
        <p:spPr>
          <a:xfrm>
            <a:off x="868680" y="470916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LLM. Inverts the conversation direction.</a:t>
            </a:r>
          </a:p>
        </p:txBody>
      </p:sp>
      <p:sp>
        <p:nvSpPr>
          <p:cNvPr id="22" name="TextBox 21"/>
          <p:cNvSpPr txBox="1"/>
          <p:nvPr/>
        </p:nvSpPr>
        <p:spPr>
          <a:xfrm>
            <a:off x="3200400" y="4251960"/>
            <a:ext cx="8229600" cy="457200"/>
          </a:xfrm>
          <a:prstGeom prst="rect">
            <a:avLst/>
          </a:prstGeom>
          <a:noFill/>
        </p:spPr>
        <p:txBody>
          <a:bodyPr wrap="square" lIns="0" rIns="0" tIns="0" bIns="0" anchor="t">
            <a:spAutoFit/>
          </a:bodyPr>
          <a:lstStyle/>
          <a:p>
            <a:pPr algn="l"/>
            <a:r>
              <a:rPr sz="1200" b="0" i="1">
                <a:solidFill>
                  <a:srgbClr val="00B4D8"/>
                </a:solidFill>
                <a:latin typeface="Consolas"/>
              </a:rPr>
              <a:t>generate_eval_summary uses ctx.sample()</a:t>
            </a:r>
          </a:p>
        </p:txBody>
      </p:sp>
      <p:sp>
        <p:nvSpPr>
          <p:cNvPr id="23" name="Rectangle 22"/>
          <p:cNvSpPr/>
          <p:nvPr/>
        </p:nvSpPr>
        <p:spPr>
          <a:xfrm>
            <a:off x="548640" y="5166360"/>
            <a:ext cx="164592" cy="9144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212080"/>
            <a:ext cx="2286000" cy="502920"/>
          </a:xfrm>
          <a:prstGeom prst="rect">
            <a:avLst/>
          </a:prstGeom>
          <a:noFill/>
        </p:spPr>
        <p:txBody>
          <a:bodyPr wrap="square" lIns="0" rIns="0" tIns="0" bIns="0" anchor="t">
            <a:spAutoFit/>
          </a:bodyPr>
          <a:lstStyle/>
          <a:p>
            <a:pPr algn="l"/>
            <a:r>
              <a:rPr sz="1800" b="1" i="0">
                <a:solidFill>
                  <a:srgbClr val="0B1B3F"/>
                </a:solidFill>
                <a:latin typeface="Calibri"/>
              </a:rPr>
              <a:t>Elicitation</a:t>
            </a:r>
          </a:p>
        </p:txBody>
      </p:sp>
      <p:sp>
        <p:nvSpPr>
          <p:cNvPr id="25" name="TextBox 24"/>
          <p:cNvSpPr txBox="1"/>
          <p:nvPr/>
        </p:nvSpPr>
        <p:spPr>
          <a:xfrm>
            <a:off x="868680" y="5669280"/>
            <a:ext cx="10515600" cy="365760"/>
          </a:xfrm>
          <a:prstGeom prst="rect">
            <a:avLst/>
          </a:prstGeom>
          <a:noFill/>
        </p:spPr>
        <p:txBody>
          <a:bodyPr wrap="square" lIns="0" rIns="0" tIns="0" bIns="0" anchor="t">
            <a:spAutoFit/>
          </a:bodyPr>
          <a:lstStyle/>
          <a:p>
            <a:pPr algn="l"/>
            <a:r>
              <a:rPr sz="1200" b="0" i="0">
                <a:solidFill>
                  <a:srgbClr val="0F172A"/>
                </a:solidFill>
                <a:latin typeface="Calibri"/>
              </a:rPr>
              <a:t>Server asks the USER mid-tool. Human-in-the-loop guardrail.</a:t>
            </a:r>
          </a:p>
        </p:txBody>
      </p:sp>
      <p:sp>
        <p:nvSpPr>
          <p:cNvPr id="26" name="TextBox 25"/>
          <p:cNvSpPr txBox="1"/>
          <p:nvPr/>
        </p:nvSpPr>
        <p:spPr>
          <a:xfrm>
            <a:off x="3200400" y="5212080"/>
            <a:ext cx="8229600" cy="457200"/>
          </a:xfrm>
          <a:prstGeom prst="rect">
            <a:avLst/>
          </a:prstGeom>
          <a:noFill/>
        </p:spPr>
        <p:txBody>
          <a:bodyPr wrap="square" lIns="0" rIns="0" tIns="0" bIns="0" anchor="t">
            <a:spAutoFit/>
          </a:bodyPr>
          <a:lstStyle/>
          <a:p>
            <a:pPr algn="l"/>
            <a:r>
              <a:rPr sz="1200" b="0" i="1">
                <a:solidFill>
                  <a:srgbClr val="00B4D8"/>
                </a:solidFill>
                <a:latin typeface="Consolas"/>
              </a:rPr>
              <a:t>confirm_and_evaluate uses ctx.elicit() before the expensive run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Sampling vs elicitation — flipping who talks to whom</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Sampling — server asks the LLM</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ctx.sample() inside a tool implementation.</a:t>
            </a:r>
          </a:p>
          <a:p>
            <a:pPr algn="l" indent="-228600" marL="228600">
              <a:spcAft>
                <a:spcPts val="800"/>
              </a:spcAft>
              <a:buChar char="•"/>
            </a:pPr>
            <a:r>
              <a:rPr sz="1600">
                <a:solidFill>
                  <a:srgbClr val="0F172A"/>
                </a:solidFill>
                <a:latin typeface="Calibri"/>
              </a:rPr>
              <a:t>Server hands data to the LLM and asks for prose back.</a:t>
            </a:r>
          </a:p>
          <a:p>
            <a:pPr algn="l" indent="-228600" marL="228600">
              <a:spcAft>
                <a:spcPts val="800"/>
              </a:spcAft>
              <a:buChar char="•"/>
            </a:pPr>
            <a:r>
              <a:rPr sz="1600">
                <a:solidFill>
                  <a:srgbClr val="0F172A"/>
                </a:solidFill>
                <a:latin typeface="Calibri"/>
              </a:rPr>
              <a:t>Use case: generate an executive summary for a candidate.</a:t>
            </a:r>
          </a:p>
          <a:p>
            <a:pPr algn="l" indent="-228600" marL="228600">
              <a:spcAft>
                <a:spcPts val="800"/>
              </a:spcAft>
              <a:buChar char="•"/>
            </a:pPr>
            <a:r>
              <a:rPr sz="1600">
                <a:solidFill>
                  <a:srgbClr val="0F172A"/>
                </a:solidFill>
                <a:latin typeface="Calibri"/>
              </a:rPr>
              <a:t>Why: server stays LLM-agnostic; the connected client provides the brain.</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Elicitation — server asks the user</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ctx.elicit() inside a tool implementation.</a:t>
            </a:r>
          </a:p>
          <a:p>
            <a:pPr algn="l" indent="-228600" marL="228600">
              <a:spcAft>
                <a:spcPts val="800"/>
              </a:spcAft>
              <a:buChar char="•"/>
            </a:pPr>
            <a:r>
              <a:rPr sz="1600">
                <a:solidFill>
                  <a:srgbClr val="0F172A"/>
                </a:solidFill>
                <a:latin typeface="Calibri"/>
              </a:rPr>
              <a:t>Server pauses the tool and pops a structured form to the human.</a:t>
            </a:r>
          </a:p>
          <a:p>
            <a:pPr algn="l" indent="-228600" marL="228600">
              <a:spcAft>
                <a:spcPts val="800"/>
              </a:spcAft>
              <a:buChar char="•"/>
            </a:pPr>
            <a:r>
              <a:rPr sz="1600">
                <a:solidFill>
                  <a:srgbClr val="0F172A"/>
                </a:solidFill>
                <a:latin typeface="Calibri"/>
              </a:rPr>
              <a:t>Use case: confirm before running an expensive 30-second pipeline.</a:t>
            </a:r>
          </a:p>
          <a:p>
            <a:pPr algn="l" indent="-228600" marL="228600">
              <a:spcAft>
                <a:spcPts val="800"/>
              </a:spcAft>
              <a:buChar char="•"/>
            </a:pPr>
            <a:r>
              <a:rPr sz="1600">
                <a:solidFill>
                  <a:srgbClr val="0F172A"/>
                </a:solidFill>
                <a:latin typeface="Calibri"/>
              </a:rPr>
              <a:t>Why: human-in-the-loop guardrails baked into the tool, not the prompt.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RAG essentials — how knowledge gets into the agent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325880"/>
            <a:ext cx="6400800" cy="457200"/>
          </a:xfrm>
          <a:prstGeom prst="rect">
            <a:avLst/>
          </a:prstGeom>
          <a:noFill/>
        </p:spPr>
        <p:txBody>
          <a:bodyPr wrap="square" lIns="0" rIns="0" tIns="0" bIns="0" anchor="t">
            <a:spAutoFit/>
          </a:bodyPr>
          <a:lstStyle/>
          <a:p>
            <a:pPr algn="l"/>
            <a:r>
              <a:rPr sz="1800" b="1" i="0">
                <a:solidFill>
                  <a:srgbClr val="0B1B3F"/>
                </a:solidFill>
                <a:latin typeface="Calibri"/>
              </a:rPr>
              <a:t>Ingest → Embed → Index → Retrieve</a:t>
            </a:r>
          </a:p>
        </p:txBody>
      </p:sp>
      <p:sp>
        <p:nvSpPr>
          <p:cNvPr id="8" name="TextBox 7"/>
          <p:cNvSpPr txBox="1"/>
          <p:nvPr/>
        </p:nvSpPr>
        <p:spPr>
          <a:xfrm>
            <a:off x="640080" y="1828800"/>
            <a:ext cx="6400800" cy="4114800"/>
          </a:xfrm>
          <a:prstGeom prst="rect">
            <a:avLst/>
          </a:prstGeom>
          <a:noFill/>
        </p:spPr>
        <p:txBody>
          <a:bodyPr wrap="square" lIns="0" rIns="0" tIns="0" bIns="0">
            <a:spAutoFit/>
          </a:bodyPr>
          <a:lstStyle/>
          <a:p>
            <a:pPr algn="l" indent="-228600" marL="228600">
              <a:spcAft>
                <a:spcPts val="1000"/>
              </a:spcAft>
              <a:buChar char="•"/>
            </a:pPr>
            <a:r>
              <a:rPr sz="1400" b="1">
                <a:solidFill>
                  <a:srgbClr val="0F172A"/>
                </a:solidFill>
                <a:latin typeface="Calibri"/>
              </a:rPr>
              <a:t>1. Ingest</a:t>
            </a:r>
            <a:r>
              <a:rPr sz="1400">
                <a:solidFill>
                  <a:srgbClr val="0F172A"/>
                </a:solidFill>
                <a:latin typeface="Calibri"/>
              </a:rPr>
              <a:t>  Load .pdf / .docx / .pptx / .md into raw text.</a:t>
            </a:r>
          </a:p>
          <a:p>
            <a:pPr algn="l" indent="-228600" marL="228600">
              <a:spcAft>
                <a:spcPts val="1000"/>
              </a:spcAft>
              <a:buChar char="•"/>
            </a:pPr>
            <a:r>
              <a:rPr sz="1400" b="1">
                <a:solidFill>
                  <a:srgbClr val="0F172A"/>
                </a:solidFill>
                <a:latin typeface="Calibri"/>
              </a:rPr>
              <a:t>2. Chunk</a:t>
            </a:r>
            <a:r>
              <a:rPr sz="1400">
                <a:solidFill>
                  <a:srgbClr val="0F172A"/>
                </a:solidFill>
                <a:latin typeface="Calibri"/>
              </a:rPr>
              <a:t>  Split with overlap (e.g., 1000 tokens, 200 overlap).</a:t>
            </a:r>
          </a:p>
          <a:p>
            <a:pPr algn="l" indent="-228600" marL="228600">
              <a:spcAft>
                <a:spcPts val="1000"/>
              </a:spcAft>
              <a:buChar char="•"/>
            </a:pPr>
            <a:r>
              <a:rPr sz="1400" b="1">
                <a:solidFill>
                  <a:srgbClr val="0F172A"/>
                </a:solidFill>
                <a:latin typeface="Calibri"/>
              </a:rPr>
              <a:t>3. Embed</a:t>
            </a:r>
            <a:r>
              <a:rPr sz="1400">
                <a:solidFill>
                  <a:srgbClr val="0F172A"/>
                </a:solidFill>
                <a:latin typeface="Calibri"/>
              </a:rPr>
              <a:t>  Azure text-embedding-ada-002 → 1536-dim vectors.</a:t>
            </a:r>
          </a:p>
          <a:p>
            <a:pPr algn="l" indent="-228600" marL="228600">
              <a:spcAft>
                <a:spcPts val="1000"/>
              </a:spcAft>
              <a:buChar char="•"/>
            </a:pPr>
            <a:r>
              <a:rPr sz="1400" b="1">
                <a:solidFill>
                  <a:srgbClr val="0F172A"/>
                </a:solidFill>
                <a:latin typeface="Calibri"/>
              </a:rPr>
              <a:t>4. Index</a:t>
            </a:r>
            <a:r>
              <a:rPr sz="1400">
                <a:solidFill>
                  <a:srgbClr val="0F172A"/>
                </a:solidFill>
                <a:latin typeface="Calibri"/>
              </a:rPr>
              <a:t>  Store in ChromaDB (dev) or Azure AI Search (prod).</a:t>
            </a:r>
          </a:p>
          <a:p>
            <a:pPr algn="l" indent="-228600" marL="228600">
              <a:spcAft>
                <a:spcPts val="1000"/>
              </a:spcAft>
              <a:buChar char="•"/>
            </a:pPr>
            <a:r>
              <a:rPr sz="1400" b="1">
                <a:solidFill>
                  <a:srgbClr val="0F172A"/>
                </a:solidFill>
                <a:latin typeface="Calibri"/>
              </a:rPr>
              <a:t>5. Retrieve</a:t>
            </a:r>
            <a:r>
              <a:rPr sz="1400">
                <a:solidFill>
                  <a:srgbClr val="0F172A"/>
                </a:solidFill>
                <a:latin typeface="Calibri"/>
              </a:rPr>
              <a:t>  Embed the question, find top-k cosine matches.</a:t>
            </a:r>
          </a:p>
          <a:p>
            <a:pPr algn="l" indent="-228600" marL="228600">
              <a:spcAft>
                <a:spcPts val="1000"/>
              </a:spcAft>
              <a:buChar char="•"/>
            </a:pPr>
            <a:r>
              <a:rPr sz="1400" b="1">
                <a:solidFill>
                  <a:srgbClr val="0F172A"/>
                </a:solidFill>
                <a:latin typeface="Calibri"/>
              </a:rPr>
              <a:t>6. Ground</a:t>
            </a:r>
            <a:r>
              <a:rPr sz="1400">
                <a:solidFill>
                  <a:srgbClr val="0F172A"/>
                </a:solidFill>
                <a:latin typeface="Calibri"/>
              </a:rPr>
              <a:t>  Stuff retrieved chunks into the prompt as context.</a:t>
            </a:r>
          </a:p>
        </p:txBody>
      </p:sp>
      <p:sp>
        <p:nvSpPr>
          <p:cNvPr id="9" name="Rectangle 8"/>
          <p:cNvSpPr/>
          <p:nvPr/>
        </p:nvSpPr>
        <p:spPr>
          <a:xfrm>
            <a:off x="7315200" y="1417320"/>
            <a:ext cx="438912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691640"/>
            <a:ext cx="3931920" cy="457200"/>
          </a:xfrm>
          <a:prstGeom prst="rect">
            <a:avLst/>
          </a:prstGeom>
          <a:noFill/>
        </p:spPr>
        <p:txBody>
          <a:bodyPr wrap="square" lIns="0" rIns="0" tIns="0" bIns="0" anchor="t">
            <a:spAutoFit/>
          </a:bodyPr>
          <a:lstStyle/>
          <a:p>
            <a:pPr algn="l"/>
            <a:r>
              <a:rPr sz="1600" b="1" i="0">
                <a:solidFill>
                  <a:srgbClr val="FFB703"/>
                </a:solidFill>
                <a:latin typeface="Calibri"/>
              </a:rPr>
              <a:t>Contoso HR knowledge base</a:t>
            </a:r>
          </a:p>
        </p:txBody>
      </p:sp>
      <p:sp>
        <p:nvSpPr>
          <p:cNvPr id="11" name="TextBox 10"/>
          <p:cNvSpPr txBox="1"/>
          <p:nvPr/>
        </p:nvSpPr>
        <p:spPr>
          <a:xfrm>
            <a:off x="7543800" y="2377440"/>
            <a:ext cx="3931920" cy="914400"/>
          </a:xfrm>
          <a:prstGeom prst="rect">
            <a:avLst/>
          </a:prstGeom>
          <a:noFill/>
        </p:spPr>
        <p:txBody>
          <a:bodyPr wrap="square" lIns="0" rIns="0" tIns="0" bIns="0" anchor="t">
            <a:spAutoFit/>
          </a:bodyPr>
          <a:lstStyle/>
          <a:p>
            <a:pPr algn="l"/>
            <a:r>
              <a:rPr sz="6400" b="1" i="0">
                <a:solidFill>
                  <a:srgbClr val="00B4D8"/>
                </a:solidFill>
                <a:latin typeface="Calibri"/>
              </a:rPr>
              <a:t>146</a:t>
            </a:r>
          </a:p>
        </p:txBody>
      </p:sp>
      <p:sp>
        <p:nvSpPr>
          <p:cNvPr id="12" name="TextBox 11"/>
          <p:cNvSpPr txBox="1"/>
          <p:nvPr/>
        </p:nvSpPr>
        <p:spPr>
          <a:xfrm>
            <a:off x="7543800" y="3383280"/>
            <a:ext cx="3931920" cy="365760"/>
          </a:xfrm>
          <a:prstGeom prst="rect">
            <a:avLst/>
          </a:prstGeom>
          <a:noFill/>
        </p:spPr>
        <p:txBody>
          <a:bodyPr wrap="square" lIns="0" rIns="0" tIns="0" bIns="0" anchor="t">
            <a:spAutoFit/>
          </a:bodyPr>
          <a:lstStyle/>
          <a:p>
            <a:pPr algn="l"/>
            <a:r>
              <a:rPr sz="1400" b="0" i="0">
                <a:solidFill>
                  <a:srgbClr val="FFFFFF"/>
                </a:solidFill>
                <a:latin typeface="Calibri"/>
              </a:rPr>
              <a:t>chunks indexed</a:t>
            </a:r>
          </a:p>
        </p:txBody>
      </p:sp>
      <p:sp>
        <p:nvSpPr>
          <p:cNvPr id="13" name="TextBox 12"/>
          <p:cNvSpPr txBox="1"/>
          <p:nvPr/>
        </p:nvSpPr>
        <p:spPr>
          <a:xfrm>
            <a:off x="7543800" y="3931920"/>
            <a:ext cx="3931920" cy="914400"/>
          </a:xfrm>
          <a:prstGeom prst="rect">
            <a:avLst/>
          </a:prstGeom>
          <a:noFill/>
        </p:spPr>
        <p:txBody>
          <a:bodyPr wrap="square" lIns="0" rIns="0" tIns="0" bIns="0" anchor="t">
            <a:spAutoFit/>
          </a:bodyPr>
          <a:lstStyle/>
          <a:p>
            <a:pPr algn="l"/>
            <a:r>
              <a:rPr sz="6400" b="1" i="0">
                <a:solidFill>
                  <a:srgbClr val="00B4D8"/>
                </a:solidFill>
                <a:latin typeface="Calibri"/>
              </a:rPr>
              <a:t>8</a:t>
            </a:r>
          </a:p>
        </p:txBody>
      </p:sp>
      <p:sp>
        <p:nvSpPr>
          <p:cNvPr id="14" name="TextBox 13"/>
          <p:cNvSpPr txBox="1"/>
          <p:nvPr/>
        </p:nvSpPr>
        <p:spPr>
          <a:xfrm>
            <a:off x="7543800" y="4937760"/>
            <a:ext cx="3931920" cy="365760"/>
          </a:xfrm>
          <a:prstGeom prst="rect">
            <a:avLst/>
          </a:prstGeom>
          <a:noFill/>
        </p:spPr>
        <p:txBody>
          <a:bodyPr wrap="square" lIns="0" rIns="0" tIns="0" bIns="0" anchor="t">
            <a:spAutoFit/>
          </a:bodyPr>
          <a:lstStyle/>
          <a:p>
            <a:pPr algn="l"/>
            <a:r>
              <a:rPr sz="1400" b="0" i="0">
                <a:solidFill>
                  <a:srgbClr val="FFFFFF"/>
                </a:solidFill>
                <a:latin typeface="Calibri"/>
              </a:rPr>
              <a:t>policy documents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Demo · MCP Inspector + Claude Desktop</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F172A"/>
                </a:solidFill>
                <a:latin typeface="Calibri"/>
              </a:rPr>
              <a:t>Start the server</a:t>
            </a:r>
            <a:r>
              <a:rPr sz="1500">
                <a:solidFill>
                  <a:srgbClr val="0F172A"/>
                </a:solidFill>
                <a:latin typeface="Calibri"/>
              </a:rPr>
              <a:t>  uv run hr-mcp --stdio (kills port 8091 first).</a:t>
            </a:r>
          </a:p>
          <a:p>
            <a:pPr algn="l" indent="-228600" marL="228600">
              <a:spcAft>
                <a:spcPts val="1000"/>
              </a:spcAft>
              <a:buChar char="•"/>
            </a:pPr>
            <a:r>
              <a:rPr sz="1500" b="1">
                <a:solidFill>
                  <a:srgbClr val="0F172A"/>
                </a:solidFill>
                <a:latin typeface="Calibri"/>
              </a:rPr>
              <a:t>Launch Inspector</a:t>
            </a:r>
            <a:r>
              <a:rPr sz="1500">
                <a:solidFill>
                  <a:srgbClr val="0F172A"/>
                </a:solidFill>
                <a:latin typeface="Calibri"/>
              </a:rPr>
              <a:t>  npx @modelcontextprotocol/inspector uv run hr-mcp --stdio.</a:t>
            </a:r>
          </a:p>
          <a:p>
            <a:pPr algn="l" indent="-228600" marL="228600">
              <a:spcAft>
                <a:spcPts val="1000"/>
              </a:spcAft>
              <a:buChar char="•"/>
            </a:pPr>
            <a:r>
              <a:rPr sz="1500" b="1">
                <a:solidFill>
                  <a:srgbClr val="0F172A"/>
                </a:solidFill>
                <a:latin typeface="Calibri"/>
              </a:rPr>
              <a:t>Inspector UI</a:t>
            </a:r>
            <a:r>
              <a:rPr sz="1500">
                <a:solidFill>
                  <a:srgbClr val="0F172A"/>
                </a:solidFill>
                <a:latin typeface="Calibri"/>
              </a:rPr>
              <a:t>  http://localhost:6374 — Tools, Resources, Prompts tabs.</a:t>
            </a:r>
          </a:p>
          <a:p>
            <a:pPr algn="l" indent="-228600" marL="228600">
              <a:spcAft>
                <a:spcPts val="1000"/>
              </a:spcAft>
              <a:buChar char="•"/>
            </a:pPr>
            <a:r>
              <a:rPr sz="1500" b="1">
                <a:solidFill>
                  <a:srgbClr val="0F172A"/>
                </a:solidFill>
                <a:latin typeface="Calibri"/>
              </a:rPr>
              <a:t>Tools tab</a:t>
            </a:r>
            <a:r>
              <a:rPr sz="1500">
                <a:solidFill>
                  <a:srgbClr val="0F172A"/>
                </a:solidFill>
                <a:latin typeface="Calibri"/>
              </a:rPr>
              <a:t>  Try query_policy, list_candidates, trigger_resume_evaluation.</a:t>
            </a:r>
          </a:p>
          <a:p>
            <a:pPr algn="l" indent="-228600" marL="228600">
              <a:spcAft>
                <a:spcPts val="1000"/>
              </a:spcAft>
              <a:buChar char="•"/>
            </a:pPr>
            <a:r>
              <a:rPr sz="1500" b="1">
                <a:solidFill>
                  <a:srgbClr val="0F172A"/>
                </a:solidFill>
                <a:latin typeface="Calibri"/>
              </a:rPr>
              <a:t>Sampling demo</a:t>
            </a:r>
            <a:r>
              <a:rPr sz="1500">
                <a:solidFill>
                  <a:srgbClr val="0F172A"/>
                </a:solidFill>
                <a:latin typeface="Calibri"/>
              </a:rPr>
              <a:t>  generate_eval_summary → watch the connected LLM write the summary.</a:t>
            </a:r>
          </a:p>
          <a:p>
            <a:pPr algn="l" indent="-228600" marL="228600">
              <a:spcAft>
                <a:spcPts val="1000"/>
              </a:spcAft>
              <a:buChar char="•"/>
            </a:pPr>
            <a:r>
              <a:rPr sz="1500" b="1">
                <a:solidFill>
                  <a:srgbClr val="0F172A"/>
                </a:solidFill>
                <a:latin typeface="Calibri"/>
              </a:rPr>
              <a:t>Elicitation demo</a:t>
            </a:r>
            <a:r>
              <a:rPr sz="1500">
                <a:solidFill>
                  <a:srgbClr val="0F172A"/>
                </a:solidFill>
                <a:latin typeface="Calibri"/>
              </a:rPr>
              <a:t>  confirm_and_evaluate → the form pops up and pauses the tool.</a:t>
            </a:r>
          </a:p>
          <a:p>
            <a:pPr algn="l" indent="-228600" marL="228600">
              <a:spcAft>
                <a:spcPts val="1000"/>
              </a:spcAft>
              <a:buChar char="•"/>
            </a:pPr>
            <a:r>
              <a:rPr sz="1500" b="1">
                <a:solidFill>
                  <a:srgbClr val="0F172A"/>
                </a:solidFill>
                <a:latin typeface="Calibri"/>
              </a:rPr>
              <a:t>Wire to Claude Desktop</a:t>
            </a:r>
            <a:r>
              <a:rPr sz="1500">
                <a:solidFill>
                  <a:srgbClr val="0F172A"/>
                </a:solidFill>
                <a:latin typeface="Calibri"/>
              </a:rPr>
              <a:t>  Update claude_desktop_config.json → restart from system tray.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Vibe coding — describe the WHAT, let Claude figure the HOW</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100"/>
              </a:spcAft>
              <a:buChar char="•"/>
            </a:pPr>
            <a:r>
              <a:rPr sz="1500" b="1">
                <a:solidFill>
                  <a:srgbClr val="0F172A"/>
                </a:solidFill>
                <a:latin typeface="Calibri"/>
              </a:rPr>
              <a:t>The mindset</a:t>
            </a:r>
            <a:r>
              <a:rPr sz="1500">
                <a:solidFill>
                  <a:srgbClr val="0F172A"/>
                </a:solidFill>
                <a:latin typeface="Calibri"/>
              </a:rPr>
              <a:t>  You're the architect. Claude is the senior engineer who reads code fast.</a:t>
            </a:r>
          </a:p>
          <a:p>
            <a:pPr algn="l" indent="-228600" marL="228600">
              <a:spcAft>
                <a:spcPts val="1100"/>
              </a:spcAft>
              <a:buChar char="•"/>
            </a:pPr>
            <a:r>
              <a:rPr sz="1500" b="1">
                <a:solidFill>
                  <a:srgbClr val="0F172A"/>
                </a:solidFill>
                <a:latin typeface="Calibri"/>
              </a:rPr>
              <a:t>Step 1 — Explore</a:t>
            </a:r>
            <a:r>
              <a:rPr sz="1500">
                <a:solidFill>
                  <a:srgbClr val="0F172A"/>
                </a:solidFill>
                <a:latin typeface="Calibri"/>
              </a:rPr>
              <a:t>  'How is ChromaDB set up? Where would a knowledge_summary tool fit?'</a:t>
            </a:r>
          </a:p>
          <a:p>
            <a:pPr algn="l" indent="-228600" marL="228600">
              <a:spcAft>
                <a:spcPts val="1100"/>
              </a:spcAft>
              <a:buChar char="•"/>
            </a:pPr>
            <a:r>
              <a:rPr sz="1500" b="1">
                <a:solidFill>
                  <a:srgbClr val="0F172A"/>
                </a:solidFill>
                <a:latin typeface="Calibri"/>
              </a:rPr>
              <a:t>Step 2 — Implement</a:t>
            </a:r>
            <a:r>
              <a:rPr sz="1500">
                <a:solidFill>
                  <a:srgbClr val="0F172A"/>
                </a:solidFill>
                <a:latin typeface="Calibri"/>
              </a:rPr>
              <a:t>  'Add a knowledge_summary MCP tool + a /api/knowledge/summary endpoint.'</a:t>
            </a:r>
          </a:p>
          <a:p>
            <a:pPr algn="l" indent="-228600" marL="228600">
              <a:spcAft>
                <a:spcPts val="1100"/>
              </a:spcAft>
              <a:buChar char="•"/>
            </a:pPr>
            <a:r>
              <a:rPr sz="1500" b="1">
                <a:solidFill>
                  <a:srgbClr val="0F172A"/>
                </a:solidFill>
                <a:latin typeface="Calibri"/>
              </a:rPr>
              <a:t>Step 3 — Review</a:t>
            </a:r>
            <a:r>
              <a:rPr sz="1500">
                <a:solidFill>
                  <a:srgbClr val="0F172A"/>
                </a:solidFill>
                <a:latin typeface="Calibri"/>
              </a:rPr>
              <a:t>  Read the diff. Push back on anything that doesn't feel right.</a:t>
            </a:r>
          </a:p>
          <a:p>
            <a:pPr algn="l" indent="-228600" marL="228600">
              <a:spcAft>
                <a:spcPts val="1100"/>
              </a:spcAft>
              <a:buChar char="•"/>
            </a:pPr>
            <a:r>
              <a:rPr sz="1500" b="1">
                <a:solidFill>
                  <a:srgbClr val="0F172A"/>
                </a:solidFill>
                <a:latin typeface="Calibri"/>
              </a:rPr>
              <a:t>Step 4 — Test</a:t>
            </a:r>
            <a:r>
              <a:rPr sz="1500">
                <a:solidFill>
                  <a:srgbClr val="0F172A"/>
                </a:solidFill>
                <a:latin typeface="Calibri"/>
              </a:rPr>
              <a:t>  curl + Inspector + Claude Desktop. Confirm end-to-end.</a:t>
            </a:r>
          </a:p>
          <a:p>
            <a:pPr algn="l" indent="-228600" marL="228600">
              <a:spcAft>
                <a:spcPts val="1100"/>
              </a:spcAft>
              <a:buChar char="•"/>
            </a:pPr>
            <a:r>
              <a:rPr sz="1500" b="1">
                <a:solidFill>
                  <a:srgbClr val="0F172A"/>
                </a:solidFill>
                <a:latin typeface="Calibri"/>
              </a:rPr>
              <a:t>Caveat</a:t>
            </a:r>
            <a:r>
              <a:rPr sz="1500">
                <a:solidFill>
                  <a:srgbClr val="0F172A"/>
                </a:solidFill>
                <a:latin typeface="Calibri"/>
              </a:rPr>
              <a:t>  Vibe coding is a skill, not magic. The better your context, the better the output.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Hour 3 — what we covered</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600">
                <a:solidFill>
                  <a:srgbClr val="0F172A"/>
                </a:solidFill>
                <a:latin typeface="Calibri"/>
              </a:rPr>
              <a:t>MCP collapses N×M integrations to N+M. One protocol, many clients.</a:t>
            </a:r>
          </a:p>
          <a:p>
            <a:pPr algn="l" indent="-228600" marL="228600">
              <a:spcAft>
                <a:spcPts val="1000"/>
              </a:spcAft>
              <a:buChar char="•"/>
            </a:pPr>
            <a:r>
              <a:rPr sz="1600">
                <a:solidFill>
                  <a:srgbClr val="0F172A"/>
                </a:solidFill>
                <a:latin typeface="Calibri"/>
              </a:rPr>
              <a:t>All five primitives: tools, resources, prompts, sampling, elicitation.</a:t>
            </a:r>
          </a:p>
          <a:p>
            <a:pPr algn="l" indent="-228600" marL="228600">
              <a:spcAft>
                <a:spcPts val="1000"/>
              </a:spcAft>
              <a:buChar char="•"/>
            </a:pPr>
            <a:r>
              <a:rPr sz="1600">
                <a:solidFill>
                  <a:srgbClr val="0F172A"/>
                </a:solidFill>
                <a:latin typeface="Calibri"/>
              </a:rPr>
              <a:t>Sampling lets the SERVER ask the LLM; elicitation lets the SERVER ask the USER.</a:t>
            </a:r>
          </a:p>
          <a:p>
            <a:pPr algn="l" indent="-228600" marL="228600">
              <a:spcAft>
                <a:spcPts val="1000"/>
              </a:spcAft>
              <a:buChar char="•"/>
            </a:pPr>
            <a:r>
              <a:rPr sz="1600">
                <a:solidFill>
                  <a:srgbClr val="0F172A"/>
                </a:solidFill>
                <a:latin typeface="Calibri"/>
              </a:rPr>
              <a:t>RAG in 6 steps; ChromaDB locally, Azure AI Search in production.</a:t>
            </a:r>
          </a:p>
          <a:p>
            <a:pPr algn="l" indent="-228600" marL="228600">
              <a:spcAft>
                <a:spcPts val="1000"/>
              </a:spcAft>
              <a:buChar char="•"/>
            </a:pPr>
            <a:r>
              <a:rPr sz="1600">
                <a:solidFill>
                  <a:srgbClr val="0F172A"/>
                </a:solidFill>
                <a:latin typeface="Calibri"/>
              </a:rPr>
              <a:t>MCP Inspector is the dev loop; Claude Desktop is the integration target.</a:t>
            </a:r>
          </a:p>
          <a:p>
            <a:pPr algn="l" indent="-228600" marL="228600">
              <a:spcAft>
                <a:spcPts val="1000"/>
              </a:spcAft>
              <a:buChar char="•"/>
            </a:pPr>
            <a:r>
              <a:rPr sz="1600">
                <a:solidFill>
                  <a:srgbClr val="0F172A"/>
                </a:solidFill>
                <a:latin typeface="Calibri"/>
              </a:rPr>
              <a:t>Vibe coding works when context is good — sloppy prompts produce sloppy code.</a:t>
            </a:r>
          </a:p>
          <a:p>
            <a:pPr algn="l" indent="-228600" marL="228600">
              <a:spcAft>
                <a:spcPts val="1000"/>
              </a:spcAft>
              <a:buChar char="•"/>
            </a:pPr>
            <a:r>
              <a:rPr sz="1600">
                <a:solidFill>
                  <a:srgbClr val="0F172A"/>
                </a:solidFill>
                <a:latin typeface="Calibri"/>
              </a:rPr>
              <a:t>Next up: putting all of this on Azure with guardrails, gateways, and observability.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B3F"/>
        </a:solidFill>
        <a:effectLst/>
      </p:bgPr>
    </p:bg>
    <p:spTree>
      <p:nvGrpSpPr>
        <p:cNvPr id="1" name=""/>
        <p:cNvGrpSpPr/>
        <p:nvPr/>
      </p:nvGrpSpPr>
      <p:grpSpPr/>
      <p:sp>
        <p:nvSpPr>
          <p:cNvPr id="2" name="Rectangle 1"/>
          <p:cNvSpPr/>
          <p:nvPr/>
        </p:nvSpPr>
        <p:spPr>
          <a:xfrm>
            <a:off x="0" y="0"/>
            <a:ext cx="2377440" cy="685800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194560" y="0"/>
            <a:ext cx="1828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0"/>
            <a:ext cx="1828800" cy="1828800"/>
          </a:xfrm>
          <a:prstGeom prst="rect">
            <a:avLst/>
          </a:prstGeom>
          <a:noFill/>
        </p:spPr>
        <p:txBody>
          <a:bodyPr wrap="square" lIns="0" rIns="0" tIns="0" bIns="0" anchor="ctr">
            <a:spAutoFit/>
          </a:bodyPr>
          <a:lstStyle/>
          <a:p>
            <a:pPr algn="ctr"/>
            <a:r>
              <a:rPr sz="13000" b="1" i="0">
                <a:solidFill>
                  <a:srgbClr val="FFB703"/>
                </a:solidFill>
                <a:latin typeface="Calibri"/>
              </a:rPr>
              <a:t>04</a:t>
            </a:r>
          </a:p>
        </p:txBody>
      </p:sp>
      <p:sp>
        <p:nvSpPr>
          <p:cNvPr id="5" name="TextBox 4"/>
          <p:cNvSpPr txBox="1"/>
          <p:nvPr/>
        </p:nvSpPr>
        <p:spPr>
          <a:xfrm>
            <a:off x="2651760" y="2468880"/>
            <a:ext cx="9144000" cy="1463040"/>
          </a:xfrm>
          <a:prstGeom prst="rect">
            <a:avLst/>
          </a:prstGeom>
          <a:noFill/>
        </p:spPr>
        <p:txBody>
          <a:bodyPr wrap="square" lIns="0" rIns="0" tIns="0" bIns="0" anchor="t">
            <a:spAutoFit/>
          </a:bodyPr>
          <a:lstStyle/>
          <a:p>
            <a:pPr algn="l"/>
            <a:r>
              <a:rPr sz="4800" b="1" i="0">
                <a:solidFill>
                  <a:srgbClr val="FFFFFF"/>
                </a:solidFill>
                <a:latin typeface="Calibri"/>
              </a:rPr>
              <a:t>Production on Azure</a:t>
            </a:r>
          </a:p>
        </p:txBody>
      </p:sp>
      <p:sp>
        <p:nvSpPr>
          <p:cNvPr id="6" name="TextBox 5"/>
          <p:cNvSpPr txBox="1"/>
          <p:nvPr/>
        </p:nvSpPr>
        <p:spPr>
          <a:xfrm>
            <a:off x="2651760" y="3931920"/>
            <a:ext cx="9144000" cy="914400"/>
          </a:xfrm>
          <a:prstGeom prst="rect">
            <a:avLst/>
          </a:prstGeom>
          <a:noFill/>
        </p:spPr>
        <p:txBody>
          <a:bodyPr wrap="square" lIns="0" rIns="0" tIns="0" bIns="0" anchor="t">
            <a:spAutoFit/>
          </a:bodyPr>
          <a:lstStyle/>
          <a:p>
            <a:pPr algn="l"/>
            <a:r>
              <a:rPr sz="2000" b="0" i="1">
                <a:solidFill>
                  <a:srgbClr val="00B4D8"/>
                </a:solidFill>
                <a:latin typeface="Calibri"/>
              </a:rPr>
              <a:t>Foundry Agent Service · APIM AI Gateway · Container Apps · Guardrails.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Microsoft Foundry Agent Service — the managed runtime</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F172A"/>
                </a:solidFill>
                <a:latin typeface="Calibri"/>
              </a:rPr>
              <a:t>What it is</a:t>
            </a:r>
            <a:r>
              <a:rPr sz="1400">
                <a:solidFill>
                  <a:srgbClr val="0F172A"/>
                </a:solidFill>
                <a:latin typeface="Calibri"/>
              </a:rPr>
              <a:t>  Managed Azure runtime for prompt agents and hosted (containerized) agents.</a:t>
            </a:r>
          </a:p>
          <a:p>
            <a:pPr algn="l" indent="-228600" marL="228600">
              <a:spcAft>
                <a:spcPts val="1000"/>
              </a:spcAft>
              <a:buChar char="•"/>
            </a:pPr>
            <a:r>
              <a:rPr sz="1400" b="1">
                <a:solidFill>
                  <a:srgbClr val="0F172A"/>
                </a:solidFill>
                <a:latin typeface="Calibri"/>
              </a:rPr>
              <a:t>What it gives you</a:t>
            </a:r>
            <a:r>
              <a:rPr sz="1400">
                <a:solidFill>
                  <a:srgbClr val="0F172A"/>
                </a:solidFill>
                <a:latin typeface="Calibri"/>
              </a:rPr>
              <a:t>  Models, tools, memory, code interpreter, MCP server connections, observability.</a:t>
            </a:r>
          </a:p>
          <a:p>
            <a:pPr algn="l" indent="-228600" marL="228600">
              <a:spcAft>
                <a:spcPts val="1000"/>
              </a:spcAft>
              <a:buChar char="•"/>
            </a:pPr>
            <a:r>
              <a:rPr sz="1400" b="1">
                <a:solidFill>
                  <a:srgbClr val="0F172A"/>
                </a:solidFill>
                <a:latin typeface="Calibri"/>
              </a:rPr>
              <a:t>Identity &amp; security</a:t>
            </a:r>
            <a:r>
              <a:rPr sz="1400">
                <a:solidFill>
                  <a:srgbClr val="0F172A"/>
                </a:solidFill>
                <a:latin typeface="Calibri"/>
              </a:rPr>
              <a:t>  Each agent gets a Microsoft Entra identity; OBO auth to downstream MCP servers.</a:t>
            </a:r>
          </a:p>
          <a:p>
            <a:pPr algn="l" indent="-228600" marL="228600">
              <a:spcAft>
                <a:spcPts val="1000"/>
              </a:spcAft>
              <a:buChar char="•"/>
            </a:pPr>
            <a:r>
              <a:rPr sz="1400" b="1">
                <a:solidFill>
                  <a:srgbClr val="0F172A"/>
                </a:solidFill>
                <a:latin typeface="Calibri"/>
              </a:rPr>
              <a:t>Networking</a:t>
            </a:r>
            <a:r>
              <a:rPr sz="1400">
                <a:solidFill>
                  <a:srgbClr val="0F172A"/>
                </a:solidFill>
                <a:latin typeface="Calibri"/>
              </a:rPr>
              <a:t>  Bring-your-own VNet — agents run in a delegated subnet behind private endpoints.</a:t>
            </a:r>
          </a:p>
          <a:p>
            <a:pPr algn="l" indent="-228600" marL="228600">
              <a:spcAft>
                <a:spcPts val="1000"/>
              </a:spcAft>
              <a:buChar char="•"/>
            </a:pPr>
            <a:r>
              <a:rPr sz="1400" b="1">
                <a:solidFill>
                  <a:srgbClr val="0F172A"/>
                </a:solidFill>
                <a:latin typeface="Calibri"/>
              </a:rPr>
              <a:t>Lifecycle</a:t>
            </a:r>
            <a:r>
              <a:rPr sz="1400">
                <a:solidFill>
                  <a:srgbClr val="0F172A"/>
                </a:solidFill>
                <a:latin typeface="Calibri"/>
              </a:rPr>
              <a:t>  Build → test in playground → trace → evaluate → publish → monitor.</a:t>
            </a:r>
          </a:p>
        </p:txBody>
      </p:sp>
      <p:sp>
        <p:nvSpPr>
          <p:cNvPr id="8" name="Rectangle 7"/>
          <p:cNvSpPr/>
          <p:nvPr/>
        </p:nvSpPr>
        <p:spPr>
          <a:xfrm>
            <a:off x="7680960" y="1417320"/>
            <a:ext cx="4023360" cy="4572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07122C"/>
                </a:solidFill>
                <a:latin typeface="Calibri"/>
              </a:rPr>
              <a:t>Why this matters</a:t>
            </a:r>
          </a:p>
        </p:txBody>
      </p:sp>
      <p:sp>
        <p:nvSpPr>
          <p:cNvPr id="10" name="TextBox 9"/>
          <p:cNvSpPr txBox="1"/>
          <p:nvPr/>
        </p:nvSpPr>
        <p:spPr>
          <a:xfrm>
            <a:off x="7909560" y="2286000"/>
            <a:ext cx="3657600" cy="3657600"/>
          </a:xfrm>
          <a:prstGeom prst="rect">
            <a:avLst/>
          </a:prstGeom>
          <a:noFill/>
        </p:spPr>
        <p:txBody>
          <a:bodyPr wrap="square" lIns="0" rIns="0" tIns="0" bIns="0" anchor="t">
            <a:spAutoFit/>
          </a:bodyPr>
          <a:lstStyle/>
          <a:p>
            <a:pPr algn="l"/>
            <a:r>
              <a:rPr sz="1300" b="0" i="0">
                <a:solidFill>
                  <a:srgbClr val="07122C"/>
                </a:solidFill>
                <a:latin typeface="Calibri"/>
              </a:rPr>
              <a:t>You stop writing agent runtime plumbing and start writing agent behavior.
Foundry handles tool catalog, identity, content safety, and tracing.
You bring the persona, the data, and the policies.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Production architecture — five lanes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Edge</a:t>
            </a:r>
          </a:p>
        </p:txBody>
      </p:sp>
      <p:sp>
        <p:nvSpPr>
          <p:cNvPr id="9" name="Rectangle 8"/>
          <p:cNvSpPr/>
          <p:nvPr/>
        </p:nvSpPr>
        <p:spPr>
          <a:xfrm>
            <a:off x="2926080" y="14173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600200"/>
            <a:ext cx="8595360" cy="548640"/>
          </a:xfrm>
          <a:prstGeom prst="rect">
            <a:avLst/>
          </a:prstGeom>
          <a:noFill/>
        </p:spPr>
        <p:txBody>
          <a:bodyPr wrap="square" lIns="0" rIns="0" tIns="0" bIns="0" anchor="ctr">
            <a:spAutoFit/>
          </a:bodyPr>
          <a:lstStyle/>
          <a:p>
            <a:pPr algn="l"/>
            <a:r>
              <a:rPr sz="1400" b="0" i="0">
                <a:solidFill>
                  <a:srgbClr val="0F172A"/>
                </a:solidFill>
                <a:latin typeface="Calibri"/>
              </a:rPr>
              <a:t>Web UI · file watcher · Teams / M365 channels</a:t>
            </a:r>
          </a:p>
        </p:txBody>
      </p:sp>
      <p:sp>
        <p:nvSpPr>
          <p:cNvPr id="11" name="Rectangle 10"/>
          <p:cNvSpPr/>
          <p:nvPr/>
        </p:nvSpPr>
        <p:spPr>
          <a:xfrm>
            <a:off x="548640" y="23317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146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Gateway</a:t>
            </a:r>
          </a:p>
        </p:txBody>
      </p:sp>
      <p:sp>
        <p:nvSpPr>
          <p:cNvPr id="13" name="Rectangle 12"/>
          <p:cNvSpPr/>
          <p:nvPr/>
        </p:nvSpPr>
        <p:spPr>
          <a:xfrm>
            <a:off x="2926080" y="23317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5146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API Management — AI gateway policies</a:t>
            </a:r>
          </a:p>
        </p:txBody>
      </p:sp>
      <p:sp>
        <p:nvSpPr>
          <p:cNvPr id="15" name="Rectangle 14"/>
          <p:cNvSpPr/>
          <p:nvPr/>
        </p:nvSpPr>
        <p:spPr>
          <a:xfrm>
            <a:off x="548640" y="32461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4290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Compute</a:t>
            </a:r>
          </a:p>
        </p:txBody>
      </p:sp>
      <p:sp>
        <p:nvSpPr>
          <p:cNvPr id="17" name="Rectangle 16"/>
          <p:cNvSpPr/>
          <p:nvPr/>
        </p:nvSpPr>
        <p:spPr>
          <a:xfrm>
            <a:off x="2926080" y="32461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8960" y="34290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Azure Container Apps · Foundry Agent Service</a:t>
            </a:r>
          </a:p>
        </p:txBody>
      </p:sp>
      <p:sp>
        <p:nvSpPr>
          <p:cNvPr id="19" name="Rectangle 18"/>
          <p:cNvSpPr/>
          <p:nvPr/>
        </p:nvSpPr>
        <p:spPr>
          <a:xfrm>
            <a:off x="548640" y="4160520"/>
            <a:ext cx="2286000"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3434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Data</a:t>
            </a:r>
          </a:p>
        </p:txBody>
      </p:sp>
      <p:sp>
        <p:nvSpPr>
          <p:cNvPr id="21" name="Rectangle 20"/>
          <p:cNvSpPr/>
          <p:nvPr/>
        </p:nvSpPr>
        <p:spPr>
          <a:xfrm>
            <a:off x="2926080" y="41605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4343400"/>
            <a:ext cx="8595360" cy="548640"/>
          </a:xfrm>
          <a:prstGeom prst="rect">
            <a:avLst/>
          </a:prstGeom>
          <a:noFill/>
        </p:spPr>
        <p:txBody>
          <a:bodyPr wrap="square" lIns="0" rIns="0" tIns="0" bIns="0" anchor="ctr">
            <a:spAutoFit/>
          </a:bodyPr>
          <a:lstStyle/>
          <a:p>
            <a:pPr algn="l"/>
            <a:r>
              <a:rPr sz="1400" b="0" i="0">
                <a:solidFill>
                  <a:srgbClr val="0F172A"/>
                </a:solidFill>
                <a:latin typeface="Calibri"/>
              </a:rPr>
              <a:t>Cosmos DB (state) · Azure AI Search (vectors) · Key Vault</a:t>
            </a:r>
          </a:p>
        </p:txBody>
      </p:sp>
      <p:sp>
        <p:nvSpPr>
          <p:cNvPr id="23" name="Rectangle 22"/>
          <p:cNvSpPr/>
          <p:nvPr/>
        </p:nvSpPr>
        <p:spPr>
          <a:xfrm>
            <a:off x="548640" y="5074920"/>
            <a:ext cx="2286000" cy="8686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257800"/>
            <a:ext cx="2286000" cy="548640"/>
          </a:xfrm>
          <a:prstGeom prst="rect">
            <a:avLst/>
          </a:prstGeom>
          <a:noFill/>
        </p:spPr>
        <p:txBody>
          <a:bodyPr wrap="square" lIns="0" rIns="0" tIns="0" bIns="0" anchor="ctr">
            <a:spAutoFit/>
          </a:bodyPr>
          <a:lstStyle/>
          <a:p>
            <a:pPr algn="ctr"/>
            <a:r>
              <a:rPr sz="1800" b="1" i="0">
                <a:solidFill>
                  <a:srgbClr val="07122C"/>
                </a:solidFill>
                <a:latin typeface="Calibri"/>
              </a:rPr>
              <a:t>Observability</a:t>
            </a:r>
          </a:p>
        </p:txBody>
      </p:sp>
      <p:sp>
        <p:nvSpPr>
          <p:cNvPr id="25" name="Rectangle 24"/>
          <p:cNvSpPr/>
          <p:nvPr/>
        </p:nvSpPr>
        <p:spPr>
          <a:xfrm>
            <a:off x="2926080" y="5074920"/>
            <a:ext cx="8778240" cy="86868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0" y="5257800"/>
            <a:ext cx="8595360" cy="548640"/>
          </a:xfrm>
          <a:prstGeom prst="rect">
            <a:avLst/>
          </a:prstGeom>
          <a:noFill/>
        </p:spPr>
        <p:txBody>
          <a:bodyPr wrap="square" lIns="0" rIns="0" tIns="0" bIns="0" anchor="ctr">
            <a:spAutoFit/>
          </a:bodyPr>
          <a:lstStyle/>
          <a:p>
            <a:pPr algn="l"/>
            <a:r>
              <a:rPr sz="1400" b="0" i="0">
                <a:solidFill>
                  <a:srgbClr val="0F172A"/>
                </a:solidFill>
                <a:latin typeface="Calibri"/>
              </a:rPr>
              <a:t>Application Insights · Foundry tracing · evaluations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Azure Container Apps for agents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500" b="1">
                <a:solidFill>
                  <a:srgbClr val="0F172A"/>
                </a:solidFill>
                <a:latin typeface="Calibri"/>
              </a:rPr>
              <a:t>Serverless containers</a:t>
            </a:r>
            <a:r>
              <a:rPr sz="1500">
                <a:solidFill>
                  <a:srgbClr val="0F172A"/>
                </a:solidFill>
                <a:latin typeface="Calibri"/>
              </a:rPr>
              <a:t>  Scale to zero between requests; pay only for active replicas.</a:t>
            </a:r>
          </a:p>
          <a:p>
            <a:pPr algn="l" indent="-228600" marL="228600">
              <a:spcAft>
                <a:spcPts val="1000"/>
              </a:spcAft>
              <a:buChar char="•"/>
            </a:pPr>
            <a:r>
              <a:rPr sz="1500" b="1">
                <a:solidFill>
                  <a:srgbClr val="0F172A"/>
                </a:solidFill>
                <a:latin typeface="Calibri"/>
              </a:rPr>
              <a:t>GPU profiles (preview)</a:t>
            </a:r>
            <a:r>
              <a:rPr sz="1500">
                <a:solidFill>
                  <a:srgbClr val="0F172A"/>
                </a:solidFill>
                <a:latin typeface="Calibri"/>
              </a:rPr>
              <a:t>  Serverless GPU for inference workloads · dedicated GPU for low-latency.</a:t>
            </a:r>
          </a:p>
          <a:p>
            <a:pPr algn="l" indent="-228600" marL="228600">
              <a:spcAft>
                <a:spcPts val="1000"/>
              </a:spcAft>
              <a:buChar char="•"/>
            </a:pPr>
            <a:r>
              <a:rPr sz="1500" b="1">
                <a:solidFill>
                  <a:srgbClr val="0F172A"/>
                </a:solidFill>
                <a:latin typeface="Calibri"/>
              </a:rPr>
              <a:t>Dynamic sessions</a:t>
            </a:r>
            <a:r>
              <a:rPr sz="1500">
                <a:solidFill>
                  <a:srgbClr val="0F172A"/>
                </a:solidFill>
                <a:latin typeface="Calibri"/>
              </a:rPr>
              <a:t>  Hyper-V isolated sandbox per request — perfect for AI-generated code execution.</a:t>
            </a:r>
          </a:p>
          <a:p>
            <a:pPr algn="l" indent="-228600" marL="228600">
              <a:spcAft>
                <a:spcPts val="1000"/>
              </a:spcAft>
              <a:buChar char="•"/>
            </a:pPr>
            <a:r>
              <a:rPr sz="1500" b="1">
                <a:solidFill>
                  <a:srgbClr val="0F172A"/>
                </a:solidFill>
                <a:latin typeface="Calibri"/>
              </a:rPr>
              <a:t>Managed identities</a:t>
            </a:r>
            <a:r>
              <a:rPr sz="1500">
                <a:solidFill>
                  <a:srgbClr val="0F172A"/>
                </a:solidFill>
                <a:latin typeface="Calibri"/>
              </a:rPr>
              <a:t>  No keys baked into containers; agents authenticate to Foundry via Entra.</a:t>
            </a:r>
          </a:p>
          <a:p>
            <a:pPr algn="l" indent="-228600" marL="228600">
              <a:spcAft>
                <a:spcPts val="1000"/>
              </a:spcAft>
              <a:buChar char="•"/>
            </a:pPr>
            <a:r>
              <a:rPr sz="1500" b="1">
                <a:solidFill>
                  <a:srgbClr val="0F172A"/>
                </a:solidFill>
                <a:latin typeface="Calibri"/>
              </a:rPr>
              <a:t>Network isolation</a:t>
            </a:r>
            <a:r>
              <a:rPr sz="1500">
                <a:solidFill>
                  <a:srgbClr val="0F172A"/>
                </a:solidFill>
                <a:latin typeface="Calibri"/>
              </a:rPr>
              <a:t>  VNet integration · internal-only ingress · private endpoints to Foundry.</a:t>
            </a:r>
          </a:p>
          <a:p>
            <a:pPr algn="l" indent="-228600" marL="228600">
              <a:spcAft>
                <a:spcPts val="1000"/>
              </a:spcAft>
              <a:buChar char="•"/>
            </a:pPr>
            <a:r>
              <a:rPr sz="1500" b="1">
                <a:solidFill>
                  <a:srgbClr val="0F172A"/>
                </a:solidFill>
                <a:latin typeface="Calibri"/>
              </a:rPr>
              <a:t>Reference samples</a:t>
            </a:r>
            <a:r>
              <a:rPr sz="1500">
                <a:solidFill>
                  <a:srgbClr val="0F172A"/>
                </a:solidFill>
                <a:latin typeface="Calibri"/>
              </a:rPr>
              <a:t>  Azure-Samples/azure-container-apps-ai-mcp · openai-mcp-agent-dotnet · mcp-container-ts.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Azure API Management as the AI gateway</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6766560" cy="4572000"/>
          </a:xfrm>
          <a:prstGeom prst="rect">
            <a:avLst/>
          </a:prstGeom>
          <a:noFill/>
        </p:spPr>
        <p:txBody>
          <a:bodyPr wrap="square" lIns="0" rIns="0" tIns="0" bIns="0">
            <a:spAutoFit/>
          </a:bodyPr>
          <a:lstStyle/>
          <a:p>
            <a:pPr algn="l" indent="-228600" marL="228600">
              <a:spcAft>
                <a:spcPts val="1000"/>
              </a:spcAft>
              <a:buChar char="•"/>
            </a:pPr>
            <a:r>
              <a:rPr sz="1400" b="1">
                <a:solidFill>
                  <a:srgbClr val="0F172A"/>
                </a:solidFill>
                <a:latin typeface="Calibri"/>
              </a:rPr>
              <a:t>Token rate limiting</a:t>
            </a:r>
            <a:r>
              <a:rPr sz="1400">
                <a:solidFill>
                  <a:srgbClr val="0F172A"/>
                </a:solidFill>
                <a:latin typeface="Calibri"/>
              </a:rPr>
              <a:t>  llm-token-limit policy — TPM cap per subscription / IP / custom key.</a:t>
            </a:r>
          </a:p>
          <a:p>
            <a:pPr algn="l" indent="-228600" marL="228600">
              <a:spcAft>
                <a:spcPts val="1000"/>
              </a:spcAft>
              <a:buChar char="•"/>
            </a:pPr>
            <a:r>
              <a:rPr sz="1400" b="1">
                <a:solidFill>
                  <a:srgbClr val="0F172A"/>
                </a:solidFill>
                <a:latin typeface="Calibri"/>
              </a:rPr>
              <a:t>Quota enforcement</a:t>
            </a:r>
            <a:r>
              <a:rPr sz="1400">
                <a:solidFill>
                  <a:srgbClr val="0F172A"/>
                </a:solidFill>
                <a:latin typeface="Calibri"/>
              </a:rPr>
              <a:t>  llm-token-quota — daily / weekly / monthly limits per consumer.</a:t>
            </a:r>
          </a:p>
          <a:p>
            <a:pPr algn="l" indent="-228600" marL="228600">
              <a:spcAft>
                <a:spcPts val="1000"/>
              </a:spcAft>
              <a:buChar char="•"/>
            </a:pPr>
            <a:r>
              <a:rPr sz="1400" b="1">
                <a:solidFill>
                  <a:srgbClr val="0F172A"/>
                </a:solidFill>
                <a:latin typeface="Calibri"/>
              </a:rPr>
              <a:t>Semantic cache</a:t>
            </a:r>
            <a:r>
              <a:rPr sz="1400">
                <a:solidFill>
                  <a:srgbClr val="0F172A"/>
                </a:solidFill>
                <a:latin typeface="Calibri"/>
              </a:rPr>
              <a:t>  llm-semantic-cache-store — embed-then-cache; reuse near-duplicate prompts.</a:t>
            </a:r>
          </a:p>
          <a:p>
            <a:pPr algn="l" indent="-228600" marL="228600">
              <a:spcAft>
                <a:spcPts val="1000"/>
              </a:spcAft>
              <a:buChar char="•"/>
            </a:pPr>
            <a:r>
              <a:rPr sz="1400" b="1">
                <a:solidFill>
                  <a:srgbClr val="0F172A"/>
                </a:solidFill>
                <a:latin typeface="Calibri"/>
              </a:rPr>
              <a:t>Content safety</a:t>
            </a:r>
            <a:r>
              <a:rPr sz="1400">
                <a:solidFill>
                  <a:srgbClr val="0F172A"/>
                </a:solidFill>
                <a:latin typeface="Calibri"/>
              </a:rPr>
              <a:t>  llm-content-safety policy → calls Azure AI Content Safety on inbound + outbound.</a:t>
            </a:r>
          </a:p>
          <a:p>
            <a:pPr algn="l" indent="-228600" marL="228600">
              <a:spcAft>
                <a:spcPts val="1000"/>
              </a:spcAft>
              <a:buChar char="•"/>
            </a:pPr>
            <a:r>
              <a:rPr sz="1400" b="1">
                <a:solidFill>
                  <a:srgbClr val="0F172A"/>
                </a:solidFill>
                <a:latin typeface="Calibri"/>
              </a:rPr>
              <a:t>Token telemetry</a:t>
            </a:r>
            <a:r>
              <a:rPr sz="1400">
                <a:solidFill>
                  <a:srgbClr val="0F172A"/>
                </a:solidFill>
                <a:latin typeface="Calibri"/>
              </a:rPr>
              <a:t>  llm-emit-token-metric → Application Insights with custom dimensions.</a:t>
            </a:r>
          </a:p>
          <a:p>
            <a:pPr algn="l" indent="-228600" marL="228600">
              <a:spcAft>
                <a:spcPts val="1000"/>
              </a:spcAft>
              <a:buChar char="•"/>
            </a:pPr>
            <a:r>
              <a:rPr sz="1400" b="1">
                <a:solidFill>
                  <a:srgbClr val="0F172A"/>
                </a:solidFill>
                <a:latin typeface="Calibri"/>
              </a:rPr>
              <a:t>MCP governance</a:t>
            </a:r>
            <a:r>
              <a:rPr sz="1400">
                <a:solidFill>
                  <a:srgbClr val="0F172A"/>
                </a:solidFill>
                <a:latin typeface="Calibri"/>
              </a:rPr>
              <a:t>  Expose REST as MCP server · govern existing MCP via APIM (preview).</a:t>
            </a:r>
          </a:p>
        </p:txBody>
      </p:sp>
      <p:sp>
        <p:nvSpPr>
          <p:cNvPr id="8" name="Rectangle 7"/>
          <p:cNvSpPr/>
          <p:nvPr/>
        </p:nvSpPr>
        <p:spPr>
          <a:xfrm>
            <a:off x="7680960" y="1417320"/>
            <a:ext cx="4023360" cy="457200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1691640"/>
            <a:ext cx="3657600" cy="457200"/>
          </a:xfrm>
          <a:prstGeom prst="rect">
            <a:avLst/>
          </a:prstGeom>
          <a:noFill/>
        </p:spPr>
        <p:txBody>
          <a:bodyPr wrap="square" lIns="0" rIns="0" tIns="0" bIns="0" anchor="t">
            <a:spAutoFit/>
          </a:bodyPr>
          <a:lstStyle/>
          <a:p>
            <a:pPr algn="l"/>
            <a:r>
              <a:rPr sz="1600" b="1" i="0">
                <a:solidFill>
                  <a:srgbClr val="FFB703"/>
                </a:solidFill>
                <a:latin typeface="Calibri"/>
              </a:rPr>
              <a:t>The five gateway jobs</a:t>
            </a:r>
          </a:p>
        </p:txBody>
      </p:sp>
      <p:sp>
        <p:nvSpPr>
          <p:cNvPr id="10" name="TextBox 9"/>
          <p:cNvSpPr txBox="1"/>
          <p:nvPr/>
        </p:nvSpPr>
        <p:spPr>
          <a:xfrm>
            <a:off x="7909560" y="2331720"/>
            <a:ext cx="3657600" cy="3657600"/>
          </a:xfrm>
          <a:prstGeom prst="rect">
            <a:avLst/>
          </a:prstGeom>
          <a:noFill/>
        </p:spPr>
        <p:txBody>
          <a:bodyPr wrap="square" lIns="0" rIns="0" tIns="0" bIns="0">
            <a:spAutoFit/>
          </a:bodyPr>
          <a:lstStyle/>
          <a:p>
            <a:pPr algn="l" indent="-228600" marL="228600">
              <a:spcAft>
                <a:spcPts val="1000"/>
              </a:spcAft>
              <a:buChar char="•"/>
            </a:pPr>
            <a:r>
              <a:rPr sz="1400">
                <a:solidFill>
                  <a:srgbClr val="FFFFFF"/>
                </a:solidFill>
                <a:latin typeface="Calibri"/>
              </a:rPr>
              <a:t>1. Authenticate</a:t>
            </a:r>
          </a:p>
          <a:p>
            <a:pPr algn="l" indent="-228600" marL="228600">
              <a:spcAft>
                <a:spcPts val="1000"/>
              </a:spcAft>
              <a:buChar char="•"/>
            </a:pPr>
            <a:r>
              <a:rPr sz="1400">
                <a:solidFill>
                  <a:srgbClr val="FFFFFF"/>
                </a:solidFill>
                <a:latin typeface="Calibri"/>
              </a:rPr>
              <a:t>2. Rate-limit</a:t>
            </a:r>
          </a:p>
          <a:p>
            <a:pPr algn="l" indent="-228600" marL="228600">
              <a:spcAft>
                <a:spcPts val="1000"/>
              </a:spcAft>
              <a:buChar char="•"/>
            </a:pPr>
            <a:r>
              <a:rPr sz="1400">
                <a:solidFill>
                  <a:srgbClr val="FFFFFF"/>
                </a:solidFill>
                <a:latin typeface="Calibri"/>
              </a:rPr>
              <a:t>3. Cache</a:t>
            </a:r>
          </a:p>
          <a:p>
            <a:pPr algn="l" indent="-228600" marL="228600">
              <a:spcAft>
                <a:spcPts val="1000"/>
              </a:spcAft>
              <a:buChar char="•"/>
            </a:pPr>
            <a:r>
              <a:rPr sz="1400">
                <a:solidFill>
                  <a:srgbClr val="FFFFFF"/>
                </a:solidFill>
                <a:latin typeface="Calibri"/>
              </a:rPr>
              <a:t>4. Inspect (content safety)</a:t>
            </a:r>
          </a:p>
          <a:p>
            <a:pPr algn="l" indent="-228600" marL="228600">
              <a:spcAft>
                <a:spcPts val="1000"/>
              </a:spcAft>
              <a:buChar char="•"/>
            </a:pPr>
            <a:r>
              <a:rPr sz="1400">
                <a:solidFill>
                  <a:srgbClr val="FFFFFF"/>
                </a:solidFill>
                <a:latin typeface="Calibri"/>
              </a:rPr>
              <a:t>5. Observe (token telemetry)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APIM policy — token rate limit + token telemetry</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325880"/>
            <a:ext cx="10972800" cy="457200"/>
          </a:xfrm>
          <a:prstGeom prst="rect">
            <a:avLst/>
          </a:prstGeom>
          <a:noFill/>
        </p:spPr>
        <p:txBody>
          <a:bodyPr wrap="square" lIns="0" rIns="0" tIns="0" bIns="0" anchor="t">
            <a:spAutoFit/>
          </a:bodyPr>
          <a:lstStyle/>
          <a:p>
            <a:pPr algn="l"/>
            <a:r>
              <a:rPr sz="1500" b="0" i="1">
                <a:solidFill>
                  <a:srgbClr val="475569"/>
                </a:solidFill>
                <a:latin typeface="Calibri"/>
              </a:rPr>
              <a:t>Drop-in policy fragment: cap TPM per subscription and emit per-consumer telemetry.</a:t>
            </a:r>
          </a:p>
        </p:txBody>
      </p:sp>
      <p:sp>
        <p:nvSpPr>
          <p:cNvPr id="8" name="Rectangle 7"/>
          <p:cNvSpPr/>
          <p:nvPr/>
        </p:nvSpPr>
        <p:spPr>
          <a:xfrm>
            <a:off x="640080" y="1828800"/>
            <a:ext cx="10972800" cy="420624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828800"/>
            <a:ext cx="91440" cy="4206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65960"/>
            <a:ext cx="10607040" cy="3931920"/>
          </a:xfrm>
          <a:prstGeom prst="rect">
            <a:avLst/>
          </a:prstGeom>
          <a:noFill/>
        </p:spPr>
        <p:txBody>
          <a:bodyPr wrap="square" lIns="0" rIns="0" tIns="0" bIns="0">
            <a:spAutoFit/>
          </a:bodyPr>
          <a:lstStyle/>
          <a:p>
            <a:pPr>
              <a:spcAft>
                <a:spcPts val="0"/>
              </a:spcAft>
            </a:pPr>
            <a:r>
              <a:rPr sz="1300">
                <a:solidFill>
                  <a:srgbClr val="FFFFFF"/>
                </a:solidFill>
                <a:latin typeface="Consolas"/>
              </a:rPr>
              <a:t>&lt;policies&gt;</a:t>
            </a:r>
          </a:p>
          <a:p>
            <a:pPr>
              <a:spcAft>
                <a:spcPts val="0"/>
              </a:spcAft>
            </a:pPr>
            <a:r>
              <a:rPr sz="1300">
                <a:solidFill>
                  <a:srgbClr val="FFFFFF"/>
                </a:solidFill>
                <a:latin typeface="Consolas"/>
              </a:rPr>
              <a:t>  &lt;inbound&gt;</a:t>
            </a:r>
          </a:p>
          <a:p>
            <a:pPr>
              <a:spcAft>
                <a:spcPts val="0"/>
              </a:spcAft>
            </a:pPr>
            <a:r>
              <a:rPr sz="1300">
                <a:solidFill>
                  <a:srgbClr val="FFFFFF"/>
                </a:solidFill>
                <a:latin typeface="Consolas"/>
              </a:rPr>
              <a:t>    &lt;base /&gt;</a:t>
            </a:r>
          </a:p>
          <a:p>
            <a:pPr>
              <a:spcAft>
                <a:spcPts val="0"/>
              </a:spcAft>
            </a:pPr>
            <a:r>
              <a:rPr sz="1300">
                <a:solidFill>
                  <a:srgbClr val="FFFFFF"/>
                </a:solidFill>
                <a:latin typeface="Consolas"/>
              </a:rPr>
              <a:t>    &lt;llm-token-limit</a:t>
            </a:r>
          </a:p>
          <a:p>
            <a:pPr>
              <a:spcAft>
                <a:spcPts val="0"/>
              </a:spcAft>
            </a:pPr>
            <a:r>
              <a:rPr sz="1300">
                <a:solidFill>
                  <a:srgbClr val="FFFFFF"/>
                </a:solidFill>
                <a:latin typeface="Consolas"/>
              </a:rPr>
              <a:t>        counter-key="@(context.Subscription.Id)"</a:t>
            </a:r>
          </a:p>
          <a:p>
            <a:pPr>
              <a:spcAft>
                <a:spcPts val="0"/>
              </a:spcAft>
            </a:pPr>
            <a:r>
              <a:rPr sz="1300">
                <a:solidFill>
                  <a:srgbClr val="FFFFFF"/>
                </a:solidFill>
                <a:latin typeface="Consolas"/>
              </a:rPr>
              <a:t>        tokens-per-minute="500"</a:t>
            </a:r>
          </a:p>
          <a:p>
            <a:pPr>
              <a:spcAft>
                <a:spcPts val="0"/>
              </a:spcAft>
            </a:pPr>
            <a:r>
              <a:rPr sz="1300">
                <a:solidFill>
                  <a:srgbClr val="FFFFFF"/>
                </a:solidFill>
                <a:latin typeface="Consolas"/>
              </a:rPr>
              <a:t>        estimate-prompt-tokens="false"</a:t>
            </a:r>
          </a:p>
          <a:p>
            <a:pPr>
              <a:spcAft>
                <a:spcPts val="0"/>
              </a:spcAft>
            </a:pPr>
            <a:r>
              <a:rPr sz="1300">
                <a:solidFill>
                  <a:srgbClr val="FFFFFF"/>
                </a:solidFill>
                <a:latin typeface="Consolas"/>
              </a:rPr>
              <a:t>        remaining-tokens-variable-name="remainingTokens" /&gt;</a:t>
            </a:r>
          </a:p>
          <a:p>
            <a:pPr>
              <a:spcAft>
                <a:spcPts val="0"/>
              </a:spcAft>
            </a:pPr>
            <a:r>
              <a:rPr sz="1300">
                <a:solidFill>
                  <a:srgbClr val="FFFFFF"/>
                </a:solidFill>
                <a:latin typeface="Consolas"/>
              </a:rPr>
              <a:t>  &lt;/inbound&gt;</a:t>
            </a:r>
          </a:p>
          <a:p>
            <a:pPr>
              <a:spcAft>
                <a:spcPts val="0"/>
              </a:spcAft>
            </a:pPr>
            <a:r>
              <a:rPr sz="1300">
                <a:solidFill>
                  <a:srgbClr val="FFFFFF"/>
                </a:solidFill>
                <a:latin typeface="Consolas"/>
              </a:rPr>
              <a:t>  &lt;outbound&gt;</a:t>
            </a:r>
          </a:p>
          <a:p>
            <a:pPr>
              <a:spcAft>
                <a:spcPts val="0"/>
              </a:spcAft>
            </a:pPr>
            <a:r>
              <a:rPr sz="1300">
                <a:solidFill>
                  <a:srgbClr val="FFFFFF"/>
                </a:solidFill>
                <a:latin typeface="Consolas"/>
              </a:rPr>
              <a:t>    &lt;base /&gt;</a:t>
            </a:r>
          </a:p>
          <a:p>
            <a:pPr>
              <a:spcAft>
                <a:spcPts val="0"/>
              </a:spcAft>
            </a:pPr>
            <a:r>
              <a:rPr sz="1300">
                <a:solidFill>
                  <a:srgbClr val="FFFFFF"/>
                </a:solidFill>
                <a:latin typeface="Consolas"/>
              </a:rPr>
              <a:t>    &lt;llm-emit-token-metric namespace="llm-metrics"&gt;</a:t>
            </a:r>
          </a:p>
          <a:p>
            <a:pPr>
              <a:spcAft>
                <a:spcPts val="0"/>
              </a:spcAft>
            </a:pPr>
            <a:r>
              <a:rPr sz="1300">
                <a:solidFill>
                  <a:srgbClr val="FFFFFF"/>
                </a:solidFill>
                <a:latin typeface="Consolas"/>
              </a:rPr>
              <a:t>      &lt;dimension name="Client IP" value="@(context.Request.IpAddress)" /&gt;</a:t>
            </a:r>
          </a:p>
          <a:p>
            <a:pPr>
              <a:spcAft>
                <a:spcPts val="0"/>
              </a:spcAft>
            </a:pPr>
            <a:r>
              <a:rPr sz="1300">
                <a:solidFill>
                  <a:srgbClr val="FFFFFF"/>
                </a:solidFill>
                <a:latin typeface="Consolas"/>
              </a:rPr>
              <a:t>      &lt;dimension name="API ID" value="@(context.Api.Id)" /&gt;</a:t>
            </a:r>
          </a:p>
          <a:p>
            <a:pPr>
              <a:spcAft>
                <a:spcPts val="0"/>
              </a:spcAft>
            </a:pPr>
            <a:r>
              <a:rPr sz="1300">
                <a:solidFill>
                  <a:srgbClr val="FFFFFF"/>
                </a:solidFill>
                <a:latin typeface="Consolas"/>
              </a:rPr>
              <a:t>      &lt;dimension name="User ID"</a:t>
            </a:r>
          </a:p>
          <a:p>
            <a:pPr>
              <a:spcAft>
                <a:spcPts val="0"/>
              </a:spcAft>
            </a:pPr>
            <a:r>
              <a:rPr sz="1300">
                <a:solidFill>
                  <a:srgbClr val="FFFFFF"/>
                </a:solidFill>
                <a:latin typeface="Consolas"/>
              </a:rPr>
              <a:t>                 value="@(context.Request.Headers</a:t>
            </a:r>
          </a:p>
          <a:p>
            <a:pPr>
              <a:spcAft>
                <a:spcPts val="0"/>
              </a:spcAft>
            </a:pPr>
            <a:r>
              <a:rPr sz="1300">
                <a:solidFill>
                  <a:srgbClr val="FFFFFF"/>
                </a:solidFill>
                <a:latin typeface="Consolas"/>
              </a:rPr>
              <a:t>                                .GetValueOrDefault('x-user-id','N/A'))" /&gt;</a:t>
            </a:r>
          </a:p>
          <a:p>
            <a:pPr>
              <a:spcAft>
                <a:spcPts val="0"/>
              </a:spcAft>
            </a:pPr>
            <a:r>
              <a:rPr sz="1300">
                <a:solidFill>
                  <a:srgbClr val="FFFFFF"/>
                </a:solidFill>
                <a:latin typeface="Consolas"/>
              </a:rPr>
              <a:t>    &lt;/llm-emit-token-metric&gt;</a:t>
            </a:r>
          </a:p>
          <a:p>
            <a:pPr>
              <a:spcAft>
                <a:spcPts val="0"/>
              </a:spcAft>
            </a:pPr>
            <a:r>
              <a:rPr sz="1300">
                <a:solidFill>
                  <a:srgbClr val="FFFFFF"/>
                </a:solidFill>
                <a:latin typeface="Consolas"/>
              </a:rPr>
              <a:t>  &lt;/outbound&gt;</a:t>
            </a:r>
          </a:p>
          <a:p>
            <a:pPr>
              <a:spcAft>
                <a:spcPts val="0"/>
              </a:spcAft>
            </a:pPr>
            <a:r>
              <a:rPr sz="1300">
                <a:solidFill>
                  <a:srgbClr val="FFFFFF"/>
                </a:solidFill>
                <a:latin typeface="Consolas"/>
              </a:rPr>
              <a:t>&lt;/policies&gt;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Foundry Guardrails — controls × intervention points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325880"/>
            <a:ext cx="10972800" cy="457200"/>
          </a:xfrm>
          <a:prstGeom prst="rect">
            <a:avLst/>
          </a:prstGeom>
          <a:noFill/>
        </p:spPr>
        <p:txBody>
          <a:bodyPr wrap="square" lIns="0" rIns="0" tIns="0" bIns="0" anchor="t">
            <a:spAutoFit/>
          </a:bodyPr>
          <a:lstStyle/>
          <a:p>
            <a:pPr algn="l"/>
            <a:r>
              <a:rPr sz="1400" b="0" i="1">
                <a:solidFill>
                  <a:srgbClr val="475569"/>
                </a:solidFill>
                <a:latin typeface="Calibri"/>
              </a:rPr>
              <a:t>A guardrail is a named collection of controls. A control = risk + intervention point + action.</a:t>
            </a:r>
          </a:p>
        </p:txBody>
      </p:sp>
      <p:graphicFrame>
        <p:nvGraphicFramePr>
          <p:cNvPr id="8" name="Table 7"/>
          <p:cNvGraphicFramePr>
            <a:graphicFrameLocks noGrp="1"/>
          </p:cNvGraphicFramePr>
          <p:nvPr/>
        </p:nvGraphicFramePr>
        <p:xfrm>
          <a:off x="640080" y="1874519"/>
          <a:ext cx="10972800" cy="352044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502920">
                <a:tc>
                  <a:txBody>
                    <a:bodyPr/>
                    <a:lstStyle/>
                    <a:p>
                      <a:pPr algn="l"/>
                      <a:r>
                        <a:rPr sz="1300" b="1">
                          <a:solidFill>
                            <a:srgbClr val="FFFFFF"/>
                          </a:solidFill>
                          <a:latin typeface="Calibri"/>
                        </a:rPr>
                        <a:t>Risk</a:t>
                      </a:r>
                    </a:p>
                  </a:txBody>
                  <a:tcPr>
                    <a:solidFill>
                      <a:srgbClr val="0B1B3F"/>
                    </a:solidFill>
                  </a:tcPr>
                </a:tc>
                <a:tc>
                  <a:txBody>
                    <a:bodyPr/>
                    <a:lstStyle/>
                    <a:p>
                      <a:pPr algn="ctr"/>
                      <a:r>
                        <a:rPr sz="1300" b="1">
                          <a:solidFill>
                            <a:srgbClr val="FFFFFF"/>
                          </a:solidFill>
                          <a:latin typeface="Calibri"/>
                        </a:rPr>
                        <a:t>User input</a:t>
                      </a:r>
                    </a:p>
                  </a:txBody>
                  <a:tcPr>
                    <a:solidFill>
                      <a:srgbClr val="0B1B3F"/>
                    </a:solidFill>
                  </a:tcPr>
                </a:tc>
                <a:tc>
                  <a:txBody>
                    <a:bodyPr/>
                    <a:lstStyle/>
                    <a:p>
                      <a:pPr algn="ctr"/>
                      <a:r>
                        <a:rPr sz="1300" b="1">
                          <a:solidFill>
                            <a:srgbClr val="FFFFFF"/>
                          </a:solidFill>
                          <a:latin typeface="Calibri"/>
                        </a:rPr>
                        <a:t>Tool call</a:t>
                      </a:r>
                    </a:p>
                  </a:txBody>
                  <a:tcPr>
                    <a:solidFill>
                      <a:srgbClr val="0B1B3F"/>
                    </a:solidFill>
                  </a:tcPr>
                </a:tc>
                <a:tc>
                  <a:txBody>
                    <a:bodyPr/>
                    <a:lstStyle/>
                    <a:p>
                      <a:pPr algn="ctr"/>
                      <a:r>
                        <a:rPr sz="1300" b="1">
                          <a:solidFill>
                            <a:srgbClr val="FFFFFF"/>
                          </a:solidFill>
                          <a:latin typeface="Calibri"/>
                        </a:rPr>
                        <a:t>Tool response</a:t>
                      </a:r>
                    </a:p>
                  </a:txBody>
                  <a:tcPr>
                    <a:solidFill>
                      <a:srgbClr val="0B1B3F"/>
                    </a:solidFill>
                  </a:tcPr>
                </a:tc>
                <a:tc>
                  <a:txBody>
                    <a:bodyPr/>
                    <a:lstStyle/>
                    <a:p>
                      <a:pPr algn="ctr"/>
                      <a:r>
                        <a:rPr sz="1300" b="1">
                          <a:solidFill>
                            <a:srgbClr val="FFFFFF"/>
                          </a:solidFill>
                          <a:latin typeface="Calibri"/>
                        </a:rPr>
                        <a:t>Output</a:t>
                      </a:r>
                    </a:p>
                  </a:txBody>
                  <a:tcPr>
                    <a:solidFill>
                      <a:srgbClr val="0B1B3F"/>
                    </a:solidFill>
                  </a:tcPr>
                </a:tc>
              </a:tr>
              <a:tr h="502920">
                <a:tc>
                  <a:txBody>
                    <a:bodyPr/>
                    <a:lstStyle/>
                    <a:p>
                      <a:pPr algn="l"/>
                      <a:r>
                        <a:rPr sz="1100" b="1">
                          <a:solidFill>
                            <a:srgbClr val="0B1B3F"/>
                          </a:solidFill>
                          <a:latin typeface="Calibri"/>
                        </a:rPr>
                        <a:t>Hate / Sexual / Violence / Self-harm</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Prompt injection (user attacks)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r>
              <a:tr h="502920">
                <a:tc>
                  <a:txBody>
                    <a:bodyPr/>
                    <a:lstStyle/>
                    <a:p>
                      <a:pPr algn="l"/>
                      <a:r>
                        <a:rPr sz="1100" b="1">
                          <a:solidFill>
                            <a:srgbClr val="0B1B3F"/>
                          </a:solidFill>
                          <a:latin typeface="Calibri"/>
                        </a:rPr>
                        <a:t>Indirect prompt injection (XPIA)</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r>
              <a:tr h="502920">
                <a:tc>
                  <a:txBody>
                    <a:bodyPr/>
                    <a:lstStyle/>
                    <a:p>
                      <a:pPr algn="l"/>
                      <a:r>
                        <a:rPr sz="1100" b="1">
                          <a:solidFill>
                            <a:srgbClr val="0B1B3F"/>
                          </a:solidFill>
                          <a:latin typeface="Calibri"/>
                        </a:rPr>
                        <a:t>PII detection</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r h="502920">
                <a:tc>
                  <a:txBody>
                    <a:bodyPr/>
                    <a:lstStyle/>
                    <a:p>
                      <a:pPr algn="l"/>
                      <a:r>
                        <a:rPr sz="1100" b="1">
                          <a:solidFill>
                            <a:srgbClr val="0B1B3F"/>
                          </a:solidFill>
                          <a:latin typeface="Calibri"/>
                        </a:rPr>
                        <a:t>Protected material (text + code)</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a:solidFill>
                            <a:srgbClr val="0F172A"/>
                          </a:solidFill>
                          <a:latin typeface="Calibri"/>
                        </a:rPr>
                        <a:t>—</a:t>
                      </a:r>
                    </a:p>
                  </a:txBody>
                  <a:tcPr>
                    <a:solidFill>
                      <a:srgbClr val="F8FAFC"/>
                    </a:solidFill>
                  </a:tcPr>
                </a:tc>
                <a:tc>
                  <a:txBody>
                    <a:bodyPr/>
                    <a:lstStyle/>
                    <a:p>
                      <a:pPr algn="ctr"/>
                      <a:r>
                        <a:rPr sz="1100" b="1">
                          <a:solidFill>
                            <a:srgbClr val="0B1B3F"/>
                          </a:solidFill>
                          <a:latin typeface="Calibri"/>
                        </a:rPr>
                        <a:t>yes</a:t>
                      </a:r>
                    </a:p>
                  </a:txBody>
                  <a:tcPr>
                    <a:solidFill>
                      <a:srgbClr val="F8FAFC"/>
                    </a:solidFill>
                  </a:tcPr>
                </a:tc>
              </a:tr>
              <a:tr h="502920">
                <a:tc>
                  <a:txBody>
                    <a:bodyPr/>
                    <a:lstStyle/>
                    <a:p>
                      <a:pPr algn="l"/>
                      <a:r>
                        <a:rPr sz="1100" b="1">
                          <a:solidFill>
                            <a:srgbClr val="0B1B3F"/>
                          </a:solidFill>
                          <a:latin typeface="Calibri"/>
                        </a:rPr>
                        <a:t>Task adherence</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a:solidFill>
                            <a:srgbClr val="0F172A"/>
                          </a:solidFill>
                          <a:latin typeface="Calibri"/>
                        </a:rPr>
                        <a:t>—</a:t>
                      </a:r>
                    </a:p>
                  </a:txBody>
                  <a:tcPr>
                    <a:solidFill>
                      <a:srgbClr val="EEF2F7"/>
                    </a:solidFill>
                  </a:tcPr>
                </a:tc>
                <a:tc>
                  <a:txBody>
                    <a:bodyPr/>
                    <a:lstStyle/>
                    <a:p>
                      <a:pPr algn="ctr"/>
                      <a:r>
                        <a:rPr sz="1100" b="1">
                          <a:solidFill>
                            <a:srgbClr val="0B1B3F"/>
                          </a:solidFill>
                          <a:latin typeface="Calibri"/>
                        </a:rPr>
                        <a:t>yes</a:t>
                      </a:r>
                    </a:p>
                  </a:txBody>
                  <a:tcPr>
                    <a:solidFill>
                      <a:srgbClr val="EEF2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Observability triad — plus a fourth pillar for agents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Logs</a:t>
            </a:r>
          </a:p>
        </p:txBody>
      </p:sp>
      <p:sp>
        <p:nvSpPr>
          <p:cNvPr id="10" name="TextBox 9"/>
          <p:cNvSpPr txBox="1"/>
          <p:nvPr/>
        </p:nvSpPr>
        <p:spPr>
          <a:xfrm>
            <a:off x="82296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Structured JSON to Application Insights. One log line per node entry / exit. Include thread_id.</a:t>
            </a:r>
          </a:p>
        </p:txBody>
      </p:sp>
      <p:sp>
        <p:nvSpPr>
          <p:cNvPr id="11" name="Rectangle 10"/>
          <p:cNvSpPr/>
          <p:nvPr/>
        </p:nvSpPr>
        <p:spPr>
          <a:xfrm>
            <a:off x="6172200" y="141732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41732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600200"/>
            <a:ext cx="5074920" cy="502920"/>
          </a:xfrm>
          <a:prstGeom prst="rect">
            <a:avLst/>
          </a:prstGeom>
          <a:noFill/>
        </p:spPr>
        <p:txBody>
          <a:bodyPr wrap="square" lIns="0" rIns="0" tIns="0" bIns="0" anchor="t">
            <a:spAutoFit/>
          </a:bodyPr>
          <a:lstStyle/>
          <a:p>
            <a:pPr algn="l"/>
            <a:r>
              <a:rPr sz="1800" b="1" i="0">
                <a:solidFill>
                  <a:srgbClr val="0B1B3F"/>
                </a:solidFill>
                <a:latin typeface="Calibri"/>
              </a:rPr>
              <a:t>Metrics</a:t>
            </a:r>
          </a:p>
        </p:txBody>
      </p:sp>
      <p:sp>
        <p:nvSpPr>
          <p:cNvPr id="14" name="TextBox 13"/>
          <p:cNvSpPr txBox="1"/>
          <p:nvPr/>
        </p:nvSpPr>
        <p:spPr>
          <a:xfrm>
            <a:off x="6446520" y="219456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Latency per node, score distributions, parallel branch overlap, token spend per consumer.</a:t>
            </a:r>
          </a:p>
        </p:txBody>
      </p:sp>
      <p:sp>
        <p:nvSpPr>
          <p:cNvPr id="15" name="Rectangle 14"/>
          <p:cNvSpPr/>
          <p:nvPr/>
        </p:nvSpPr>
        <p:spPr>
          <a:xfrm>
            <a:off x="54864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Traces</a:t>
            </a:r>
          </a:p>
        </p:txBody>
      </p:sp>
      <p:sp>
        <p:nvSpPr>
          <p:cNvPr id="18" name="TextBox 17"/>
          <p:cNvSpPr txBox="1"/>
          <p:nvPr/>
        </p:nvSpPr>
        <p:spPr>
          <a:xfrm>
            <a:off x="82296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Distributed tracing across the parallel pipeline — see both branches as spans, not a flat line.</a:t>
            </a:r>
          </a:p>
        </p:txBody>
      </p:sp>
      <p:sp>
        <p:nvSpPr>
          <p:cNvPr id="19" name="Rectangle 18"/>
          <p:cNvSpPr/>
          <p:nvPr/>
        </p:nvSpPr>
        <p:spPr>
          <a:xfrm>
            <a:off x="6172200" y="3886200"/>
            <a:ext cx="91440" cy="23317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886200"/>
            <a:ext cx="5349240" cy="2331720"/>
          </a:xfrm>
          <a:prstGeom prst="rect">
            <a:avLst/>
          </a:prstGeom>
          <a:solidFill>
            <a:srgbClr val="EEF2F7"/>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069080"/>
            <a:ext cx="5074920" cy="502920"/>
          </a:xfrm>
          <a:prstGeom prst="rect">
            <a:avLst/>
          </a:prstGeom>
          <a:noFill/>
        </p:spPr>
        <p:txBody>
          <a:bodyPr wrap="square" lIns="0" rIns="0" tIns="0" bIns="0" anchor="t">
            <a:spAutoFit/>
          </a:bodyPr>
          <a:lstStyle/>
          <a:p>
            <a:pPr algn="l"/>
            <a:r>
              <a:rPr sz="1800" b="1" i="0">
                <a:solidFill>
                  <a:srgbClr val="0B1B3F"/>
                </a:solidFill>
                <a:latin typeface="Calibri"/>
              </a:rPr>
              <a:t>Evaluations</a:t>
            </a:r>
          </a:p>
        </p:txBody>
      </p:sp>
      <p:sp>
        <p:nvSpPr>
          <p:cNvPr id="22" name="TextBox 21"/>
          <p:cNvSpPr txBox="1"/>
          <p:nvPr/>
        </p:nvSpPr>
        <p:spPr>
          <a:xfrm>
            <a:off x="6446520" y="4663440"/>
            <a:ext cx="5074920" cy="1463040"/>
          </a:xfrm>
          <a:prstGeom prst="rect">
            <a:avLst/>
          </a:prstGeom>
          <a:noFill/>
        </p:spPr>
        <p:txBody>
          <a:bodyPr wrap="square" lIns="0" rIns="0" tIns="0" bIns="0">
            <a:spAutoFit/>
          </a:bodyPr>
          <a:lstStyle/>
          <a:p>
            <a:pPr algn="l">
              <a:spcAft>
                <a:spcPts val="600"/>
              </a:spcAft>
            </a:pPr>
            <a:r>
              <a:rPr sz="1400">
                <a:solidFill>
                  <a:srgbClr val="0F172A"/>
                </a:solidFill>
                <a:latin typeface="Calibri"/>
              </a:rPr>
              <a:t>Run a golden dataset every deploy. Track quality, safety, groundedness. CI gate on regression.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Cost management — five levers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41732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3200400" cy="457200"/>
          </a:xfrm>
          <a:prstGeom prst="rect">
            <a:avLst/>
          </a:prstGeom>
          <a:noFill/>
        </p:spPr>
        <p:txBody>
          <a:bodyPr wrap="square" lIns="0" rIns="0" tIns="0" bIns="0" anchor="t">
            <a:spAutoFit/>
          </a:bodyPr>
          <a:lstStyle/>
          <a:p>
            <a:pPr algn="l"/>
            <a:r>
              <a:rPr sz="1800" b="1" i="0">
                <a:solidFill>
                  <a:srgbClr val="0B1B3F"/>
                </a:solidFill>
                <a:latin typeface="Calibri"/>
              </a:rPr>
              <a:t>Model routing</a:t>
            </a:r>
          </a:p>
        </p:txBody>
      </p:sp>
      <p:sp>
        <p:nvSpPr>
          <p:cNvPr id="9" name="TextBox 8"/>
          <p:cNvSpPr txBox="1"/>
          <p:nvPr/>
        </p:nvSpPr>
        <p:spPr>
          <a:xfrm>
            <a:off x="4206240" y="1508760"/>
            <a:ext cx="7315200" cy="685800"/>
          </a:xfrm>
          <a:prstGeom prst="rect">
            <a:avLst/>
          </a:prstGeom>
          <a:noFill/>
        </p:spPr>
        <p:txBody>
          <a:bodyPr wrap="square" lIns="0" rIns="0" tIns="0" bIns="0" anchor="ctr">
            <a:spAutoFit/>
          </a:bodyPr>
          <a:lstStyle/>
          <a:p>
            <a:pPr algn="l"/>
            <a:r>
              <a:rPr sz="1400" b="0" i="0">
                <a:solidFill>
                  <a:srgbClr val="0F172A"/>
                </a:solidFill>
                <a:latin typeface="Calibri"/>
              </a:rPr>
              <a:t>Big model for reasoning · cheap model for high-volume RAG steps. Route per task.</a:t>
            </a:r>
          </a:p>
        </p:txBody>
      </p:sp>
      <p:sp>
        <p:nvSpPr>
          <p:cNvPr id="10" name="Rectangle 9"/>
          <p:cNvSpPr/>
          <p:nvPr/>
        </p:nvSpPr>
        <p:spPr>
          <a:xfrm>
            <a:off x="640080" y="237744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68880"/>
            <a:ext cx="3200400" cy="457200"/>
          </a:xfrm>
          <a:prstGeom prst="rect">
            <a:avLst/>
          </a:prstGeom>
          <a:noFill/>
        </p:spPr>
        <p:txBody>
          <a:bodyPr wrap="square" lIns="0" rIns="0" tIns="0" bIns="0" anchor="t">
            <a:spAutoFit/>
          </a:bodyPr>
          <a:lstStyle/>
          <a:p>
            <a:pPr algn="l"/>
            <a:r>
              <a:rPr sz="1800" b="1" i="0">
                <a:solidFill>
                  <a:srgbClr val="0B1B3F"/>
                </a:solidFill>
                <a:latin typeface="Calibri"/>
              </a:rPr>
              <a:t>Semantic caching</a:t>
            </a:r>
          </a:p>
        </p:txBody>
      </p:sp>
      <p:sp>
        <p:nvSpPr>
          <p:cNvPr id="12" name="TextBox 11"/>
          <p:cNvSpPr txBox="1"/>
          <p:nvPr/>
        </p:nvSpPr>
        <p:spPr>
          <a:xfrm>
            <a:off x="4206240" y="246888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llm-semantic-cache-store cuts duplicate spend on common questions.</a:t>
            </a:r>
          </a:p>
        </p:txBody>
      </p:sp>
      <p:sp>
        <p:nvSpPr>
          <p:cNvPr id="13" name="Rectangle 12"/>
          <p:cNvSpPr/>
          <p:nvPr/>
        </p:nvSpPr>
        <p:spPr>
          <a:xfrm>
            <a:off x="640080" y="333756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429000"/>
            <a:ext cx="3200400" cy="457200"/>
          </a:xfrm>
          <a:prstGeom prst="rect">
            <a:avLst/>
          </a:prstGeom>
          <a:noFill/>
        </p:spPr>
        <p:txBody>
          <a:bodyPr wrap="square" lIns="0" rIns="0" tIns="0" bIns="0" anchor="t">
            <a:spAutoFit/>
          </a:bodyPr>
          <a:lstStyle/>
          <a:p>
            <a:pPr algn="l"/>
            <a:r>
              <a:rPr sz="1800" b="1" i="0">
                <a:solidFill>
                  <a:srgbClr val="0B1B3F"/>
                </a:solidFill>
                <a:latin typeface="Calibri"/>
              </a:rPr>
              <a:t>Parallel execution</a:t>
            </a:r>
          </a:p>
        </p:txBody>
      </p:sp>
      <p:sp>
        <p:nvSpPr>
          <p:cNvPr id="15" name="TextBox 14"/>
          <p:cNvSpPr txBox="1"/>
          <p:nvPr/>
        </p:nvSpPr>
        <p:spPr>
          <a:xfrm>
            <a:off x="4206240" y="3429000"/>
            <a:ext cx="7315200" cy="685800"/>
          </a:xfrm>
          <a:prstGeom prst="rect">
            <a:avLst/>
          </a:prstGeom>
          <a:noFill/>
        </p:spPr>
        <p:txBody>
          <a:bodyPr wrap="square" lIns="0" rIns="0" tIns="0" bIns="0" anchor="ctr">
            <a:spAutoFit/>
          </a:bodyPr>
          <a:lstStyle/>
          <a:p>
            <a:pPr algn="l"/>
            <a:r>
              <a:rPr sz="1400" b="0" i="0">
                <a:solidFill>
                  <a:srgbClr val="0F172A"/>
                </a:solidFill>
                <a:latin typeface="Calibri"/>
              </a:rPr>
              <a:t>Same token count, lower wall-clock. Better UX → fewer retries → lower spend.</a:t>
            </a:r>
          </a:p>
        </p:txBody>
      </p:sp>
      <p:sp>
        <p:nvSpPr>
          <p:cNvPr id="16" name="Rectangle 15"/>
          <p:cNvSpPr/>
          <p:nvPr/>
        </p:nvSpPr>
        <p:spPr>
          <a:xfrm>
            <a:off x="640080" y="429768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89120"/>
            <a:ext cx="3200400" cy="457200"/>
          </a:xfrm>
          <a:prstGeom prst="rect">
            <a:avLst/>
          </a:prstGeom>
          <a:noFill/>
        </p:spPr>
        <p:txBody>
          <a:bodyPr wrap="square" lIns="0" rIns="0" tIns="0" bIns="0" anchor="t">
            <a:spAutoFit/>
          </a:bodyPr>
          <a:lstStyle/>
          <a:p>
            <a:pPr algn="l"/>
            <a:r>
              <a:rPr sz="1800" b="1" i="0">
                <a:solidFill>
                  <a:srgbClr val="0B1B3F"/>
                </a:solidFill>
                <a:latin typeface="Calibri"/>
              </a:rPr>
              <a:t>Token quotas</a:t>
            </a:r>
          </a:p>
        </p:txBody>
      </p:sp>
      <p:sp>
        <p:nvSpPr>
          <p:cNvPr id="18" name="TextBox 17"/>
          <p:cNvSpPr txBox="1"/>
          <p:nvPr/>
        </p:nvSpPr>
        <p:spPr>
          <a:xfrm>
            <a:off x="4206240" y="4389120"/>
            <a:ext cx="7315200" cy="685800"/>
          </a:xfrm>
          <a:prstGeom prst="rect">
            <a:avLst/>
          </a:prstGeom>
          <a:noFill/>
        </p:spPr>
        <p:txBody>
          <a:bodyPr wrap="square" lIns="0" rIns="0" tIns="0" bIns="0" anchor="ctr">
            <a:spAutoFit/>
          </a:bodyPr>
          <a:lstStyle/>
          <a:p>
            <a:pPr algn="l"/>
            <a:r>
              <a:rPr sz="1400" b="0" i="0">
                <a:solidFill>
                  <a:srgbClr val="0F172A"/>
                </a:solidFill>
                <a:latin typeface="Calibri"/>
              </a:rPr>
              <a:t>APIM llm-token-quota per subscription stops a runaway loop in its tracks.</a:t>
            </a:r>
          </a:p>
        </p:txBody>
      </p:sp>
      <p:sp>
        <p:nvSpPr>
          <p:cNvPr id="19" name="Rectangle 18"/>
          <p:cNvSpPr/>
          <p:nvPr/>
        </p:nvSpPr>
        <p:spPr>
          <a:xfrm>
            <a:off x="640080" y="5257800"/>
            <a:ext cx="164592" cy="8686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49240"/>
            <a:ext cx="3200400" cy="457200"/>
          </a:xfrm>
          <a:prstGeom prst="rect">
            <a:avLst/>
          </a:prstGeom>
          <a:noFill/>
        </p:spPr>
        <p:txBody>
          <a:bodyPr wrap="square" lIns="0" rIns="0" tIns="0" bIns="0" anchor="t">
            <a:spAutoFit/>
          </a:bodyPr>
          <a:lstStyle/>
          <a:p>
            <a:pPr algn="l"/>
            <a:r>
              <a:rPr sz="1800" b="1" i="0">
                <a:solidFill>
                  <a:srgbClr val="0B1B3F"/>
                </a:solidFill>
                <a:latin typeface="Calibri"/>
              </a:rPr>
              <a:t>Circuit breakers</a:t>
            </a:r>
          </a:p>
        </p:txBody>
      </p:sp>
      <p:sp>
        <p:nvSpPr>
          <p:cNvPr id="21" name="TextBox 20"/>
          <p:cNvSpPr txBox="1"/>
          <p:nvPr/>
        </p:nvSpPr>
        <p:spPr>
          <a:xfrm>
            <a:off x="4206240" y="5349240"/>
            <a:ext cx="7315200" cy="685800"/>
          </a:xfrm>
          <a:prstGeom prst="rect">
            <a:avLst/>
          </a:prstGeom>
          <a:noFill/>
        </p:spPr>
        <p:txBody>
          <a:bodyPr wrap="square" lIns="0" rIns="0" tIns="0" bIns="0" anchor="ctr">
            <a:spAutoFit/>
          </a:bodyPr>
          <a:lstStyle/>
          <a:p>
            <a:pPr algn="l"/>
            <a:r>
              <a:rPr sz="1400" b="0" i="0">
                <a:solidFill>
                  <a:srgbClr val="0F172A"/>
                </a:solidFill>
                <a:latin typeface="Calibri"/>
              </a:rPr>
              <a:t>Per-backend trip rules in APIM stop wasting tokens on a degraded model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Testing AI systems — pyramid + golden dataset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5943600" cy="457200"/>
          </a:xfrm>
          <a:prstGeom prst="rect">
            <a:avLst/>
          </a:prstGeom>
          <a:noFill/>
        </p:spPr>
        <p:txBody>
          <a:bodyPr wrap="square" lIns="0" rIns="0" tIns="0" bIns="0" anchor="t">
            <a:spAutoFit/>
          </a:bodyPr>
          <a:lstStyle/>
          <a:p>
            <a:pPr algn="l"/>
            <a:r>
              <a:rPr sz="1800" b="1" i="0">
                <a:solidFill>
                  <a:srgbClr val="0B1B3F"/>
                </a:solidFill>
                <a:latin typeface="Calibri"/>
              </a:rPr>
              <a:t>Test pyramid for agents</a:t>
            </a:r>
          </a:p>
        </p:txBody>
      </p:sp>
      <p:sp>
        <p:nvSpPr>
          <p:cNvPr id="8" name="Rectangle 7"/>
          <p:cNvSpPr/>
          <p:nvPr/>
        </p:nvSpPr>
        <p:spPr>
          <a:xfrm>
            <a:off x="2468880" y="2011680"/>
            <a:ext cx="2286000" cy="7772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2103120"/>
            <a:ext cx="2286000" cy="365760"/>
          </a:xfrm>
          <a:prstGeom prst="rect">
            <a:avLst/>
          </a:prstGeom>
          <a:noFill/>
        </p:spPr>
        <p:txBody>
          <a:bodyPr wrap="square" lIns="0" rIns="0" tIns="0" bIns="0" anchor="t">
            <a:spAutoFit/>
          </a:bodyPr>
          <a:lstStyle/>
          <a:p>
            <a:pPr algn="ctr"/>
            <a:r>
              <a:rPr sz="1600" b="1" i="0">
                <a:solidFill>
                  <a:srgbClr val="07122C"/>
                </a:solidFill>
                <a:latin typeface="Calibri"/>
              </a:rPr>
              <a:t>E2E</a:t>
            </a:r>
          </a:p>
        </p:txBody>
      </p:sp>
      <p:sp>
        <p:nvSpPr>
          <p:cNvPr id="10" name="TextBox 9"/>
          <p:cNvSpPr txBox="1"/>
          <p:nvPr/>
        </p:nvSpPr>
        <p:spPr>
          <a:xfrm>
            <a:off x="2468880" y="2468880"/>
            <a:ext cx="2286000" cy="365760"/>
          </a:xfrm>
          <a:prstGeom prst="rect">
            <a:avLst/>
          </a:prstGeom>
          <a:noFill/>
        </p:spPr>
        <p:txBody>
          <a:bodyPr wrap="square" lIns="0" rIns="0" tIns="0" bIns="0" anchor="t">
            <a:spAutoFit/>
          </a:bodyPr>
          <a:lstStyle/>
          <a:p>
            <a:pPr algn="ctr"/>
            <a:r>
              <a:rPr sz="1000" b="0" i="1">
                <a:solidFill>
                  <a:srgbClr val="07122C"/>
                </a:solidFill>
                <a:latin typeface="Calibri"/>
              </a:rPr>
              <a:t>Few · whole-pipeline runs with sample resumes</a:t>
            </a:r>
          </a:p>
        </p:txBody>
      </p:sp>
      <p:sp>
        <p:nvSpPr>
          <p:cNvPr id="11" name="Rectangle 10"/>
          <p:cNvSpPr/>
          <p:nvPr/>
        </p:nvSpPr>
        <p:spPr>
          <a:xfrm>
            <a:off x="1783080" y="2926080"/>
            <a:ext cx="3657600" cy="7772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3017520"/>
            <a:ext cx="3657600" cy="365760"/>
          </a:xfrm>
          <a:prstGeom prst="rect">
            <a:avLst/>
          </a:prstGeom>
          <a:noFill/>
        </p:spPr>
        <p:txBody>
          <a:bodyPr wrap="square" lIns="0" rIns="0" tIns="0" bIns="0" anchor="t">
            <a:spAutoFit/>
          </a:bodyPr>
          <a:lstStyle/>
          <a:p>
            <a:pPr algn="ctr"/>
            <a:r>
              <a:rPr sz="1600" b="1" i="0">
                <a:solidFill>
                  <a:srgbClr val="FFFFFF"/>
                </a:solidFill>
                <a:latin typeface="Calibri"/>
              </a:rPr>
              <a:t>Integration</a:t>
            </a:r>
          </a:p>
        </p:txBody>
      </p:sp>
      <p:sp>
        <p:nvSpPr>
          <p:cNvPr id="13" name="TextBox 12"/>
          <p:cNvSpPr txBox="1"/>
          <p:nvPr/>
        </p:nvSpPr>
        <p:spPr>
          <a:xfrm>
            <a:off x="1783080" y="3383280"/>
            <a:ext cx="3657600" cy="365760"/>
          </a:xfrm>
          <a:prstGeom prst="rect">
            <a:avLst/>
          </a:prstGeom>
          <a:noFill/>
        </p:spPr>
        <p:txBody>
          <a:bodyPr wrap="square" lIns="0" rIns="0" tIns="0" bIns="0" anchor="t">
            <a:spAutoFit/>
          </a:bodyPr>
          <a:lstStyle/>
          <a:p>
            <a:pPr algn="ctr"/>
            <a:r>
              <a:rPr sz="1000" b="0" i="1">
                <a:solidFill>
                  <a:srgbClr val="FFFFFF"/>
                </a:solidFill>
                <a:latin typeface="Calibri"/>
              </a:rPr>
              <a:t>Some · agent + tool + ChromaDB roundtrips</a:t>
            </a:r>
          </a:p>
        </p:txBody>
      </p:sp>
      <p:sp>
        <p:nvSpPr>
          <p:cNvPr id="14" name="Rectangle 13"/>
          <p:cNvSpPr/>
          <p:nvPr/>
        </p:nvSpPr>
        <p:spPr>
          <a:xfrm>
            <a:off x="1097280" y="3840480"/>
            <a:ext cx="5029200" cy="77724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931920"/>
            <a:ext cx="5029200" cy="365760"/>
          </a:xfrm>
          <a:prstGeom prst="rect">
            <a:avLst/>
          </a:prstGeom>
          <a:noFill/>
        </p:spPr>
        <p:txBody>
          <a:bodyPr wrap="square" lIns="0" rIns="0" tIns="0" bIns="0" anchor="t">
            <a:spAutoFit/>
          </a:bodyPr>
          <a:lstStyle/>
          <a:p>
            <a:pPr algn="ctr"/>
            <a:r>
              <a:rPr sz="1600" b="1" i="0">
                <a:solidFill>
                  <a:srgbClr val="FFFFFF"/>
                </a:solidFill>
                <a:latin typeface="Calibri"/>
              </a:rPr>
              <a:t>Unit</a:t>
            </a:r>
          </a:p>
        </p:txBody>
      </p:sp>
      <p:sp>
        <p:nvSpPr>
          <p:cNvPr id="16" name="TextBox 15"/>
          <p:cNvSpPr txBox="1"/>
          <p:nvPr/>
        </p:nvSpPr>
        <p:spPr>
          <a:xfrm>
            <a:off x="1097280" y="4297680"/>
            <a:ext cx="5029200" cy="365760"/>
          </a:xfrm>
          <a:prstGeom prst="rect">
            <a:avLst/>
          </a:prstGeom>
          <a:noFill/>
        </p:spPr>
        <p:txBody>
          <a:bodyPr wrap="square" lIns="0" rIns="0" tIns="0" bIns="0" anchor="t">
            <a:spAutoFit/>
          </a:bodyPr>
          <a:lstStyle/>
          <a:p>
            <a:pPr algn="ctr"/>
            <a:r>
              <a:rPr sz="1000" b="0" i="1">
                <a:solidFill>
                  <a:srgbClr val="FFFFFF"/>
                </a:solidFill>
                <a:latin typeface="Calibri"/>
              </a:rPr>
              <a:t>Many · Pydantic models, helpers, prompt builders</a:t>
            </a:r>
          </a:p>
        </p:txBody>
      </p:sp>
      <p:sp>
        <p:nvSpPr>
          <p:cNvPr id="17" name="TextBox 16"/>
          <p:cNvSpPr txBox="1"/>
          <p:nvPr/>
        </p:nvSpPr>
        <p:spPr>
          <a:xfrm>
            <a:off x="6858000" y="1417320"/>
            <a:ext cx="4846320" cy="457200"/>
          </a:xfrm>
          <a:prstGeom prst="rect">
            <a:avLst/>
          </a:prstGeom>
          <a:noFill/>
        </p:spPr>
        <p:txBody>
          <a:bodyPr wrap="square" lIns="0" rIns="0" tIns="0" bIns="0" anchor="t">
            <a:spAutoFit/>
          </a:bodyPr>
          <a:lstStyle/>
          <a:p>
            <a:pPr algn="l"/>
            <a:r>
              <a:rPr sz="1800" b="1" i="0">
                <a:solidFill>
                  <a:srgbClr val="0B1B3F"/>
                </a:solidFill>
                <a:latin typeface="Calibri"/>
              </a:rPr>
              <a:t>Add: golden dataset evaluation</a:t>
            </a:r>
          </a:p>
        </p:txBody>
      </p:sp>
      <p:sp>
        <p:nvSpPr>
          <p:cNvPr id="18" name="TextBox 17"/>
          <p:cNvSpPr txBox="1"/>
          <p:nvPr/>
        </p:nvSpPr>
        <p:spPr>
          <a:xfrm>
            <a:off x="6858000" y="1920240"/>
            <a:ext cx="4846320" cy="4114800"/>
          </a:xfrm>
          <a:prstGeom prst="rect">
            <a:avLst/>
          </a:prstGeom>
          <a:noFill/>
        </p:spPr>
        <p:txBody>
          <a:bodyPr wrap="square" lIns="0" rIns="0" tIns="0" bIns="0">
            <a:spAutoFit/>
          </a:bodyPr>
          <a:lstStyle/>
          <a:p>
            <a:pPr algn="l" indent="-228600" marL="228600">
              <a:spcAft>
                <a:spcPts val="1000"/>
              </a:spcAft>
              <a:buChar char="•"/>
            </a:pPr>
            <a:r>
              <a:rPr sz="1300" b="1">
                <a:solidFill>
                  <a:srgbClr val="0F172A"/>
                </a:solidFill>
                <a:latin typeface="Calibri"/>
              </a:rPr>
              <a:t>Curate</a:t>
            </a:r>
            <a:r>
              <a:rPr sz="1300">
                <a:solidFill>
                  <a:srgbClr val="0F172A"/>
                </a:solidFill>
                <a:latin typeface="Calibri"/>
              </a:rPr>
              <a:t>  20-50 inputs with known expected outputs.</a:t>
            </a:r>
          </a:p>
          <a:p>
            <a:pPr algn="l" indent="-228600" marL="228600">
              <a:spcAft>
                <a:spcPts val="1000"/>
              </a:spcAft>
              <a:buChar char="•"/>
            </a:pPr>
            <a:r>
              <a:rPr sz="1300" b="1">
                <a:solidFill>
                  <a:srgbClr val="0F172A"/>
                </a:solidFill>
                <a:latin typeface="Calibri"/>
              </a:rPr>
              <a:t>Score</a:t>
            </a:r>
            <a:r>
              <a:rPr sz="1300">
                <a:solidFill>
                  <a:srgbClr val="0F172A"/>
                </a:solidFill>
                <a:latin typeface="Calibri"/>
              </a:rPr>
              <a:t>  Disposition match · score-band match · reasoning quality.</a:t>
            </a:r>
          </a:p>
          <a:p>
            <a:pPr algn="l" indent="-228600" marL="228600">
              <a:spcAft>
                <a:spcPts val="1000"/>
              </a:spcAft>
              <a:buChar char="•"/>
            </a:pPr>
            <a:r>
              <a:rPr sz="1300" b="1">
                <a:solidFill>
                  <a:srgbClr val="0F172A"/>
                </a:solidFill>
                <a:latin typeface="Calibri"/>
              </a:rPr>
              <a:t>Run on every deploy</a:t>
            </a:r>
            <a:r>
              <a:rPr sz="1300">
                <a:solidFill>
                  <a:srgbClr val="0F172A"/>
                </a:solidFill>
                <a:latin typeface="Calibri"/>
              </a:rPr>
              <a:t>  Foundry evaluate() or Azure AI Evaluations SDK.</a:t>
            </a:r>
          </a:p>
          <a:p>
            <a:pPr algn="l" indent="-228600" marL="228600">
              <a:spcAft>
                <a:spcPts val="1000"/>
              </a:spcAft>
              <a:buChar char="•"/>
            </a:pPr>
            <a:r>
              <a:rPr sz="1300" b="1">
                <a:solidFill>
                  <a:srgbClr val="0F172A"/>
                </a:solidFill>
                <a:latin typeface="Calibri"/>
              </a:rPr>
              <a:t>Gate CI</a:t>
            </a:r>
            <a:r>
              <a:rPr sz="1300">
                <a:solidFill>
                  <a:srgbClr val="0F172A"/>
                </a:solidFill>
                <a:latin typeface="Calibri"/>
              </a:rPr>
              <a:t>  Match-rate regression &gt; 5 percentage points = block deploy.</a:t>
            </a:r>
          </a:p>
          <a:p>
            <a:pPr algn="l" indent="-228600" marL="228600">
              <a:spcAft>
                <a:spcPts val="1000"/>
              </a:spcAft>
              <a:buChar char="•"/>
            </a:pPr>
            <a:r>
              <a:rPr sz="1300" b="1">
                <a:solidFill>
                  <a:srgbClr val="0F172A"/>
                </a:solidFill>
                <a:latin typeface="Calibri"/>
              </a:rPr>
              <a:t>Refresh quarterly</a:t>
            </a:r>
            <a:r>
              <a:rPr sz="1300">
                <a:solidFill>
                  <a:srgbClr val="0F172A"/>
                </a:solidFill>
                <a:latin typeface="Calibri"/>
              </a:rPr>
              <a:t>  Real production examples beat synthetic ones every 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Safe deployment for AI changes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Blue / green</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Two production envs running simultaneously.</a:t>
            </a:r>
          </a:p>
          <a:p>
            <a:pPr algn="l" indent="-228600" marL="228600">
              <a:spcAft>
                <a:spcPts val="800"/>
              </a:spcAft>
              <a:buChar char="•"/>
            </a:pPr>
            <a:r>
              <a:rPr sz="1600">
                <a:solidFill>
                  <a:srgbClr val="0F172A"/>
                </a:solidFill>
                <a:latin typeface="Calibri"/>
              </a:rPr>
              <a:t>Switch traffic gradually; instant rollback by re-pointing.</a:t>
            </a:r>
          </a:p>
          <a:p>
            <a:pPr algn="l" indent="-228600" marL="228600">
              <a:spcAft>
                <a:spcPts val="800"/>
              </a:spcAft>
              <a:buChar char="•"/>
            </a:pPr>
            <a:r>
              <a:rPr sz="1600">
                <a:solidFill>
                  <a:srgbClr val="0F172A"/>
                </a:solidFill>
                <a:latin typeface="Calibri"/>
              </a:rPr>
              <a:t>Catches model upgrades that break a workflow.</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Ringed (staged) rollout</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Internal users first, then friendly tenants, then everyone.</a:t>
            </a:r>
          </a:p>
          <a:p>
            <a:pPr algn="l" indent="-228600" marL="228600">
              <a:spcAft>
                <a:spcPts val="800"/>
              </a:spcAft>
              <a:buChar char="•"/>
            </a:pPr>
            <a:r>
              <a:rPr sz="1600">
                <a:solidFill>
                  <a:srgbClr val="0F172A"/>
                </a:solidFill>
                <a:latin typeface="Calibri"/>
              </a:rPr>
              <a:t>Pair with feature flags for per-tenant control.</a:t>
            </a:r>
          </a:p>
          <a:p>
            <a:pPr algn="l" indent="-228600" marL="228600">
              <a:spcAft>
                <a:spcPts val="800"/>
              </a:spcAft>
              <a:buChar char="•"/>
            </a:pPr>
            <a:r>
              <a:rPr sz="1600">
                <a:solidFill>
                  <a:srgbClr val="0F172A"/>
                </a:solidFill>
                <a:latin typeface="Calibri"/>
              </a:rPr>
              <a:t>Lets you measure quality before scale-out, not after.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Warner's Laws of Production AI Agents</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640080" y="137160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1</a:t>
            </a:r>
          </a:p>
        </p:txBody>
      </p:sp>
      <p:sp>
        <p:nvSpPr>
          <p:cNvPr id="9" name="TextBox 8"/>
          <p:cNvSpPr txBox="1"/>
          <p:nvPr/>
        </p:nvSpPr>
        <p:spPr>
          <a:xfrm>
            <a:off x="1920240" y="1463040"/>
            <a:ext cx="9784080" cy="457200"/>
          </a:xfrm>
          <a:prstGeom prst="rect">
            <a:avLst/>
          </a:prstGeom>
          <a:noFill/>
        </p:spPr>
        <p:txBody>
          <a:bodyPr wrap="square" lIns="0" rIns="0" tIns="0" bIns="0" anchor="ctr">
            <a:spAutoFit/>
          </a:bodyPr>
          <a:lstStyle/>
          <a:p>
            <a:pPr algn="l"/>
            <a:r>
              <a:rPr sz="1500" b="0" i="0">
                <a:solidFill>
                  <a:srgbClr val="0F172A"/>
                </a:solidFill>
                <a:latin typeface="Calibri"/>
              </a:rPr>
              <a:t>If it doesn't take an action, it isn't an agent.</a:t>
            </a:r>
          </a:p>
        </p:txBody>
      </p:sp>
      <p:sp>
        <p:nvSpPr>
          <p:cNvPr id="10" name="Rectangle 9"/>
          <p:cNvSpPr/>
          <p:nvPr/>
        </p:nvSpPr>
        <p:spPr>
          <a:xfrm>
            <a:off x="640080" y="197510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2082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2</a:t>
            </a:r>
          </a:p>
        </p:txBody>
      </p:sp>
      <p:sp>
        <p:nvSpPr>
          <p:cNvPr id="12" name="TextBox 11"/>
          <p:cNvSpPr txBox="1"/>
          <p:nvPr/>
        </p:nvSpPr>
        <p:spPr>
          <a:xfrm>
            <a:off x="1920240" y="2066544"/>
            <a:ext cx="9784080" cy="457200"/>
          </a:xfrm>
          <a:prstGeom prst="rect">
            <a:avLst/>
          </a:prstGeom>
          <a:noFill/>
        </p:spPr>
        <p:txBody>
          <a:bodyPr wrap="square" lIns="0" rIns="0" tIns="0" bIns="0" anchor="ctr">
            <a:spAutoFit/>
          </a:bodyPr>
          <a:lstStyle/>
          <a:p>
            <a:pPr algn="l"/>
            <a:r>
              <a:rPr sz="1500" b="0" i="0">
                <a:solidFill>
                  <a:srgbClr val="0F172A"/>
                </a:solidFill>
                <a:latin typeface="Calibri"/>
              </a:rPr>
              <a:t>Tools are blast radius. The fewer the better; the narrower the better.</a:t>
            </a:r>
          </a:p>
        </p:txBody>
      </p:sp>
      <p:sp>
        <p:nvSpPr>
          <p:cNvPr id="13" name="Rectangle 12"/>
          <p:cNvSpPr/>
          <p:nvPr/>
        </p:nvSpPr>
        <p:spPr>
          <a:xfrm>
            <a:off x="640080" y="257860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2432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3</a:t>
            </a:r>
          </a:p>
        </p:txBody>
      </p:sp>
      <p:sp>
        <p:nvSpPr>
          <p:cNvPr id="15" name="TextBox 14"/>
          <p:cNvSpPr txBox="1"/>
          <p:nvPr/>
        </p:nvSpPr>
        <p:spPr>
          <a:xfrm>
            <a:off x="1920240" y="2670048"/>
            <a:ext cx="9784080" cy="457200"/>
          </a:xfrm>
          <a:prstGeom prst="rect">
            <a:avLst/>
          </a:prstGeom>
          <a:noFill/>
        </p:spPr>
        <p:txBody>
          <a:bodyPr wrap="square" lIns="0" rIns="0" tIns="0" bIns="0" anchor="ctr">
            <a:spAutoFit/>
          </a:bodyPr>
          <a:lstStyle/>
          <a:p>
            <a:pPr algn="l"/>
            <a:r>
              <a:rPr sz="1500" b="0" i="0">
                <a:solidFill>
                  <a:srgbClr val="0F172A"/>
                </a:solidFill>
                <a:latin typeface="Calibri"/>
              </a:rPr>
              <a:t>Memory is an architecture choice. Pick before you build.</a:t>
            </a:r>
          </a:p>
        </p:txBody>
      </p:sp>
      <p:sp>
        <p:nvSpPr>
          <p:cNvPr id="16" name="Rectangle 15"/>
          <p:cNvSpPr/>
          <p:nvPr/>
        </p:nvSpPr>
        <p:spPr>
          <a:xfrm>
            <a:off x="640080" y="3182112"/>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27832"/>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4</a:t>
            </a:r>
          </a:p>
        </p:txBody>
      </p:sp>
      <p:sp>
        <p:nvSpPr>
          <p:cNvPr id="18" name="TextBox 17"/>
          <p:cNvSpPr txBox="1"/>
          <p:nvPr/>
        </p:nvSpPr>
        <p:spPr>
          <a:xfrm>
            <a:off x="1920240" y="3273552"/>
            <a:ext cx="9784080" cy="457200"/>
          </a:xfrm>
          <a:prstGeom prst="rect">
            <a:avLst/>
          </a:prstGeom>
          <a:noFill/>
        </p:spPr>
        <p:txBody>
          <a:bodyPr wrap="square" lIns="0" rIns="0" tIns="0" bIns="0" anchor="ctr">
            <a:spAutoFit/>
          </a:bodyPr>
          <a:lstStyle/>
          <a:p>
            <a:pPr algn="l"/>
            <a:r>
              <a:rPr sz="1500" b="0" i="0">
                <a:solidFill>
                  <a:srgbClr val="0F172A"/>
                </a:solidFill>
                <a:latin typeface="Calibri"/>
              </a:rPr>
              <a:t>Parallelize when you can; observe what you parallelized.</a:t>
            </a:r>
          </a:p>
        </p:txBody>
      </p:sp>
      <p:sp>
        <p:nvSpPr>
          <p:cNvPr id="19" name="Rectangle 18"/>
          <p:cNvSpPr/>
          <p:nvPr/>
        </p:nvSpPr>
        <p:spPr>
          <a:xfrm>
            <a:off x="640080" y="3785616"/>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831336"/>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5</a:t>
            </a:r>
          </a:p>
        </p:txBody>
      </p:sp>
      <p:sp>
        <p:nvSpPr>
          <p:cNvPr id="21" name="TextBox 20"/>
          <p:cNvSpPr txBox="1"/>
          <p:nvPr/>
        </p:nvSpPr>
        <p:spPr>
          <a:xfrm>
            <a:off x="1920240" y="3877056"/>
            <a:ext cx="9784080" cy="457200"/>
          </a:xfrm>
          <a:prstGeom prst="rect">
            <a:avLst/>
          </a:prstGeom>
          <a:noFill/>
        </p:spPr>
        <p:txBody>
          <a:bodyPr wrap="square" lIns="0" rIns="0" tIns="0" bIns="0" anchor="ctr">
            <a:spAutoFit/>
          </a:bodyPr>
          <a:lstStyle/>
          <a:p>
            <a:pPr algn="l"/>
            <a:r>
              <a:rPr sz="1500" b="0" i="0">
                <a:solidFill>
                  <a:srgbClr val="0F172A"/>
                </a:solidFill>
                <a:latin typeface="Calibri"/>
              </a:rPr>
              <a:t>Sampling and elicitation are how the server stops being a doormat.</a:t>
            </a:r>
          </a:p>
        </p:txBody>
      </p:sp>
      <p:sp>
        <p:nvSpPr>
          <p:cNvPr id="22" name="Rectangle 21"/>
          <p:cNvSpPr/>
          <p:nvPr/>
        </p:nvSpPr>
        <p:spPr>
          <a:xfrm>
            <a:off x="640080" y="4389120"/>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434840"/>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6</a:t>
            </a:r>
          </a:p>
        </p:txBody>
      </p:sp>
      <p:sp>
        <p:nvSpPr>
          <p:cNvPr id="24" name="TextBox 23"/>
          <p:cNvSpPr txBox="1"/>
          <p:nvPr/>
        </p:nvSpPr>
        <p:spPr>
          <a:xfrm>
            <a:off x="1920240" y="4480560"/>
            <a:ext cx="9784080" cy="457200"/>
          </a:xfrm>
          <a:prstGeom prst="rect">
            <a:avLst/>
          </a:prstGeom>
          <a:noFill/>
        </p:spPr>
        <p:txBody>
          <a:bodyPr wrap="square" lIns="0" rIns="0" tIns="0" bIns="0" anchor="ctr">
            <a:spAutoFit/>
          </a:bodyPr>
          <a:lstStyle/>
          <a:p>
            <a:pPr algn="l"/>
            <a:r>
              <a:rPr sz="1500" b="0" i="0">
                <a:solidFill>
                  <a:srgbClr val="0F172A"/>
                </a:solidFill>
                <a:latin typeface="Calibri"/>
              </a:rPr>
              <a:t>The gateway protects your token budget. Use one.</a:t>
            </a:r>
          </a:p>
        </p:txBody>
      </p:sp>
      <p:sp>
        <p:nvSpPr>
          <p:cNvPr id="25" name="Rectangle 24"/>
          <p:cNvSpPr/>
          <p:nvPr/>
        </p:nvSpPr>
        <p:spPr>
          <a:xfrm>
            <a:off x="640080" y="4992624"/>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038344"/>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7</a:t>
            </a:r>
          </a:p>
        </p:txBody>
      </p:sp>
      <p:sp>
        <p:nvSpPr>
          <p:cNvPr id="27" name="TextBox 26"/>
          <p:cNvSpPr txBox="1"/>
          <p:nvPr/>
        </p:nvSpPr>
        <p:spPr>
          <a:xfrm>
            <a:off x="1920240" y="5084064"/>
            <a:ext cx="9784080" cy="457200"/>
          </a:xfrm>
          <a:prstGeom prst="rect">
            <a:avLst/>
          </a:prstGeom>
          <a:noFill/>
        </p:spPr>
        <p:txBody>
          <a:bodyPr wrap="square" lIns="0" rIns="0" tIns="0" bIns="0" anchor="ctr">
            <a:spAutoFit/>
          </a:bodyPr>
          <a:lstStyle/>
          <a:p>
            <a:pPr algn="l"/>
            <a:r>
              <a:rPr sz="1500" b="0" i="0">
                <a:solidFill>
                  <a:srgbClr val="0F172A"/>
                </a:solidFill>
                <a:latin typeface="Calibri"/>
              </a:rPr>
              <a:t>Guardrails belong outside your prompt, not inside it.</a:t>
            </a:r>
          </a:p>
        </p:txBody>
      </p:sp>
      <p:sp>
        <p:nvSpPr>
          <p:cNvPr id="28" name="Rectangle 27"/>
          <p:cNvSpPr/>
          <p:nvPr/>
        </p:nvSpPr>
        <p:spPr>
          <a:xfrm>
            <a:off x="640080" y="5596128"/>
            <a:ext cx="1097280" cy="54864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641848"/>
            <a:ext cx="1097280" cy="457200"/>
          </a:xfrm>
          <a:prstGeom prst="rect">
            <a:avLst/>
          </a:prstGeom>
          <a:noFill/>
        </p:spPr>
        <p:txBody>
          <a:bodyPr wrap="square" lIns="0" rIns="0" tIns="0" bIns="0" anchor="ctr">
            <a:spAutoFit/>
          </a:bodyPr>
          <a:lstStyle/>
          <a:p>
            <a:pPr algn="ctr"/>
            <a:r>
              <a:rPr sz="1400" b="1" i="0">
                <a:solidFill>
                  <a:srgbClr val="07122C"/>
                </a:solidFill>
                <a:latin typeface="Calibri"/>
              </a:rPr>
              <a:t>Law 8</a:t>
            </a:r>
          </a:p>
        </p:txBody>
      </p:sp>
      <p:sp>
        <p:nvSpPr>
          <p:cNvPr id="30" name="TextBox 29"/>
          <p:cNvSpPr txBox="1"/>
          <p:nvPr/>
        </p:nvSpPr>
        <p:spPr>
          <a:xfrm>
            <a:off x="1920240" y="5687568"/>
            <a:ext cx="9784080" cy="457200"/>
          </a:xfrm>
          <a:prstGeom prst="rect">
            <a:avLst/>
          </a:prstGeom>
          <a:noFill/>
        </p:spPr>
        <p:txBody>
          <a:bodyPr wrap="square" lIns="0" rIns="0" tIns="0" bIns="0" anchor="ctr">
            <a:spAutoFit/>
          </a:bodyPr>
          <a:lstStyle/>
          <a:p>
            <a:pPr algn="l"/>
            <a:r>
              <a:rPr sz="1500" b="0" i="0">
                <a:solidFill>
                  <a:srgbClr val="0F172A"/>
                </a:solidFill>
                <a:latin typeface="Calibri"/>
              </a:rPr>
              <a:t>Without an evaluation set, you don't have tests — you have hopes.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What you built today</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1000"/>
              </a:spcAft>
              <a:buChar char="•"/>
            </a:pPr>
            <a:r>
              <a:rPr sz="1800" b="1">
                <a:solidFill>
                  <a:srgbClr val="0F172A"/>
                </a:solidFill>
                <a:latin typeface="Calibri"/>
              </a:rPr>
              <a:t>A working pipeline</a:t>
            </a:r>
            <a:r>
              <a:rPr sz="1800">
                <a:solidFill>
                  <a:srgbClr val="0F172A"/>
                </a:solidFill>
                <a:latin typeface="Calibri"/>
              </a:rPr>
              <a:t>  4 CrewAI agents · LangGraph parallel fan-out / fan-in · checkpointed state.</a:t>
            </a:r>
          </a:p>
          <a:p>
            <a:pPr algn="l" indent="-228600" marL="228600">
              <a:spcAft>
                <a:spcPts val="1000"/>
              </a:spcAft>
              <a:buChar char="•"/>
            </a:pPr>
            <a:r>
              <a:rPr sz="1800" b="1">
                <a:solidFill>
                  <a:srgbClr val="0F172A"/>
                </a:solidFill>
                <a:latin typeface="Calibri"/>
              </a:rPr>
              <a:t>A web UI</a:t>
            </a:r>
            <a:r>
              <a:rPr sz="1800">
                <a:solidFill>
                  <a:srgbClr val="0F172A"/>
                </a:solidFill>
                <a:latin typeface="Calibri"/>
              </a:rPr>
              <a:t>  Chat with Alex · candidates grid · runs.html pipeline trace.</a:t>
            </a:r>
          </a:p>
          <a:p>
            <a:pPr algn="l" indent="-228600" marL="228600">
              <a:spcAft>
                <a:spcPts val="1000"/>
              </a:spcAft>
              <a:buChar char="•"/>
            </a:pPr>
            <a:r>
              <a:rPr sz="1800" b="1">
                <a:solidFill>
                  <a:srgbClr val="0F172A"/>
                </a:solidFill>
                <a:latin typeface="Calibri"/>
              </a:rPr>
              <a:t>An MCP server</a:t>
            </a:r>
            <a:r>
              <a:rPr sz="1800">
                <a:solidFill>
                  <a:srgbClr val="0F172A"/>
                </a:solidFill>
                <a:latin typeface="Calibri"/>
              </a:rPr>
              <a:t>  FastMCP 2 · all 5 primitives · stdio + SSE transports · Inspector-tested.</a:t>
            </a:r>
          </a:p>
          <a:p>
            <a:pPr algn="l" indent="-228600" marL="228600">
              <a:spcAft>
                <a:spcPts val="1000"/>
              </a:spcAft>
              <a:buChar char="•"/>
            </a:pPr>
            <a:r>
              <a:rPr sz="1800" b="1">
                <a:solidFill>
                  <a:srgbClr val="0F172A"/>
                </a:solidFill>
                <a:latin typeface="Calibri"/>
              </a:rPr>
              <a:t>A grounded mental model</a:t>
            </a:r>
            <a:r>
              <a:rPr sz="1800">
                <a:solidFill>
                  <a:srgbClr val="0F172A"/>
                </a:solidFill>
                <a:latin typeface="Calibri"/>
              </a:rPr>
              <a:t>  Foundry Agent Service · APIM AI gateway · Container Apps · Guardrails.</a:t>
            </a:r>
          </a:p>
          <a:p>
            <a:pPr algn="l" indent="-228600" marL="228600">
              <a:spcAft>
                <a:spcPts val="1000"/>
              </a:spcAft>
              <a:buChar char="•"/>
            </a:pPr>
            <a:r>
              <a:rPr sz="1800" b="1">
                <a:solidFill>
                  <a:srgbClr val="0F172A"/>
                </a:solidFill>
                <a:latin typeface="Calibri"/>
              </a:rPr>
              <a:t>A repo to fork</a:t>
            </a:r>
            <a:r>
              <a:rPr sz="1800">
                <a:solidFill>
                  <a:srgbClr val="0F172A"/>
                </a:solidFill>
                <a:latin typeface="Calibri"/>
              </a:rPr>
              <a:t>  github.com/timothywarner-org/agents2 — clone it, break it, ship something next.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Where to next</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548640" y="1325880"/>
            <a:ext cx="5303520" cy="457200"/>
          </a:xfrm>
          <a:prstGeom prst="rect">
            <a:avLst/>
          </a:prstGeom>
          <a:noFill/>
        </p:spPr>
        <p:txBody>
          <a:bodyPr wrap="square" lIns="0" rIns="0" tIns="0" bIns="0" anchor="t">
            <a:spAutoFit/>
          </a:bodyPr>
          <a:lstStyle/>
          <a:p>
            <a:pPr algn="l"/>
            <a:r>
              <a:rPr sz="2000" b="1" i="0">
                <a:solidFill>
                  <a:srgbClr val="0B1B3F"/>
                </a:solidFill>
                <a:latin typeface="Calibri"/>
              </a:rPr>
              <a:t>Beginner → Intermediate</a:t>
            </a:r>
          </a:p>
        </p:txBody>
      </p:sp>
      <p:sp>
        <p:nvSpPr>
          <p:cNvPr id="8" name="TextBox 7"/>
          <p:cNvSpPr txBox="1"/>
          <p:nvPr/>
        </p:nvSpPr>
        <p:spPr>
          <a:xfrm>
            <a:off x="548640" y="1828800"/>
            <a:ext cx="530352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Deploy the Container App to your Azure subscription.</a:t>
            </a:r>
          </a:p>
          <a:p>
            <a:pPr algn="l" indent="-228600" marL="228600">
              <a:spcAft>
                <a:spcPts val="800"/>
              </a:spcAft>
              <a:buChar char="•"/>
            </a:pPr>
            <a:r>
              <a:rPr sz="1600">
                <a:solidFill>
                  <a:srgbClr val="0F172A"/>
                </a:solidFill>
                <a:latin typeface="Calibri"/>
              </a:rPr>
              <a:t>Add one APIM policy (rate-limit) and watch the metrics.</a:t>
            </a:r>
          </a:p>
          <a:p>
            <a:pPr algn="l" indent="-228600" marL="228600">
              <a:spcAft>
                <a:spcPts val="800"/>
              </a:spcAft>
              <a:buChar char="•"/>
            </a:pPr>
            <a:r>
              <a:rPr sz="1600">
                <a:solidFill>
                  <a:srgbClr val="0F172A"/>
                </a:solidFill>
                <a:latin typeface="Calibri"/>
              </a:rPr>
              <a:t>Replace ChromaDB with Azure AI Search for production RAG.</a:t>
            </a:r>
          </a:p>
          <a:p>
            <a:pPr algn="l" indent="-228600" marL="228600">
              <a:spcAft>
                <a:spcPts val="800"/>
              </a:spcAft>
              <a:buChar char="•"/>
            </a:pPr>
            <a:r>
              <a:rPr sz="1600">
                <a:solidFill>
                  <a:srgbClr val="0F172A"/>
                </a:solidFill>
                <a:latin typeface="Calibri"/>
              </a:rPr>
              <a:t>Swap SQLite for Cosmos DB and run multi-region.</a:t>
            </a:r>
          </a:p>
        </p:txBody>
      </p:sp>
      <p:sp>
        <p:nvSpPr>
          <p:cNvPr id="9" name="Rectangle 8"/>
          <p:cNvSpPr/>
          <p:nvPr/>
        </p:nvSpPr>
        <p:spPr>
          <a:xfrm>
            <a:off x="5989320" y="1463040"/>
            <a:ext cx="22860" cy="45720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25880"/>
            <a:ext cx="5486400" cy="457200"/>
          </a:xfrm>
          <a:prstGeom prst="rect">
            <a:avLst/>
          </a:prstGeom>
          <a:noFill/>
        </p:spPr>
        <p:txBody>
          <a:bodyPr wrap="square" lIns="0" rIns="0" tIns="0" bIns="0" anchor="t">
            <a:spAutoFit/>
          </a:bodyPr>
          <a:lstStyle/>
          <a:p>
            <a:pPr algn="l"/>
            <a:r>
              <a:rPr sz="2000" b="1" i="0">
                <a:solidFill>
                  <a:srgbClr val="0B1B3F"/>
                </a:solidFill>
                <a:latin typeface="Calibri"/>
              </a:rPr>
              <a:t>Intermediate → Advanced</a:t>
            </a:r>
          </a:p>
        </p:txBody>
      </p:sp>
      <p:sp>
        <p:nvSpPr>
          <p:cNvPr id="11" name="TextBox 10"/>
          <p:cNvSpPr txBox="1"/>
          <p:nvPr/>
        </p:nvSpPr>
        <p:spPr>
          <a:xfrm>
            <a:off x="6263640" y="1828800"/>
            <a:ext cx="5486400" cy="4434840"/>
          </a:xfrm>
          <a:prstGeom prst="rect">
            <a:avLst/>
          </a:prstGeom>
          <a:noFill/>
        </p:spPr>
        <p:txBody>
          <a:bodyPr wrap="square" lIns="0" rIns="0" tIns="0" bIns="0">
            <a:spAutoFit/>
          </a:bodyPr>
          <a:lstStyle/>
          <a:p>
            <a:pPr algn="l" indent="-228600" marL="228600">
              <a:spcAft>
                <a:spcPts val="800"/>
              </a:spcAft>
              <a:buChar char="•"/>
            </a:pPr>
            <a:r>
              <a:rPr sz="1600">
                <a:solidFill>
                  <a:srgbClr val="0F172A"/>
                </a:solidFill>
                <a:latin typeface="Calibri"/>
              </a:rPr>
              <a:t>Build a 5th agent in parallel (e.g., InterviewScheduler).</a:t>
            </a:r>
          </a:p>
          <a:p>
            <a:pPr algn="l" indent="-228600" marL="228600">
              <a:spcAft>
                <a:spcPts val="800"/>
              </a:spcAft>
              <a:buChar char="•"/>
            </a:pPr>
            <a:r>
              <a:rPr sz="1600">
                <a:solidFill>
                  <a:srgbClr val="0F172A"/>
                </a:solidFill>
                <a:latin typeface="Calibri"/>
              </a:rPr>
              <a:t>Wire the pipeline into Foundry Agent Service as a hosted agent.</a:t>
            </a:r>
          </a:p>
          <a:p>
            <a:pPr algn="l" indent="-228600" marL="228600">
              <a:spcAft>
                <a:spcPts val="800"/>
              </a:spcAft>
              <a:buChar char="•"/>
            </a:pPr>
            <a:r>
              <a:rPr sz="1600">
                <a:solidFill>
                  <a:srgbClr val="0F172A"/>
                </a:solidFill>
                <a:latin typeface="Calibri"/>
              </a:rPr>
              <a:t>Add OpenTelemetry traces and visualize parallel branches in App Insights.</a:t>
            </a:r>
          </a:p>
          <a:p>
            <a:pPr algn="l" indent="-228600" marL="228600">
              <a:spcAft>
                <a:spcPts val="800"/>
              </a:spcAft>
              <a:buChar char="•"/>
            </a:pPr>
            <a:r>
              <a:rPr sz="1600">
                <a:solidFill>
                  <a:srgbClr val="0F172A"/>
                </a:solidFill>
                <a:latin typeface="Calibri"/>
              </a:rPr>
              <a:t>Run a golden-dataset evaluation in CI; gate deploys on regression.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Resources — keep going</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TextBox 6"/>
          <p:cNvSpPr txBox="1"/>
          <p:nvPr/>
        </p:nvSpPr>
        <p:spPr>
          <a:xfrm>
            <a:off x="640080" y="1417320"/>
            <a:ext cx="10972800" cy="4937760"/>
          </a:xfrm>
          <a:prstGeom prst="rect">
            <a:avLst/>
          </a:prstGeom>
          <a:noFill/>
        </p:spPr>
        <p:txBody>
          <a:bodyPr wrap="square" lIns="0" rIns="0" tIns="0" bIns="0">
            <a:spAutoFit/>
          </a:bodyPr>
          <a:lstStyle/>
          <a:p>
            <a:pPr algn="l" indent="-228600" marL="228600">
              <a:spcAft>
                <a:spcPts val="700"/>
              </a:spcAft>
              <a:buChar char="•"/>
            </a:pPr>
            <a:r>
              <a:rPr sz="1300" b="1">
                <a:solidFill>
                  <a:srgbClr val="0F172A"/>
                </a:solidFill>
                <a:latin typeface="Calibri"/>
              </a:rPr>
              <a:t>Course repo</a:t>
            </a:r>
            <a:r>
              <a:rPr sz="1300">
                <a:solidFill>
                  <a:srgbClr val="0F172A"/>
                </a:solidFill>
                <a:latin typeface="Calibri"/>
              </a:rPr>
              <a:t>  github.com/timothywarner-org/agents2 · CLAUDE.md and hour-by-hour teaching guides.</a:t>
            </a:r>
          </a:p>
          <a:p>
            <a:pPr algn="l" indent="-228600" marL="228600">
              <a:spcAft>
                <a:spcPts val="700"/>
              </a:spcAft>
              <a:buChar char="•"/>
            </a:pPr>
            <a:r>
              <a:rPr sz="1300" b="1">
                <a:solidFill>
                  <a:srgbClr val="0F172A"/>
                </a:solidFill>
                <a:latin typeface="Calibri"/>
              </a:rPr>
              <a:t>Microsoft Foundry</a:t>
            </a:r>
            <a:r>
              <a:rPr sz="1300">
                <a:solidFill>
                  <a:srgbClr val="0F172A"/>
                </a:solidFill>
                <a:latin typeface="Calibri"/>
              </a:rPr>
              <a:t>  learn.microsoft.com/azure/foundry/agents/overview</a:t>
            </a:r>
          </a:p>
          <a:p>
            <a:pPr algn="l" indent="-228600" marL="228600">
              <a:spcAft>
                <a:spcPts val="700"/>
              </a:spcAft>
              <a:buChar char="•"/>
            </a:pPr>
            <a:r>
              <a:rPr sz="1300" b="1">
                <a:solidFill>
                  <a:srgbClr val="0F172A"/>
                </a:solidFill>
                <a:latin typeface="Calibri"/>
              </a:rPr>
              <a:t>Azure API Management AI gateway</a:t>
            </a:r>
            <a:r>
              <a:rPr sz="1300">
                <a:solidFill>
                  <a:srgbClr val="0F172A"/>
                </a:solidFill>
                <a:latin typeface="Calibri"/>
              </a:rPr>
              <a:t>  learn.microsoft.com/azure/api-management/genai-gateway-capabilities</a:t>
            </a:r>
          </a:p>
          <a:p>
            <a:pPr algn="l" indent="-228600" marL="228600">
              <a:spcAft>
                <a:spcPts val="700"/>
              </a:spcAft>
              <a:buChar char="•"/>
            </a:pPr>
            <a:r>
              <a:rPr sz="1300" b="1">
                <a:solidFill>
                  <a:srgbClr val="0F172A"/>
                </a:solidFill>
                <a:latin typeface="Calibri"/>
              </a:rPr>
              <a:t>Azure Container Apps + AI</a:t>
            </a:r>
            <a:r>
              <a:rPr sz="1300">
                <a:solidFill>
                  <a:srgbClr val="0F172A"/>
                </a:solidFill>
                <a:latin typeface="Calibri"/>
              </a:rPr>
              <a:t>  learn.microsoft.com/azure/container-apps/ai-integration</a:t>
            </a:r>
          </a:p>
          <a:p>
            <a:pPr algn="l" indent="-228600" marL="228600">
              <a:spcAft>
                <a:spcPts val="700"/>
              </a:spcAft>
              <a:buChar char="•"/>
            </a:pPr>
            <a:r>
              <a:rPr sz="1300" b="1">
                <a:solidFill>
                  <a:srgbClr val="0F172A"/>
                </a:solidFill>
                <a:latin typeface="Calibri"/>
              </a:rPr>
              <a:t>Foundry Guardrails</a:t>
            </a:r>
            <a:r>
              <a:rPr sz="1300">
                <a:solidFill>
                  <a:srgbClr val="0F172A"/>
                </a:solidFill>
                <a:latin typeface="Calibri"/>
              </a:rPr>
              <a:t>  learn.microsoft.com/azure/foundry/guardrails/guardrails-overview</a:t>
            </a:r>
          </a:p>
          <a:p>
            <a:pPr algn="l" indent="-228600" marL="228600">
              <a:spcAft>
                <a:spcPts val="700"/>
              </a:spcAft>
              <a:buChar char="•"/>
            </a:pPr>
            <a:r>
              <a:rPr sz="1300" b="1">
                <a:solidFill>
                  <a:srgbClr val="0F172A"/>
                </a:solidFill>
                <a:latin typeface="Calibri"/>
              </a:rPr>
              <a:t>LangGraph docs</a:t>
            </a:r>
            <a:r>
              <a:rPr sz="1300">
                <a:solidFill>
                  <a:srgbClr val="0F172A"/>
                </a:solidFill>
                <a:latin typeface="Calibri"/>
              </a:rPr>
              <a:t>  docs.langchain.com/oss/python/langgraph — parallel branches &amp; checkpointing.</a:t>
            </a:r>
          </a:p>
          <a:p>
            <a:pPr algn="l" indent="-228600" marL="228600">
              <a:spcAft>
                <a:spcPts val="700"/>
              </a:spcAft>
              <a:buChar char="•"/>
            </a:pPr>
            <a:r>
              <a:rPr sz="1300" b="1">
                <a:solidFill>
                  <a:srgbClr val="0F172A"/>
                </a:solidFill>
                <a:latin typeface="Calibri"/>
              </a:rPr>
              <a:t>CrewAI docs</a:t>
            </a:r>
            <a:r>
              <a:rPr sz="1300">
                <a:solidFill>
                  <a:srgbClr val="0F172A"/>
                </a:solidFill>
                <a:latin typeface="Calibri"/>
              </a:rPr>
              <a:t>  docs.crewai.com — agents, tasks, crews, processes.</a:t>
            </a:r>
          </a:p>
          <a:p>
            <a:pPr algn="l" indent="-228600" marL="228600">
              <a:spcAft>
                <a:spcPts val="700"/>
              </a:spcAft>
              <a:buChar char="•"/>
            </a:pPr>
            <a:r>
              <a:rPr sz="1300" b="1">
                <a:solidFill>
                  <a:srgbClr val="0F172A"/>
                </a:solidFill>
                <a:latin typeface="Calibri"/>
              </a:rPr>
              <a:t>FastMCP</a:t>
            </a:r>
            <a:r>
              <a:rPr sz="1300">
                <a:solidFill>
                  <a:srgbClr val="0F172A"/>
                </a:solidFill>
                <a:latin typeface="Calibri"/>
              </a:rPr>
              <a:t>  gofastmcp.com — full Python MCP server framework.</a:t>
            </a:r>
          </a:p>
          <a:p>
            <a:pPr algn="l" indent="-228600" marL="228600">
              <a:spcAft>
                <a:spcPts val="700"/>
              </a:spcAft>
              <a:buChar char="•"/>
            </a:pPr>
            <a:r>
              <a:rPr sz="1300" b="1">
                <a:solidFill>
                  <a:srgbClr val="0F172A"/>
                </a:solidFill>
                <a:latin typeface="Calibri"/>
              </a:rPr>
              <a:t>Model Context Protocol spec</a:t>
            </a:r>
            <a:r>
              <a:rPr sz="1300">
                <a:solidFill>
                  <a:srgbClr val="0F172A"/>
                </a:solidFill>
                <a:latin typeface="Calibri"/>
              </a:rPr>
              <a:t>  modelcontextprotocol.io — the protocol itself.</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82880" cy="18288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4320"/>
            <a:ext cx="10515600" cy="502920"/>
          </a:xfrm>
          <a:prstGeom prst="rect">
            <a:avLst/>
          </a:prstGeom>
          <a:noFill/>
        </p:spPr>
        <p:txBody>
          <a:bodyPr wrap="square" lIns="0" rIns="0" tIns="0" bIns="0" anchor="ctr">
            <a:spAutoFit/>
          </a:bodyPr>
          <a:lstStyle/>
          <a:p>
            <a:pPr algn="l"/>
            <a:r>
              <a:rPr sz="2800" b="1" i="0">
                <a:solidFill>
                  <a:srgbClr val="FFFFFF"/>
                </a:solidFill>
                <a:latin typeface="Calibri"/>
              </a:rPr>
              <a:t>Stay in touch</a:t>
            </a:r>
          </a:p>
        </p:txBody>
      </p:sp>
      <p:sp>
        <p:nvSpPr>
          <p:cNvPr id="5" name="Rectangle 4"/>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
        <p:nvSpPr>
          <p:cNvPr id="7" name="Rectangle 6"/>
          <p:cNvSpPr/>
          <p:nvPr/>
        </p:nvSpPr>
        <p:spPr>
          <a:xfrm>
            <a:off x="548640" y="1417320"/>
            <a:ext cx="164592" cy="484632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6858000" cy="640080"/>
          </a:xfrm>
          <a:prstGeom prst="rect">
            <a:avLst/>
          </a:prstGeom>
          <a:noFill/>
        </p:spPr>
        <p:txBody>
          <a:bodyPr wrap="square" lIns="0" rIns="0" tIns="0" bIns="0" anchor="t">
            <a:spAutoFit/>
          </a:bodyPr>
          <a:lstStyle/>
          <a:p>
            <a:pPr algn="l"/>
            <a:r>
              <a:rPr sz="2800" b="1" i="0">
                <a:solidFill>
                  <a:srgbClr val="0B1B3F"/>
                </a:solidFill>
                <a:latin typeface="Calibri"/>
              </a:rPr>
              <a:t>I want to see what you build</a:t>
            </a:r>
          </a:p>
        </p:txBody>
      </p:sp>
      <p:sp>
        <p:nvSpPr>
          <p:cNvPr id="9" name="TextBox 8"/>
          <p:cNvSpPr txBox="1"/>
          <p:nvPr/>
        </p:nvSpPr>
        <p:spPr>
          <a:xfrm>
            <a:off x="914400" y="2286000"/>
            <a:ext cx="6858000" cy="3657600"/>
          </a:xfrm>
          <a:prstGeom prst="rect">
            <a:avLst/>
          </a:prstGeom>
          <a:noFill/>
        </p:spPr>
        <p:txBody>
          <a:bodyPr wrap="square" lIns="0" rIns="0" tIns="0" bIns="0">
            <a:spAutoFit/>
          </a:bodyPr>
          <a:lstStyle/>
          <a:p>
            <a:pPr algn="l" indent="-228600" marL="228600">
              <a:spcAft>
                <a:spcPts val="1200"/>
              </a:spcAft>
              <a:buChar char="•"/>
            </a:pPr>
            <a:r>
              <a:rPr sz="1500" b="1">
                <a:solidFill>
                  <a:srgbClr val="0F172A"/>
                </a:solidFill>
                <a:latin typeface="Calibri"/>
              </a:rPr>
              <a:t>Website</a:t>
            </a:r>
            <a:r>
              <a:rPr sz="1500">
                <a:solidFill>
                  <a:srgbClr val="0F172A"/>
                </a:solidFill>
                <a:latin typeface="Calibri"/>
              </a:rPr>
              <a:t>  techtrainertim.com</a:t>
            </a:r>
          </a:p>
          <a:p>
            <a:pPr algn="l" indent="-228600" marL="228600">
              <a:spcAft>
                <a:spcPts val="1200"/>
              </a:spcAft>
              <a:buChar char="•"/>
            </a:pPr>
            <a:r>
              <a:rPr sz="1500" b="1">
                <a:solidFill>
                  <a:srgbClr val="0F172A"/>
                </a:solidFill>
                <a:latin typeface="Calibri"/>
              </a:rPr>
              <a:t>LinkedIn</a:t>
            </a:r>
            <a:r>
              <a:rPr sz="1500">
                <a:solidFill>
                  <a:srgbClr val="0F172A"/>
                </a:solidFill>
                <a:latin typeface="Calibri"/>
              </a:rPr>
              <a:t>  linkedin.com/in/timothywarner</a:t>
            </a:r>
          </a:p>
          <a:p>
            <a:pPr algn="l" indent="-228600" marL="228600">
              <a:spcAft>
                <a:spcPts val="1200"/>
              </a:spcAft>
              <a:buChar char="•"/>
            </a:pPr>
            <a:r>
              <a:rPr sz="1500" b="1">
                <a:solidFill>
                  <a:srgbClr val="0F172A"/>
                </a:solidFill>
                <a:latin typeface="Calibri"/>
              </a:rPr>
              <a:t>GitHub</a:t>
            </a:r>
            <a:r>
              <a:rPr sz="1500">
                <a:solidFill>
                  <a:srgbClr val="0F172A"/>
                </a:solidFill>
                <a:latin typeface="Calibri"/>
              </a:rPr>
              <a:t>  github.com/timothywarner-org</a:t>
            </a:r>
          </a:p>
          <a:p>
            <a:pPr algn="l" indent="-228600" marL="228600">
              <a:spcAft>
                <a:spcPts val="1200"/>
              </a:spcAft>
              <a:buChar char="•"/>
            </a:pPr>
            <a:r>
              <a:rPr sz="1500" b="1">
                <a:solidFill>
                  <a:srgbClr val="0F172A"/>
                </a:solidFill>
                <a:latin typeface="Calibri"/>
              </a:rPr>
              <a:t>YouTube</a:t>
            </a:r>
            <a:r>
              <a:rPr sz="1500">
                <a:solidFill>
                  <a:srgbClr val="0F172A"/>
                </a:solidFill>
                <a:latin typeface="Calibri"/>
              </a:rPr>
              <a:t>  youtube.com/@TechTrainerTim — agentic AI walkthroughs land weekly</a:t>
            </a:r>
          </a:p>
          <a:p>
            <a:pPr algn="l" indent="-228600" marL="228600">
              <a:spcAft>
                <a:spcPts val="1200"/>
              </a:spcAft>
              <a:buChar char="•"/>
            </a:pPr>
            <a:r>
              <a:rPr sz="1500" b="1">
                <a:solidFill>
                  <a:srgbClr val="0F172A"/>
                </a:solidFill>
                <a:latin typeface="Calibri"/>
              </a:rPr>
              <a:t>O'Reilly</a:t>
            </a:r>
            <a:r>
              <a:rPr sz="1500">
                <a:solidFill>
                  <a:srgbClr val="0F172A"/>
                </a:solidFill>
                <a:latin typeface="Calibri"/>
              </a:rPr>
              <a:t>  learning.oreilly.com/search/?q=Tim+Warner</a:t>
            </a:r>
          </a:p>
          <a:p>
            <a:pPr algn="l" indent="-228600" marL="228600">
              <a:spcAft>
                <a:spcPts val="1200"/>
              </a:spcAft>
              <a:buChar char="•"/>
            </a:pPr>
            <a:r>
              <a:rPr sz="1500" b="1">
                <a:solidFill>
                  <a:srgbClr val="0F172A"/>
                </a:solidFill>
                <a:latin typeface="Calibri"/>
              </a:rPr>
              <a:t>Pluralsight</a:t>
            </a:r>
            <a:r>
              <a:rPr sz="1500">
                <a:solidFill>
                  <a:srgbClr val="0F172A"/>
                </a:solidFill>
                <a:latin typeface="Calibri"/>
              </a:rPr>
              <a:t>  pluralsight.com/authors/tim-warner</a:t>
            </a:r>
          </a:p>
        </p:txBody>
      </p:sp>
      <p:sp>
        <p:nvSpPr>
          <p:cNvPr id="10" name="Rectangle 9"/>
          <p:cNvSpPr/>
          <p:nvPr/>
        </p:nvSpPr>
        <p:spPr>
          <a:xfrm>
            <a:off x="8046720" y="1417320"/>
            <a:ext cx="3657600" cy="4846320"/>
          </a:xfrm>
          <a:prstGeom prst="rect">
            <a:avLst/>
          </a:prstGeom>
          <a:solidFill>
            <a:srgbClr val="071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40"/>
            <a:ext cx="3291840" cy="457200"/>
          </a:xfrm>
          <a:prstGeom prst="rect">
            <a:avLst/>
          </a:prstGeom>
          <a:noFill/>
        </p:spPr>
        <p:txBody>
          <a:bodyPr wrap="square" lIns="0" rIns="0" tIns="0" bIns="0" anchor="t">
            <a:spAutoFit/>
          </a:bodyPr>
          <a:lstStyle/>
          <a:p>
            <a:pPr algn="l"/>
            <a:r>
              <a:rPr sz="1600" b="1" i="0">
                <a:solidFill>
                  <a:srgbClr val="FFB703"/>
                </a:solidFill>
                <a:latin typeface="Calibri"/>
              </a:rPr>
              <a:t>If this helped</a:t>
            </a:r>
          </a:p>
        </p:txBody>
      </p:sp>
      <p:sp>
        <p:nvSpPr>
          <p:cNvPr id="12" name="TextBox 11"/>
          <p:cNvSpPr txBox="1"/>
          <p:nvPr/>
        </p:nvSpPr>
        <p:spPr>
          <a:xfrm>
            <a:off x="8229600" y="2331720"/>
            <a:ext cx="3291840" cy="3657600"/>
          </a:xfrm>
          <a:prstGeom prst="rect">
            <a:avLst/>
          </a:prstGeom>
          <a:noFill/>
        </p:spPr>
        <p:txBody>
          <a:bodyPr wrap="square" lIns="0" rIns="0" tIns="0" bIns="0" anchor="t">
            <a:spAutoFit/>
          </a:bodyPr>
          <a:lstStyle/>
          <a:p>
            <a:pPr algn="l"/>
            <a:r>
              <a:rPr sz="1400" b="0" i="0">
                <a:solidFill>
                  <a:srgbClr val="FFFFFF"/>
                </a:solidFill>
                <a:latin typeface="Calibri"/>
              </a:rPr>
              <a:t>Tag me on LinkedIn or YouTube with what you shipped.
The single best thing you can do for an instructor is share the thing you built because of them.
Go make something.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828800" cy="1828800"/>
          </a:xfrm>
          <a:prstGeom prst="rect">
            <a:avLst/>
          </a:prstGeom>
          <a:noFill/>
        </p:spPr>
        <p:txBody>
          <a:bodyPr wrap="square" lIns="0" rIns="0" tIns="0" bIns="0" anchor="t">
            <a:spAutoFit/>
          </a:bodyPr>
          <a:lstStyle/>
          <a:p>
            <a:pPr algn="l"/>
            <a:r>
              <a:rPr sz="20000" b="1" i="0">
                <a:solidFill>
                  <a:srgbClr val="00B4D8"/>
                </a:solidFill>
                <a:latin typeface="Georgia"/>
              </a:rPr>
              <a:t>“</a:t>
            </a:r>
          </a:p>
        </p:txBody>
      </p:sp>
      <p:sp>
        <p:nvSpPr>
          <p:cNvPr id="4" name="TextBox 3"/>
          <p:cNvSpPr txBox="1"/>
          <p:nvPr/>
        </p:nvSpPr>
        <p:spPr>
          <a:xfrm>
            <a:off x="2286000" y="1828800"/>
            <a:ext cx="9144000" cy="2743200"/>
          </a:xfrm>
          <a:prstGeom prst="rect">
            <a:avLst/>
          </a:prstGeom>
          <a:noFill/>
        </p:spPr>
        <p:txBody>
          <a:bodyPr wrap="square" lIns="0" rIns="0" tIns="0" bIns="0" anchor="t">
            <a:spAutoFit/>
          </a:bodyPr>
          <a:lstStyle/>
          <a:p>
            <a:pPr algn="l"/>
            <a:r>
              <a:rPr sz="3200" b="0" i="1">
                <a:solidFill>
                  <a:srgbClr val="0B1B3F"/>
                </a:solidFill>
                <a:latin typeface="Georgia"/>
              </a:rPr>
              <a:t>You do not rise to the level of your goals. You fall to the level of your systems.</a:t>
            </a:r>
          </a:p>
        </p:txBody>
      </p:sp>
      <p:sp>
        <p:nvSpPr>
          <p:cNvPr id="5" name="TextBox 4"/>
          <p:cNvSpPr txBox="1"/>
          <p:nvPr/>
        </p:nvSpPr>
        <p:spPr>
          <a:xfrm>
            <a:off x="2286000" y="5029200"/>
            <a:ext cx="9144000" cy="548640"/>
          </a:xfrm>
          <a:prstGeom prst="rect">
            <a:avLst/>
          </a:prstGeom>
          <a:noFill/>
        </p:spPr>
        <p:txBody>
          <a:bodyPr wrap="square" lIns="0" rIns="0" tIns="0" bIns="0" anchor="t">
            <a:spAutoFit/>
          </a:bodyPr>
          <a:lstStyle/>
          <a:p>
            <a:pPr algn="l"/>
            <a:r>
              <a:rPr sz="1800" b="0" i="0">
                <a:solidFill>
                  <a:srgbClr val="475569"/>
                </a:solidFill>
                <a:latin typeface="Calibri"/>
              </a:rPr>
              <a:t>— James Clear · Atomic Habits</a:t>
            </a:r>
          </a:p>
        </p:txBody>
      </p:sp>
      <p:sp>
        <p:nvSpPr>
          <p:cNvPr id="6" name="TextBox 5"/>
          <p:cNvSpPr txBox="1"/>
          <p:nvPr/>
        </p:nvSpPr>
        <p:spPr>
          <a:xfrm>
            <a:off x="457200" y="6446520"/>
            <a:ext cx="11247120" cy="274320"/>
          </a:xfrm>
          <a:prstGeom prst="rect">
            <a:avLst/>
          </a:prstGeom>
          <a:noFill/>
        </p:spPr>
        <p:txBody>
          <a:bodyPr wrap="square" lIns="0" rIns="0" tIns="0" bIns="0" anchor="t">
            <a:spAutoFit/>
          </a:bodyPr>
          <a:lstStyle/>
          <a:p>
            <a:pPr algn="l"/>
            <a:r>
              <a:rPr sz="1000" b="0" i="1">
                <a:solidFill>
                  <a:srgbClr val="475569"/>
                </a:solidFill>
                <a:latin typeface="Calibri"/>
              </a:rPr>
              <a:t>Tim Warner  |  techtrainertim.com  |  Build Production-Ready AI Agents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7122C"/>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FB7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0"/>
            <a:ext cx="91440" cy="68580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286000"/>
            <a:ext cx="10058400" cy="1828800"/>
          </a:xfrm>
          <a:prstGeom prst="rect">
            <a:avLst/>
          </a:prstGeom>
          <a:noFill/>
        </p:spPr>
        <p:txBody>
          <a:bodyPr wrap="square" lIns="0" rIns="0" tIns="0" bIns="0" anchor="t">
            <a:spAutoFit/>
          </a:bodyPr>
          <a:lstStyle/>
          <a:p>
            <a:pPr algn="l"/>
            <a:r>
              <a:rPr sz="11000" b="1" i="0">
                <a:solidFill>
                  <a:srgbClr val="FFFFFF"/>
                </a:solidFill>
                <a:latin typeface="Calibri"/>
              </a:rPr>
              <a:t>Thank you.</a:t>
            </a:r>
          </a:p>
        </p:txBody>
      </p:sp>
      <p:sp>
        <p:nvSpPr>
          <p:cNvPr id="5" name="TextBox 4"/>
          <p:cNvSpPr txBox="1"/>
          <p:nvPr/>
        </p:nvSpPr>
        <p:spPr>
          <a:xfrm>
            <a:off x="1097280" y="4297680"/>
            <a:ext cx="10058400" cy="731520"/>
          </a:xfrm>
          <a:prstGeom prst="rect">
            <a:avLst/>
          </a:prstGeom>
          <a:noFill/>
        </p:spPr>
        <p:txBody>
          <a:bodyPr wrap="square" lIns="0" rIns="0" tIns="0" bIns="0" anchor="t">
            <a:spAutoFit/>
          </a:bodyPr>
          <a:lstStyle/>
          <a:p>
            <a:pPr algn="l"/>
            <a:r>
              <a:rPr sz="2200" b="0" i="1">
                <a:solidFill>
                  <a:srgbClr val="00B4D8"/>
                </a:solidFill>
                <a:latin typeface="Calibri"/>
              </a:rPr>
              <a:t>Q&amp;A is open · drop questions in the Q&amp;A window.</a:t>
            </a:r>
          </a:p>
        </p:txBody>
      </p:sp>
      <p:sp>
        <p:nvSpPr>
          <p:cNvPr id="6" name="TextBox 5"/>
          <p:cNvSpPr txBox="1"/>
          <p:nvPr/>
        </p:nvSpPr>
        <p:spPr>
          <a:xfrm>
            <a:off x="1097280" y="5669280"/>
            <a:ext cx="10058400" cy="457200"/>
          </a:xfrm>
          <a:prstGeom prst="rect">
            <a:avLst/>
          </a:prstGeom>
          <a:noFill/>
        </p:spPr>
        <p:txBody>
          <a:bodyPr wrap="square" lIns="0" rIns="0" tIns="0" bIns="0" anchor="t">
            <a:spAutoFit/>
          </a:bodyPr>
          <a:lstStyle/>
          <a:p>
            <a:pPr algn="l"/>
            <a:r>
              <a:rPr sz="1600" b="0" i="0">
                <a:solidFill>
                  <a:srgbClr val="FFFFFF"/>
                </a:solidFill>
                <a:latin typeface="Calibri"/>
              </a:rPr>
              <a:t>Tim Warner  ·  techtrainertim.com  ·  timw.info/agents2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