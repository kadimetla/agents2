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40.xml"/><Relationship Id="rId31" Type="http://schemas.openxmlformats.org/officeDocument/2006/relationships/slide" Target="slides/slide41.xml"/><Relationship Id="rId32" Type="http://schemas.openxmlformats.org/officeDocument/2006/relationships/slide" Target="slides/slide42.xml"/><Relationship Id="rId33" Type="http://schemas.openxmlformats.org/officeDocument/2006/relationships/slide" Target="slides/slide43.xml"/><Relationship Id="rId34" Type="http://schemas.openxmlformats.org/officeDocument/2006/relationships/slide" Target="slides/slide44.xml"/><Relationship Id="rId35" Type="http://schemas.openxmlformats.org/officeDocument/2006/relationships/slide" Target="slides/slide45.xml"/><Relationship Id="rId36" Type="http://schemas.openxmlformats.org/officeDocument/2006/relationships/slide" Target="slides/slide46.xml"/><Relationship Id="rId37" Type="http://schemas.openxmlformats.org/officeDocument/2006/relationships/slide" Target="slides/slide47.xml"/><Relationship Id="rId38" Type="http://schemas.openxmlformats.org/officeDocument/2006/relationships/slide" Target="slides/slide48.xml"/><Relationship Id="rId39" Type="http://schemas.openxmlformats.org/officeDocument/2006/relationships/slide" Target="slides/slide49.xml"/><Relationship Id="rId40" Type="http://schemas.openxmlformats.org/officeDocument/2006/relationships/slide" Target="slides/slide50.xml"/><Relationship Id="rId41" Type="http://schemas.openxmlformats.org/officeDocument/2006/relationships/slide" Target="slides/slide51.xml"/><Relationship Id="rId42" Type="http://schemas.openxmlformats.org/officeDocument/2006/relationships/slide" Target="slides/slide52.xml"/><Relationship Id="rId43" Type="http://schemas.openxmlformats.org/officeDocument/2006/relationships/slide" Target="slides/slide53.xml"/><Relationship Id="rId44" Type="http://schemas.openxmlformats.org/officeDocument/2006/relationships/slide" Target="slides/slide54.xml"/><Relationship Id="rId45" Type="http://schemas.openxmlformats.org/officeDocument/2006/relationships/slide" Target="slides/slide55.xml"/><Relationship Id="rId46" Type="http://schemas.openxmlformats.org/officeDocument/2006/relationships/slide" Target="slides/slide56.xml"/><Relationship Id="rId47" Type="http://schemas.openxmlformats.org/officeDocument/2006/relationships/slide" Target="slides/slide57.xml"/><Relationship Id="rId48" Type="http://schemas.openxmlformats.org/officeDocument/2006/relationships/slide" Target="slides/slide58.xml"/><Relationship Id="rId49" Type="http://schemas.openxmlformats.org/officeDocument/2006/relationships/slide" Target="slides/slide59.xml"/><Relationship Id="rId50" Type="http://schemas.openxmlformats.org/officeDocument/2006/relationships/slide" Target="slides/slide60.xml"/><Relationship Id="rId51" Type="http://schemas.openxmlformats.org/officeDocument/2006/relationships/slide" Target="slides/slide61.xml"/><Relationship Id="rId52" Type="http://schemas.openxmlformats.org/officeDocument/2006/relationships/slide" Target="slides/slide62.xml"/><Relationship Id="rId53" Type="http://schemas.openxmlformats.org/officeDocument/2006/relationships/slide" Target="slides/slide63.xml"/><Relationship Id="rId54" Type="http://schemas.openxmlformats.org/officeDocument/2006/relationships/slide" Target="slides/slide64.xml"/><Relationship Id="rId55" Type="http://schemas.openxmlformats.org/officeDocument/2006/relationships/slide" Target="slides/slide65.xml"/><Relationship Id="rId56" Type="http://schemas.openxmlformats.org/officeDocument/2006/relationships/slide" Target="slides/slide66.xml"/><Relationship Id="rId57" Type="http://schemas.openxmlformats.org/officeDocument/2006/relationships/slide" Target="slides/slide67.xml"/><Relationship Id="rId58" Type="http://schemas.openxmlformats.org/officeDocument/2006/relationships/slide" Target="slides/slide68.xml"/><Relationship Id="rId59" Type="http://schemas.openxmlformats.org/officeDocument/2006/relationships/slide" Target="slides/slide69.xml"/><Relationship Id="rId60" Type="http://schemas.openxmlformats.org/officeDocument/2006/relationships/slide" Target="slides/slide70.xml"/><Relationship Id="rId61" Type="http://schemas.openxmlformats.org/officeDocument/2006/relationships/slide" Target="slides/slide71.xml"/><Relationship Id="rId62" Type="http://schemas.openxmlformats.org/officeDocument/2006/relationships/slide" Target="slides/slide72.xml"/><Relationship Id="rId63" Type="http://schemas.openxmlformats.org/officeDocument/2006/relationships/slide" Target="slides/slide73.xml"/><Relationship Id="rId64" Type="http://schemas.openxmlformats.org/officeDocument/2006/relationships/slide" Target="slides/slide74.xml"/><Relationship Id="rId65" Type="http://schemas.openxmlformats.org/officeDocument/2006/relationships/slide" Target="slides/slide75.xml"/><Relationship Id="rId66" Type="http://schemas.openxmlformats.org/officeDocument/2006/relationships/slide" Target="slides/slide76.xml"/><Relationship Id="rId67" Type="http://schemas.openxmlformats.org/officeDocument/2006/relationships/slide" Target="slides/slide77.xml"/><Relationship Id="rId68" Type="http://schemas.openxmlformats.org/officeDocument/2006/relationships/slide" Target="slides/slide78.xml"/><Relationship Id="rId69" Type="http://schemas.openxmlformats.org/officeDocument/2006/relationships/slide" Target="slides/slide79.xml"/><Relationship Id="rId70" Type="http://schemas.openxmlformats.org/officeDocument/2006/relationships/slide" Target="slides/slide80.xml"/><Relationship Id="rId71" Type="http://schemas.openxmlformats.org/officeDocument/2006/relationships/slide" Target="slides/slide81.xml"/><Relationship Id="rId72" Type="http://schemas.openxmlformats.org/officeDocument/2006/relationships/slide" Target="slides/slide82.xml"/><Relationship Id="rId73" Type="http://schemas.openxmlformats.org/officeDocument/2006/relationships/slide" Target="slides/slide83.xml"/><Relationship Id="rId74" Type="http://schemas.openxmlformats.org/officeDocument/2006/relationships/slide" Target="slides/slide84.xml"/><Relationship Id="rId75" Type="http://schemas.openxmlformats.org/officeDocument/2006/relationships/slide" Target="slides/slide85.xml"/><Relationship Id="rId76" Type="http://schemas.openxmlformats.org/officeDocument/2006/relationships/slide" Target="slides/slide86.xml"/><Relationship Id="rId77" Type="http://schemas.openxmlformats.org/officeDocument/2006/relationships/slide" Target="slides/slide87.xml"/><Relationship Id="rId78" Type="http://schemas.openxmlformats.org/officeDocument/2006/relationships/slide" Target="slides/slide88.xml"/><Relationship Id="rId79" Type="http://schemas.openxmlformats.org/officeDocument/2006/relationships/slide" Target="slides/slide89.xml"/><Relationship Id="rId80" Type="http://schemas.openxmlformats.org/officeDocument/2006/relationships/slide" Target="slides/slide90.xml"/><Relationship Id="rId81" Type="http://schemas.openxmlformats.org/officeDocument/2006/relationships/slide" Target="slides/slide91.xml"/><Relationship Id="rId82" Type="http://schemas.openxmlformats.org/officeDocument/2006/relationships/slide" Target="slides/slide92.xml"/><Relationship Id="rId83" Type="http://schemas.openxmlformats.org/officeDocument/2006/relationships/slide" Target="slides/slide93.xml"/><Relationship Id="rId84" Type="http://schemas.openxmlformats.org/officeDocument/2006/relationships/slide" Target="slides/slide94.xml"/><Relationship Id="rId85" Type="http://schemas.openxmlformats.org/officeDocument/2006/relationships/slide" Target="slides/slide95.xml"/><Relationship Id="rId86" Type="http://schemas.openxmlformats.org/officeDocument/2006/relationships/slide" Target="slides/slide96.xml"/><Relationship Id="rId87" Type="http://schemas.openxmlformats.org/officeDocument/2006/relationships/slide" Target="slides/slide97.xml"/><Relationship Id="rId88" Type="http://schemas.openxmlformats.org/officeDocument/2006/relationships/slide" Target="slides/slide98.xml"/><Relationship Id="rId89" Type="http://schemas.openxmlformats.org/officeDocument/2006/relationships/slide" Target="slides/slide23.xml"/><Relationship Id="rId90" Type="http://schemas.openxmlformats.org/officeDocument/2006/relationships/slide" Target="slides/slide24.xml"/><Relationship Id="rId91" Type="http://schemas.openxmlformats.org/officeDocument/2006/relationships/slide" Target="slides/slide25.xml"/><Relationship Id="rId92" Type="http://schemas.openxmlformats.org/officeDocument/2006/relationships/slide" Target="slides/slide26.xml"/><Relationship Id="rId93" Type="http://schemas.openxmlformats.org/officeDocument/2006/relationships/slide" Target="slides/slide27.xml"/><Relationship Id="rId94" Type="http://schemas.openxmlformats.org/officeDocument/2006/relationships/slide" Target="slides/slide28.xml"/><Relationship Id="rId95" Type="http://schemas.openxmlformats.org/officeDocument/2006/relationships/slide" Target="slides/slide29.xml"/><Relationship Id="rId96" Type="http://schemas.openxmlformats.org/officeDocument/2006/relationships/slide" Target="slides/slide30.xml"/><Relationship Id="rId97" Type="http://schemas.openxmlformats.org/officeDocument/2006/relationships/slide" Target="slides/slide31.xml"/><Relationship Id="rId98" Type="http://schemas.openxmlformats.org/officeDocument/2006/relationships/slide" Target="slides/slide32.xml"/><Relationship Id="rId99" Type="http://schemas.openxmlformats.org/officeDocument/2006/relationships/slide" Target="slides/slide33.xml"/><Relationship Id="rId100" Type="http://schemas.openxmlformats.org/officeDocument/2006/relationships/slide" Target="slides/slide34.xml"/><Relationship Id="rId101" Type="http://schemas.openxmlformats.org/officeDocument/2006/relationships/slide" Target="slides/slide35.xml"/><Relationship Id="rId102" Type="http://schemas.openxmlformats.org/officeDocument/2006/relationships/slide" Target="slides/slide36.xml"/><Relationship Id="rId103" Type="http://schemas.openxmlformats.org/officeDocument/2006/relationships/slide" Target="slides/slide37.xml"/><Relationship Id="rId104" Type="http://schemas.openxmlformats.org/officeDocument/2006/relationships/slide" Target="slides/slide38.xml"/><Relationship Id="rId105"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Quick personal context. Lean into the practitioner angle.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Show the arc up front. The 70% demo number sets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Get them to clone immediately. Highest-leverage first 5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Anchor everything to this map. Every demo we run touches one of these files.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Set norms. Lurk-watch is fine.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Standard housekeeping. Move through in under 60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Make it psychologically safe.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Pin the deliverable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difference is action. Use the calendar example: chatbot says 'I don't have access', agent checks the calendar and books the slot.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ReAct = Reasoning + Acting (Yao et al., 2022, arXiv:2210.03629).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pillars show up in every framework. Memorize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We'll use ReAct (Claude Code), multi-agent + DAG (LangGraph + CrewAI). Don't use a hierarchy unless you must.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Walk through every section. Show the real prompts.py file. Note the fabrication guard ('never fabricate policy details') — that's a guardrail in plain English.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Don't frame these as competing. Most enterprises use both.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Live demo. Surface tool calls visibly. Count out loud.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Pre-built helps. Have empty copilot ready.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Be opinionated. If you're a developer with a non-trivial workflow, code-first wins.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lessons from production agent rollouts gone sideways.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Recap, then bridge.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Realistic-but-self-contained sample. Every production pattern legible inside ~3K LOC.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full picture in four swim lanes. Trace a request end-to-end: chat.html → /api/chat → ChatConcierge → query_hr_policy → ChromaDB → Azure embeddings.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Each layer does one job. LangGraph = when. CrewAI = who. ChromaDB = what we know. Foundry = brain. FastMCP = doorway out.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fields you need to remember for every CrewAI agent. The pattern repeats for ResumeAnalyst, DecisionMaker, ChatConcierge.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docstring is the user manual the LLM reads. Source citations let the agent quote sources back to the user.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DecisionMaker has no tools on purpose. Tools = blast radius.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Highest-leverage slide of hour 2. Walk slowly. Both branches MUST complete before decision_maker fires.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add_edge() FROM intake = fan-out. Two add_edge() INTO decision_maker = fan-in. SqliteSaver checkpoints state at every node boundary.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teaching moment is the OVERLAP between policy_expert and resume_analyst (4s→18s). Sequential would take ~28s; parallel takes ~23s.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TypedDict + total=False is the magic. Each parallel node returns ONLY its keys. LangGraph merges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Each model in models.py. Pydantic gives you validation for free. Literal['Strong Match', ...] means the LLM CANNOT return a 5th disposition — it'll fail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Four buckets — three is too coarse, five+ paralyzes humans. Luminance differs (light cyan, mid amber, mid navy, deep navy) — works for colorblind.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runs.html is the money shot. Point at timestamps proving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End-to-end traceability: input resume → output JSON. Show this in the actual UI live. The reasoning field is the critical accountability surface — humans can audit the agent's logic.</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localStorage = client speed. JSON files = server durability. The past-session context is the bridge that makes Alex feel like he remembers you across sessions.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Don't skip the debugger. People debug agents with print() and lose hours.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Three layers: model validation (fast, deterministic), tool unit tests (mocked), integration tests (real LLM, slow). Run unit tests on every commit; integration on PRs.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Recap, then bridge into hour 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MCP shrinks N×M to N+M. That's the entire economic case.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Three pieces. Same protocol, multiple transports.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All five primitives. Most teams stop at tools. Sampling and elicitation let the SERVER drive.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Eight lines of decorator + body = a real MCP tool.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Sampling is the most under-used primitive. Server stays LLM-agnostic.</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Elicitation = human-in-the-loop primitive. Use it whenever a tool spends real money.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Resources = nouns. Tools = verbs. Use parameterized templates for dynamic reads.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two primitives are how you graduate to agent-platform engineer.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RAG in 6 steps. Most production issues live at chunk boundaries or top-k tuning.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Top: ingestion (run once via uv run hr-seed). Bottom: query (every time the agent needs policy context). The vectorizer and retriever live in the knowledge/ subpackage.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Inspector is the killer dev tool. Iterate against Inspector first, then wire Claude Desktop.</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Standard Claude Desktop MCP config. The cwd matters — the server boots its own ChromaDB connection from the project root. Restart Claude Desktop from the SYSTEM TRAY, not just the window.</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Live demo: have Claude Code build a knowledge_summary MCP tool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what 'vibe coding' looks like. You write the spec; Claude writes the code; you review the diff. Don't accept blindly. Ask 'why this approach?' Ask 'what could break?'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Recap, then bridge into hour 4.</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Source: learn.microsoft.com/azure/foundry/agents/overview.</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Source: learn.microsoft.com/azure/foundry/agents/overview. The six pieces of the managed runtime. You can opt out of any of them by hosting your own agent on Container Apps instead.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stages. Don't skip evaluate — it's the regression test for your agent.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lanes is enough to anchor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End-to-end production topology. Note the four horizontal bands: control plane, data plane, security, observability. Plus the CI/CD lane below. This is what 'shipping an agent' actually looks like.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Source: learn.microsoft.com/azure/container-apps/ai-integration.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No keys in code, no keys in env vars. Key Vault references via managed identity. Scale-to-zero saves money on cold workloads. This is the production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APIM is the most underused piece of Azure for AI workloads.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full inbound + outbound policy chain. Inbound enforces what gets through; outbound observes what came back. Semantic cache appears on both sides — lookup inbound, store outbound.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policies that together give you auth, cost control, content safety, semantic cache, and telemetry. This is the minimum viable production AI gateway.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Source: learn.microsoft.com/azure/foundry/guardrails. Most teams only think input + output. XPIA is the rising threat.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threats every production agent must defend against. Each pairs with a defense. Most teams forget XPIA and tool abuse — those bite hardest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Logs / metrics / traces is standard SRE. For agents add a fourth: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Numbers are rough but realistic. Cost engineering matters above 1K runs/day. Model routing is the biggest single lever — gpt-5.4 for reasoning, gpt-4o-mini for retrieval steps.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Pull every lever in production. Model routing is the biggest win.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Without an evaluation set, you're shipping non-deterministic code with no regression coverage.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Don't ship a model upgrade to all users at once.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mine, refined across the Pluralsight catalog and the agents I've shipped.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Pin the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paths so people self-select.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Bookmark this slide. Every URL is first-party.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Personal close.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Optional final slide. Production AI is a systems game.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adoption arc honestly. Most teams ship a Copilot Studio agent before they ship a LangGraph one. That is not a compromise, it is how the funnel works. Then preview Hour 3: same Contoso HR Agent, code version, next hour.</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Do not dwell. Most of the audience has seen Copilot Studio; the build is where the value is. 90 seconds max.</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Show the FINISHED agent first (already-built tenant) so they know what success looks like. Then we walk the build together.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Conference Wi-Fi is hostile. SharePoint introduces tenant scoping and conditional access risk. State explicitly why we picked the public URL. Learners will ask.</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Global vs. topic variables is the #1 question in every Copilot Studio session. Topic-scope dies at end of topic; global-scope lives the whole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Longest build step, about 10 minutes. Narrate each click. Slot-fill rhythm: trigger, ask name, ask role, ask years, set global, generate, render card, email.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JSON, then show rendered card side by side. Learners lightbulb moment usually fires here. Reinforce that cards are reusable across Teams, Outlook actionable messages, and Power Apps.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Fastest topic to build, about 4 minutes. Point out you are reusing the same knowledge source from Topic 1. Knowledge is agent-scoped, not topic-scoped.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topic earns the global-variable slide its keep. Run BEFORE Topic 1 (should say no candidate yet). Then run Topic 1. Then run Topic 3 again. Live state persistence demo.</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out pre-authorization explicitly. When learners build this on their own, the first-time OAuth popup can hide behind the browser and stall the topic. Authorize once before you demo.</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Number-one trip-up. Spend 30 seconds on modelDescription. Show a good one vs. a bad one if time allows. Example: triggers only when the user provides a NEW candidate vs. triggers when the user asks about a PREVIOUSLY evaluated candidate.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Have Teams pre-pinned to a second monitor. Run the full flow: trigger Topic 1 in Teams, slot-fill, see the card, switch to Outlook, show the email. About 3 minutes if everything is warm.</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a full 3-4 minutes here. Debug is where learners get stuck on their own. Show the test pane. Show one intentional failure (e.g., comment out the SetVariable, ask Topic 3, get the empty-state message).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the rest of Hour 2 (LangGraph code version). Both sides are valid. Most production landscapes have both. Do not frame as Copilot Studio vs. LangGraph. Frame as choosing per agent.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proud-moment slide. Then transition: Now let us see the SAME agent in code. Coming up: LangGraph + CrewAI version of the Contoso HR Agent.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bridge slide. Do not skip. Tell learners: 'You just shipped an agent. Now I am going to show you the same agent built the hard way, and you will see exactly when the hard way is worth it.' Then the existing slide 23 (HOUR 2 . THE APP) takes over.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mini-Q&amp;A before pivoting to the LangGraph block. If running tight on time, skip this slide and go straight into the existing slide 23.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22C"/>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91440" cy="68580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058400" cy="457200"/>
          </a:xfrm>
          <a:prstGeom prst="rect">
            <a:avLst/>
          </a:prstGeom>
          <a:noFill/>
        </p:spPr>
        <p:txBody>
          <a:bodyPr wrap="square" lIns="0" rIns="0" tIns="0" bIns="0" anchor="t">
            <a:spAutoFit/>
          </a:bodyPr>
          <a:lstStyle/>
          <a:p>
            <a:pPr algn="l"/>
            <a:r>
              <a:rPr sz="1400" b="1" i="0">
                <a:solidFill>
                  <a:srgbClr val="FFB703"/>
                </a:solidFill>
                <a:latin typeface="Calibri"/>
              </a:rPr>
              <a:t>O'REILLY LIVE LEARNING  ·  4 HOURS  ·  HANDS-ON</a:t>
            </a:r>
          </a:p>
        </p:txBody>
      </p:sp>
      <p:sp>
        <p:nvSpPr>
          <p:cNvPr id="5" name="TextBox 4"/>
          <p:cNvSpPr txBox="1"/>
          <p:nvPr/>
        </p:nvSpPr>
        <p:spPr>
          <a:xfrm>
            <a:off x="1097280" y="1737360"/>
            <a:ext cx="10058400" cy="2011680"/>
          </a:xfrm>
          <a:prstGeom prst="rect">
            <a:avLst/>
          </a:prstGeom>
          <a:noFill/>
        </p:spPr>
        <p:txBody>
          <a:bodyPr wrap="square" lIns="0" rIns="0" tIns="0" bIns="0" anchor="t">
            <a:spAutoFit/>
          </a:bodyPr>
          <a:lstStyle/>
          <a:p>
            <a:pPr algn="l"/>
            <a:r>
              <a:rPr sz="5400" b="1" i="0">
                <a:solidFill>
                  <a:srgbClr val="FFFFFF"/>
                </a:solidFill>
                <a:latin typeface="Calibri"/>
              </a:rPr>
              <a:t>Build Production-Ready AI Agents</a:t>
            </a:r>
          </a:p>
        </p:txBody>
      </p:sp>
      <p:sp>
        <p:nvSpPr>
          <p:cNvPr id="6" name="TextBox 5"/>
          <p:cNvSpPr txBox="1"/>
          <p:nvPr/>
        </p:nvSpPr>
        <p:spPr>
          <a:xfrm>
            <a:off x="1097280" y="3840480"/>
            <a:ext cx="10058400" cy="1188720"/>
          </a:xfrm>
          <a:prstGeom prst="rect">
            <a:avLst/>
          </a:prstGeom>
          <a:noFill/>
        </p:spPr>
        <p:txBody>
          <a:bodyPr wrap="square" lIns="0" rIns="0" tIns="0" bIns="0" anchor="t">
            <a:spAutoFit/>
          </a:bodyPr>
          <a:lstStyle/>
          <a:p>
            <a:pPr algn="l"/>
            <a:r>
              <a:rPr sz="2400" b="0" i="1">
                <a:solidFill>
                  <a:srgbClr val="00B4D8"/>
                </a:solidFill>
                <a:latin typeface="Calibri"/>
              </a:rPr>
              <a:t>From your first ReAct loop to a parallel multi-agent pipeline on Azure — in four hours.</a:t>
            </a:r>
          </a:p>
        </p:txBody>
      </p:sp>
      <p:sp>
        <p:nvSpPr>
          <p:cNvPr id="7" name="TextBox 6"/>
          <p:cNvSpPr txBox="1"/>
          <p:nvPr/>
        </p:nvSpPr>
        <p:spPr>
          <a:xfrm>
            <a:off x="1097280" y="5669280"/>
            <a:ext cx="10058400" cy="457200"/>
          </a:xfrm>
          <a:prstGeom prst="rect">
            <a:avLst/>
          </a:prstGeom>
          <a:noFill/>
        </p:spPr>
        <p:txBody>
          <a:bodyPr wrap="square" lIns="0" rIns="0" tIns="0" bIns="0" anchor="t">
            <a:spAutoFit/>
          </a:bodyPr>
          <a:lstStyle/>
          <a:p>
            <a:pPr algn="l"/>
            <a:r>
              <a:rPr sz="1600" b="0" i="0">
                <a:solidFill>
                  <a:srgbClr val="FFFFFF"/>
                </a:solidFill>
                <a:latin typeface="Calibri"/>
              </a:rPr>
              <a:t>Tim Warner  ·  Microsoft MVP, Microsoft Certified Trainer  ·  techtrainertim.com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About your instructor</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417320"/>
            <a:ext cx="164592" cy="48463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6858000" cy="640080"/>
          </a:xfrm>
          <a:prstGeom prst="rect">
            <a:avLst/>
          </a:prstGeom>
          <a:noFill/>
        </p:spPr>
        <p:txBody>
          <a:bodyPr wrap="square" lIns="0" rIns="0" tIns="0" bIns="0" anchor="t">
            <a:spAutoFit/>
          </a:bodyPr>
          <a:lstStyle/>
          <a:p>
            <a:pPr algn="l"/>
            <a:r>
              <a:rPr sz="2800" b="1" i="0">
                <a:solidFill>
                  <a:srgbClr val="0B1B3F"/>
                </a:solidFill>
                <a:latin typeface="Calibri"/>
              </a:rPr>
              <a:t>Tim Warner — TechTrainerTim</a:t>
            </a:r>
          </a:p>
        </p:txBody>
      </p:sp>
      <p:sp>
        <p:nvSpPr>
          <p:cNvPr id="9" name="TextBox 8"/>
          <p:cNvSpPr txBox="1"/>
          <p:nvPr/>
        </p:nvSpPr>
        <p:spPr>
          <a:xfrm>
            <a:off x="914400" y="2194560"/>
            <a:ext cx="6858000" cy="4023360"/>
          </a:xfrm>
          <a:prstGeom prst="rect">
            <a:avLst/>
          </a:prstGeom>
          <a:noFill/>
        </p:spPr>
        <p:txBody>
          <a:bodyPr wrap="square" lIns="0" rIns="0" tIns="0" bIns="0">
            <a:spAutoFit/>
          </a:bodyPr>
          <a:lstStyle/>
          <a:p>
            <a:pPr algn="l" indent="-228600" marL="228600">
              <a:spcAft>
                <a:spcPts val="1000"/>
              </a:spcAft>
              <a:buChar char="•"/>
            </a:pPr>
            <a:r>
              <a:rPr sz="1500" b="1">
                <a:solidFill>
                  <a:srgbClr val="0B1B3F"/>
                </a:solidFill>
                <a:latin typeface="Calibri"/>
              </a:rPr>
              <a:t>Microsoft MVP</a:t>
            </a:r>
            <a:r>
              <a:rPr sz="1500">
                <a:solidFill>
                  <a:srgbClr val="0F172A"/>
                </a:solidFill>
                <a:latin typeface="Calibri"/>
              </a:rPr>
              <a:t>  7 years in Azure AI · 28 years as a Microsoft Certified Trainer.</a:t>
            </a:r>
          </a:p>
          <a:p>
            <a:pPr algn="l" indent="-228600" marL="228600">
              <a:spcAft>
                <a:spcPts val="1000"/>
              </a:spcAft>
              <a:buChar char="•"/>
            </a:pPr>
            <a:r>
              <a:rPr sz="1500" b="1">
                <a:solidFill>
                  <a:srgbClr val="0B1B3F"/>
                </a:solidFill>
                <a:latin typeface="Calibri"/>
              </a:rPr>
              <a:t>Principal Staff Author</a:t>
            </a:r>
            <a:r>
              <a:rPr sz="1500">
                <a:solidFill>
                  <a:srgbClr val="0F172A"/>
                </a:solidFill>
                <a:latin typeface="Calibri"/>
              </a:rPr>
              <a:t>  200+ courses at Pluralsight, plus O'Reilly, Pearson, and LinkedIn Learning.</a:t>
            </a:r>
          </a:p>
          <a:p>
            <a:pPr algn="l" indent="-228600" marL="228600">
              <a:spcAft>
                <a:spcPts val="1000"/>
              </a:spcAft>
              <a:buChar char="•"/>
            </a:pPr>
            <a:r>
              <a:rPr sz="1500" b="1">
                <a:solidFill>
                  <a:srgbClr val="0B1B3F"/>
                </a:solidFill>
                <a:latin typeface="Calibri"/>
              </a:rPr>
              <a:t>Practitioner</a:t>
            </a:r>
            <a:r>
              <a:rPr sz="1500">
                <a:solidFill>
                  <a:srgbClr val="0F172A"/>
                </a:solidFill>
                <a:latin typeface="Calibri"/>
              </a:rPr>
              <a:t>  Currently shipping MCP servers, Azure AI Foundry agents, and Copilot tooling.</a:t>
            </a:r>
          </a:p>
          <a:p>
            <a:pPr algn="l" indent="-228600" marL="228600">
              <a:spcAft>
                <a:spcPts val="1000"/>
              </a:spcAft>
              <a:buChar char="•"/>
            </a:pPr>
            <a:r>
              <a:rPr sz="1500" b="1">
                <a:solidFill>
                  <a:srgbClr val="0B1B3F"/>
                </a:solidFill>
                <a:latin typeface="Calibri"/>
              </a:rPr>
              <a:t>Father, musician, lifelong learner</a:t>
            </a:r>
            <a:r>
              <a:rPr sz="1500">
                <a:solidFill>
                  <a:srgbClr val="0F172A"/>
                </a:solidFill>
                <a:latin typeface="Calibri"/>
              </a:rPr>
              <a:t>  Nashville, TN. Stoic. Single dad to Zoey. Plays a Gibson Les Paul Custom.</a:t>
            </a:r>
          </a:p>
        </p:txBody>
      </p:sp>
      <p:sp>
        <p:nvSpPr>
          <p:cNvPr id="10" name="Rectangle 9"/>
          <p:cNvSpPr/>
          <p:nvPr/>
        </p:nvSpPr>
        <p:spPr>
          <a:xfrm>
            <a:off x="8046720" y="1417320"/>
            <a:ext cx="3657600" cy="48463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291840" cy="457200"/>
          </a:xfrm>
          <a:prstGeom prst="rect">
            <a:avLst/>
          </a:prstGeom>
          <a:noFill/>
        </p:spPr>
        <p:txBody>
          <a:bodyPr wrap="square" lIns="0" rIns="0" tIns="0" bIns="0" anchor="t">
            <a:spAutoFit/>
          </a:bodyPr>
          <a:lstStyle/>
          <a:p>
            <a:pPr algn="l"/>
            <a:r>
              <a:rPr sz="1800" b="1" i="0">
                <a:solidFill>
                  <a:srgbClr val="FFB703"/>
                </a:solidFill>
                <a:latin typeface="Calibri"/>
              </a:rPr>
              <a:t>Stay in touch</a:t>
            </a:r>
          </a:p>
        </p:txBody>
      </p:sp>
      <p:sp>
        <p:nvSpPr>
          <p:cNvPr id="12" name="TextBox 11"/>
          <p:cNvSpPr txBox="1"/>
          <p:nvPr/>
        </p:nvSpPr>
        <p:spPr>
          <a:xfrm>
            <a:off x="8229600" y="2240280"/>
            <a:ext cx="3291840" cy="3657600"/>
          </a:xfrm>
          <a:prstGeom prst="rect">
            <a:avLst/>
          </a:prstGeom>
          <a:noFill/>
        </p:spPr>
        <p:txBody>
          <a:bodyPr wrap="square" lIns="0" rIns="0" tIns="0" bIns="0">
            <a:spAutoFit/>
          </a:bodyPr>
          <a:lstStyle/>
          <a:p>
            <a:pPr algn="l" indent="-228600" marL="228600">
              <a:spcAft>
                <a:spcPts val="800"/>
              </a:spcAft>
              <a:buChar char="•"/>
            </a:pPr>
            <a:r>
              <a:rPr sz="1400">
                <a:solidFill>
                  <a:srgbClr val="FFFFFF"/>
                </a:solidFill>
                <a:latin typeface="Calibri"/>
              </a:rPr>
              <a:t>techtrainertim.com</a:t>
            </a:r>
          </a:p>
          <a:p>
            <a:pPr algn="l" indent="-228600" marL="228600">
              <a:spcAft>
                <a:spcPts val="800"/>
              </a:spcAft>
              <a:buChar char="•"/>
            </a:pPr>
            <a:r>
              <a:rPr sz="1400">
                <a:solidFill>
                  <a:srgbClr val="FFFFFF"/>
                </a:solidFill>
                <a:latin typeface="Calibri"/>
              </a:rPr>
              <a:t>linkedin.com/in/timothywarner</a:t>
            </a:r>
          </a:p>
          <a:p>
            <a:pPr algn="l" indent="-228600" marL="228600">
              <a:spcAft>
                <a:spcPts val="800"/>
              </a:spcAft>
              <a:buChar char="•"/>
            </a:pPr>
            <a:r>
              <a:rPr sz="1400">
                <a:solidFill>
                  <a:srgbClr val="FFFFFF"/>
                </a:solidFill>
                <a:latin typeface="Calibri"/>
              </a:rPr>
              <a:t>github.com/timothywarner-org</a:t>
            </a:r>
          </a:p>
          <a:p>
            <a:pPr algn="l" indent="-228600" marL="228600">
              <a:spcAft>
                <a:spcPts val="800"/>
              </a:spcAft>
              <a:buChar char="•"/>
            </a:pPr>
            <a:r>
              <a:rPr sz="1400">
                <a:solidFill>
                  <a:srgbClr val="FFFFFF"/>
                </a:solidFill>
                <a:latin typeface="Calibri"/>
              </a:rPr>
              <a:t>youtube.com/@TechTrainerTim</a:t>
            </a:r>
          </a:p>
          <a:p>
            <a:pPr algn="l" indent="-228600" marL="228600">
              <a:spcAft>
                <a:spcPts val="800"/>
              </a:spcAft>
              <a:buChar char="•"/>
            </a:pPr>
            <a:r>
              <a:rPr sz="1400">
                <a:solidFill>
                  <a:srgbClr val="FFFFFF"/>
                </a:solidFill>
                <a:latin typeface="Calibri"/>
              </a:rPr>
              <a:t>learning.oreilly.com/search/?q=Tim+Warner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Today's roadmap (Central Time)</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640080" y="1417320"/>
            <a:ext cx="1097280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17320"/>
            <a:ext cx="10972800" cy="457200"/>
          </a:xfrm>
          <a:prstGeom prst="rect">
            <a:avLst/>
          </a:prstGeom>
          <a:noFill/>
        </p:spPr>
        <p:txBody>
          <a:bodyPr wrap="square" lIns="0" rIns="0" tIns="0" bIns="0" anchor="ctr">
            <a:spAutoFit/>
          </a:bodyPr>
          <a:lstStyle/>
          <a:p>
            <a:pPr algn="l"/>
            <a:r>
              <a:rPr sz="1400" b="1" i="0">
                <a:solidFill>
                  <a:srgbClr val="07122C"/>
                </a:solidFill>
                <a:latin typeface="Calibri"/>
              </a:rPr>
              <a:t>Four 60-minute segments  ·  ~70% live demo  ·  Q&amp;A throughout</a:t>
            </a:r>
          </a:p>
        </p:txBody>
      </p:sp>
      <p:sp>
        <p:nvSpPr>
          <p:cNvPr id="9" name="Rectangle 8"/>
          <p:cNvSpPr/>
          <p:nvPr/>
        </p:nvSpPr>
        <p:spPr>
          <a:xfrm>
            <a:off x="640080" y="219456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1463040" cy="594360"/>
          </a:xfrm>
          <a:prstGeom prst="rect">
            <a:avLst/>
          </a:prstGeom>
          <a:noFill/>
        </p:spPr>
        <p:txBody>
          <a:bodyPr wrap="square" lIns="0" rIns="0" tIns="0" bIns="0" anchor="ctr">
            <a:spAutoFit/>
          </a:bodyPr>
          <a:lstStyle/>
          <a:p>
            <a:pPr algn="l"/>
            <a:r>
              <a:rPr sz="2200" b="1" i="0">
                <a:solidFill>
                  <a:srgbClr val="03708A"/>
                </a:solidFill>
                <a:latin typeface="Calibri"/>
              </a:rPr>
              <a:t>09:00</a:t>
            </a:r>
          </a:p>
        </p:txBody>
      </p:sp>
      <p:sp>
        <p:nvSpPr>
          <p:cNvPr id="11" name="TextBox 10"/>
          <p:cNvSpPr txBox="1"/>
          <p:nvPr/>
        </p:nvSpPr>
        <p:spPr>
          <a:xfrm>
            <a:off x="2377440" y="2240280"/>
            <a:ext cx="9144000" cy="411480"/>
          </a:xfrm>
          <a:prstGeom prst="rect">
            <a:avLst/>
          </a:prstGeom>
          <a:noFill/>
        </p:spPr>
        <p:txBody>
          <a:bodyPr wrap="square" lIns="0" rIns="0" tIns="0" bIns="0" anchor="t">
            <a:spAutoFit/>
          </a:bodyPr>
          <a:lstStyle/>
          <a:p>
            <a:pPr algn="l"/>
            <a:r>
              <a:rPr sz="1800" b="1" i="0">
                <a:solidFill>
                  <a:srgbClr val="0B1B3F"/>
                </a:solidFill>
                <a:latin typeface="Calibri"/>
              </a:rPr>
              <a:t>What is an Agent?</a:t>
            </a:r>
          </a:p>
        </p:txBody>
      </p:sp>
      <p:sp>
        <p:nvSpPr>
          <p:cNvPr id="12" name="TextBox 11"/>
          <p:cNvSpPr txBox="1"/>
          <p:nvPr/>
        </p:nvSpPr>
        <p:spPr>
          <a:xfrm>
            <a:off x="2377440" y="2651760"/>
            <a:ext cx="9144000" cy="411480"/>
          </a:xfrm>
          <a:prstGeom prst="rect">
            <a:avLst/>
          </a:prstGeom>
          <a:noFill/>
        </p:spPr>
        <p:txBody>
          <a:bodyPr wrap="square" lIns="0" rIns="0" tIns="0" bIns="0" anchor="t">
            <a:spAutoFit/>
          </a:bodyPr>
          <a:lstStyle/>
          <a:p>
            <a:pPr algn="l"/>
            <a:r>
              <a:rPr sz="1300" b="0" i="1">
                <a:solidFill>
                  <a:srgbClr val="475569"/>
                </a:solidFill>
                <a:latin typeface="Calibri"/>
              </a:rPr>
              <a:t>ReAct loop · Claude Code · Copilot Studio · low-code vs code-first.</a:t>
            </a:r>
          </a:p>
        </p:txBody>
      </p:sp>
      <p:sp>
        <p:nvSpPr>
          <p:cNvPr id="13" name="Rectangle 12"/>
          <p:cNvSpPr/>
          <p:nvPr/>
        </p:nvSpPr>
        <p:spPr>
          <a:xfrm>
            <a:off x="640080" y="315468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291840"/>
            <a:ext cx="1463040" cy="594360"/>
          </a:xfrm>
          <a:prstGeom prst="rect">
            <a:avLst/>
          </a:prstGeom>
          <a:noFill/>
        </p:spPr>
        <p:txBody>
          <a:bodyPr wrap="square" lIns="0" rIns="0" tIns="0" bIns="0" anchor="ctr">
            <a:spAutoFit/>
          </a:bodyPr>
          <a:lstStyle/>
          <a:p>
            <a:pPr algn="l"/>
            <a:r>
              <a:rPr sz="2200" b="1" i="0">
                <a:solidFill>
                  <a:srgbClr val="03708A"/>
                </a:solidFill>
                <a:latin typeface="Calibri"/>
              </a:rPr>
              <a:t>10:00</a:t>
            </a:r>
          </a:p>
        </p:txBody>
      </p:sp>
      <p:sp>
        <p:nvSpPr>
          <p:cNvPr id="15" name="TextBox 14"/>
          <p:cNvSpPr txBox="1"/>
          <p:nvPr/>
        </p:nvSpPr>
        <p:spPr>
          <a:xfrm>
            <a:off x="2377440" y="3200400"/>
            <a:ext cx="9144000" cy="411480"/>
          </a:xfrm>
          <a:prstGeom prst="rect">
            <a:avLst/>
          </a:prstGeom>
          <a:noFill/>
        </p:spPr>
        <p:txBody>
          <a:bodyPr wrap="square" lIns="0" rIns="0" tIns="0" bIns="0" anchor="t">
            <a:spAutoFit/>
          </a:bodyPr>
          <a:lstStyle/>
          <a:p>
            <a:pPr algn="l"/>
            <a:r>
              <a:rPr sz="1800" b="1" i="0">
                <a:solidFill>
                  <a:srgbClr val="0B1B3F"/>
                </a:solidFill>
                <a:latin typeface="Calibri"/>
              </a:rPr>
              <a:t>Run the Parallel Pipeline</a:t>
            </a:r>
          </a:p>
        </p:txBody>
      </p:sp>
      <p:sp>
        <p:nvSpPr>
          <p:cNvPr id="16" name="TextBox 15"/>
          <p:cNvSpPr txBox="1"/>
          <p:nvPr/>
        </p:nvSpPr>
        <p:spPr>
          <a:xfrm>
            <a:off x="2377440" y="3611880"/>
            <a:ext cx="9144000" cy="411480"/>
          </a:xfrm>
          <a:prstGeom prst="rect">
            <a:avLst/>
          </a:prstGeom>
          <a:noFill/>
        </p:spPr>
        <p:txBody>
          <a:bodyPr wrap="square" lIns="0" rIns="0" tIns="0" bIns="0" anchor="t">
            <a:spAutoFit/>
          </a:bodyPr>
          <a:lstStyle/>
          <a:p>
            <a:pPr algn="l"/>
            <a:r>
              <a:rPr sz="1300" b="0" i="1">
                <a:solidFill>
                  <a:srgbClr val="475569"/>
                </a:solidFill>
                <a:latin typeface="Calibri"/>
              </a:rPr>
              <a:t>LangGraph + CrewAI · runs.html · VS Code debugging · tests.</a:t>
            </a:r>
          </a:p>
        </p:txBody>
      </p:sp>
      <p:sp>
        <p:nvSpPr>
          <p:cNvPr id="17" name="Rectangle 16"/>
          <p:cNvSpPr/>
          <p:nvPr/>
        </p:nvSpPr>
        <p:spPr>
          <a:xfrm>
            <a:off x="640080" y="411480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251960"/>
            <a:ext cx="1463040" cy="594360"/>
          </a:xfrm>
          <a:prstGeom prst="rect">
            <a:avLst/>
          </a:prstGeom>
          <a:noFill/>
        </p:spPr>
        <p:txBody>
          <a:bodyPr wrap="square" lIns="0" rIns="0" tIns="0" bIns="0" anchor="ctr">
            <a:spAutoFit/>
          </a:bodyPr>
          <a:lstStyle/>
          <a:p>
            <a:pPr algn="l"/>
            <a:r>
              <a:rPr sz="2200" b="1" i="0">
                <a:solidFill>
                  <a:srgbClr val="03708A"/>
                </a:solidFill>
                <a:latin typeface="Calibri"/>
              </a:rPr>
              <a:t>11:00</a:t>
            </a:r>
          </a:p>
        </p:txBody>
      </p:sp>
      <p:sp>
        <p:nvSpPr>
          <p:cNvPr id="19" name="TextBox 18"/>
          <p:cNvSpPr txBox="1"/>
          <p:nvPr/>
        </p:nvSpPr>
        <p:spPr>
          <a:xfrm>
            <a:off x="2377440" y="4160520"/>
            <a:ext cx="9144000" cy="411480"/>
          </a:xfrm>
          <a:prstGeom prst="rect">
            <a:avLst/>
          </a:prstGeom>
          <a:noFill/>
        </p:spPr>
        <p:txBody>
          <a:bodyPr wrap="square" lIns="0" rIns="0" tIns="0" bIns="0" anchor="t">
            <a:spAutoFit/>
          </a:bodyPr>
          <a:lstStyle/>
          <a:p>
            <a:pPr algn="l"/>
            <a:r>
              <a:rPr sz="1800" b="1" i="0">
                <a:solidFill>
                  <a:srgbClr val="0B1B3F"/>
                </a:solidFill>
                <a:latin typeface="Calibri"/>
              </a:rPr>
              <a:t>Tools, Knowledge, MCP</a:t>
            </a:r>
          </a:p>
        </p:txBody>
      </p:sp>
      <p:sp>
        <p:nvSpPr>
          <p:cNvPr id="20" name="TextBox 19"/>
          <p:cNvSpPr txBox="1"/>
          <p:nvPr/>
        </p:nvSpPr>
        <p:spPr>
          <a:xfrm>
            <a:off x="2377440" y="4572000"/>
            <a:ext cx="9144000" cy="411480"/>
          </a:xfrm>
          <a:prstGeom prst="rect">
            <a:avLst/>
          </a:prstGeom>
          <a:noFill/>
        </p:spPr>
        <p:txBody>
          <a:bodyPr wrap="square" lIns="0" rIns="0" tIns="0" bIns="0" anchor="t">
            <a:spAutoFit/>
          </a:bodyPr>
          <a:lstStyle/>
          <a:p>
            <a:pPr algn="l"/>
            <a:r>
              <a:rPr sz="1300" b="0" i="1">
                <a:solidFill>
                  <a:srgbClr val="475569"/>
                </a:solidFill>
                <a:latin typeface="Calibri"/>
              </a:rPr>
              <a:t>FastMCP 2 · all 5 MCP primitives · ChromaDB RAG · vibe coding.</a:t>
            </a:r>
          </a:p>
        </p:txBody>
      </p:sp>
      <p:sp>
        <p:nvSpPr>
          <p:cNvPr id="21" name="Rectangle 20"/>
          <p:cNvSpPr/>
          <p:nvPr/>
        </p:nvSpPr>
        <p:spPr>
          <a:xfrm>
            <a:off x="640080" y="507492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212080"/>
            <a:ext cx="1463040" cy="594360"/>
          </a:xfrm>
          <a:prstGeom prst="rect">
            <a:avLst/>
          </a:prstGeom>
          <a:noFill/>
        </p:spPr>
        <p:txBody>
          <a:bodyPr wrap="square" lIns="0" rIns="0" tIns="0" bIns="0" anchor="ctr">
            <a:spAutoFit/>
          </a:bodyPr>
          <a:lstStyle/>
          <a:p>
            <a:pPr algn="l"/>
            <a:r>
              <a:rPr sz="2200" b="1" i="0">
                <a:solidFill>
                  <a:srgbClr val="03708A"/>
                </a:solidFill>
                <a:latin typeface="Calibri"/>
              </a:rPr>
              <a:t>12:00</a:t>
            </a:r>
          </a:p>
        </p:txBody>
      </p:sp>
      <p:sp>
        <p:nvSpPr>
          <p:cNvPr id="23" name="TextBox 22"/>
          <p:cNvSpPr txBox="1"/>
          <p:nvPr/>
        </p:nvSpPr>
        <p:spPr>
          <a:xfrm>
            <a:off x="2377440" y="5120640"/>
            <a:ext cx="9144000" cy="411480"/>
          </a:xfrm>
          <a:prstGeom prst="rect">
            <a:avLst/>
          </a:prstGeom>
          <a:noFill/>
        </p:spPr>
        <p:txBody>
          <a:bodyPr wrap="square" lIns="0" rIns="0" tIns="0" bIns="0" anchor="t">
            <a:spAutoFit/>
          </a:bodyPr>
          <a:lstStyle/>
          <a:p>
            <a:pPr algn="l"/>
            <a:r>
              <a:rPr sz="1800" b="1" i="0">
                <a:solidFill>
                  <a:srgbClr val="0B1B3F"/>
                </a:solidFill>
                <a:latin typeface="Calibri"/>
              </a:rPr>
              <a:t>Production on Azure</a:t>
            </a:r>
          </a:p>
        </p:txBody>
      </p:sp>
      <p:sp>
        <p:nvSpPr>
          <p:cNvPr id="24" name="TextBox 23"/>
          <p:cNvSpPr txBox="1"/>
          <p:nvPr/>
        </p:nvSpPr>
        <p:spPr>
          <a:xfrm>
            <a:off x="2377440" y="5532120"/>
            <a:ext cx="9144000" cy="411480"/>
          </a:xfrm>
          <a:prstGeom prst="rect">
            <a:avLst/>
          </a:prstGeom>
          <a:noFill/>
        </p:spPr>
        <p:txBody>
          <a:bodyPr wrap="square" lIns="0" rIns="0" tIns="0" bIns="0" anchor="t">
            <a:spAutoFit/>
          </a:bodyPr>
          <a:lstStyle/>
          <a:p>
            <a:pPr algn="l"/>
            <a:r>
              <a:rPr sz="1300" b="0" i="1">
                <a:solidFill>
                  <a:srgbClr val="475569"/>
                </a:solidFill>
                <a:latin typeface="Calibri"/>
              </a:rPr>
              <a:t>Foundry Agent Service · Container Apps · APIM AI Gateway · Guardrails.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Course materials &amp; repo</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858000" cy="4572000"/>
          </a:xfrm>
          <a:prstGeom prst="rect">
            <a:avLst/>
          </a:prstGeom>
          <a:noFill/>
        </p:spPr>
        <p:txBody>
          <a:bodyPr wrap="square" lIns="0" rIns="0" tIns="0" bIns="0">
            <a:spAutoFit/>
          </a:bodyPr>
          <a:lstStyle/>
          <a:p>
            <a:pPr algn="l" indent="-228600" marL="228600">
              <a:spcAft>
                <a:spcPts val="1200"/>
              </a:spcAft>
              <a:buChar char="•"/>
            </a:pPr>
            <a:r>
              <a:rPr sz="1500" b="1">
                <a:solidFill>
                  <a:srgbClr val="0B1B3F"/>
                </a:solidFill>
                <a:latin typeface="Calibri"/>
              </a:rPr>
              <a:t>Short link</a:t>
            </a:r>
            <a:r>
              <a:rPr sz="1500">
                <a:solidFill>
                  <a:srgbClr val="0F172A"/>
                </a:solidFill>
                <a:latin typeface="Calibri"/>
              </a:rPr>
              <a:t>  timw.info/agents2 — slides, sample resumes, scripts.</a:t>
            </a:r>
          </a:p>
          <a:p>
            <a:pPr algn="l" indent="-228600" marL="228600">
              <a:spcAft>
                <a:spcPts val="1200"/>
              </a:spcAft>
              <a:buChar char="•"/>
            </a:pPr>
            <a:r>
              <a:rPr sz="1500" b="1">
                <a:solidFill>
                  <a:srgbClr val="0B1B3F"/>
                </a:solidFill>
                <a:latin typeface="Calibri"/>
              </a:rPr>
              <a:t>GitHub repo</a:t>
            </a:r>
            <a:r>
              <a:rPr sz="1500">
                <a:solidFill>
                  <a:srgbClr val="0F172A"/>
                </a:solidFill>
                <a:latin typeface="Calibri"/>
              </a:rPr>
              <a:t>  github.com/timothywarner-org/agents2 (the contoso-hr-agent project).</a:t>
            </a:r>
          </a:p>
          <a:p>
            <a:pPr algn="l" indent="-228600" marL="228600">
              <a:spcAft>
                <a:spcPts val="1200"/>
              </a:spcAft>
              <a:buChar char="•"/>
            </a:pPr>
            <a:r>
              <a:rPr sz="1500" b="1">
                <a:solidFill>
                  <a:srgbClr val="0B1B3F"/>
                </a:solidFill>
                <a:latin typeface="Calibri"/>
              </a:rPr>
              <a:t>Dev container</a:t>
            </a:r>
            <a:r>
              <a:rPr sz="1500">
                <a:solidFill>
                  <a:srgbClr val="0F172A"/>
                </a:solidFill>
                <a:latin typeface="Calibri"/>
              </a:rPr>
              <a:t>  Codespaces-ready · Python 3.11 · uv · LangGraph + CrewAI + FastMCP 2.</a:t>
            </a:r>
          </a:p>
          <a:p>
            <a:pPr algn="l" indent="-228600" marL="228600">
              <a:spcAft>
                <a:spcPts val="1200"/>
              </a:spcAft>
              <a:buChar char="•"/>
            </a:pPr>
            <a:r>
              <a:rPr sz="1500" b="1">
                <a:solidFill>
                  <a:srgbClr val="0B1B3F"/>
                </a:solidFill>
                <a:latin typeface="Calibri"/>
              </a:rPr>
              <a:t>Optional accounts</a:t>
            </a:r>
            <a:r>
              <a:rPr sz="1500">
                <a:solidFill>
                  <a:srgbClr val="0F172A"/>
                </a:solidFill>
                <a:latin typeface="Calibri"/>
              </a:rPr>
              <a:t>  Azure (free tier OK) · Anthropic Claude Code · OpenAI.</a:t>
            </a:r>
          </a:p>
          <a:p>
            <a:pPr algn="l" indent="-228600" marL="228600">
              <a:spcAft>
                <a:spcPts val="1200"/>
              </a:spcAft>
              <a:buChar char="•"/>
            </a:pPr>
            <a:r>
              <a:rPr sz="1500" b="1">
                <a:solidFill>
                  <a:srgbClr val="0B1B3F"/>
                </a:solidFill>
                <a:latin typeface="Calibri"/>
              </a:rPr>
              <a:t>Sample resumes</a:t>
            </a:r>
            <a:r>
              <a:rPr sz="1500">
                <a:solidFill>
                  <a:srgbClr val="0F172A"/>
                </a:solidFill>
                <a:latin typeface="Calibri"/>
              </a:rPr>
              <a:t>  13 candidates spanning Strong Match → Not Qualified.</a:t>
            </a:r>
          </a:p>
        </p:txBody>
      </p:sp>
      <p:sp>
        <p:nvSpPr>
          <p:cNvPr id="8" name="Rectangle 7"/>
          <p:cNvSpPr/>
          <p:nvPr/>
        </p:nvSpPr>
        <p:spPr>
          <a:xfrm>
            <a:off x="7863840" y="1417320"/>
            <a:ext cx="384048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691640"/>
            <a:ext cx="3383280" cy="457200"/>
          </a:xfrm>
          <a:prstGeom prst="rect">
            <a:avLst/>
          </a:prstGeom>
          <a:noFill/>
        </p:spPr>
        <p:txBody>
          <a:bodyPr wrap="square" lIns="0" rIns="0" tIns="0" bIns="0" anchor="t">
            <a:spAutoFit/>
          </a:bodyPr>
          <a:lstStyle/>
          <a:p>
            <a:pPr algn="l"/>
            <a:r>
              <a:rPr sz="1600" b="1" i="0">
                <a:solidFill>
                  <a:srgbClr val="FFB703"/>
                </a:solidFill>
                <a:latin typeface="Calibri"/>
              </a:rPr>
              <a:t>If you only do one thing</a:t>
            </a:r>
          </a:p>
        </p:txBody>
      </p:sp>
      <p:sp>
        <p:nvSpPr>
          <p:cNvPr id="10" name="TextBox 9"/>
          <p:cNvSpPr txBox="1"/>
          <p:nvPr/>
        </p:nvSpPr>
        <p:spPr>
          <a:xfrm>
            <a:off x="8092440" y="2286000"/>
            <a:ext cx="3383280" cy="2286000"/>
          </a:xfrm>
          <a:prstGeom prst="rect">
            <a:avLst/>
          </a:prstGeom>
          <a:noFill/>
        </p:spPr>
        <p:txBody>
          <a:bodyPr wrap="square" lIns="0" rIns="0" tIns="0" bIns="0" anchor="t">
            <a:spAutoFit/>
          </a:bodyPr>
          <a:lstStyle/>
          <a:p>
            <a:pPr algn="l"/>
            <a:r>
              <a:rPr sz="1400" b="0" i="0">
                <a:solidFill>
                  <a:srgbClr val="FFFFFF"/>
                </a:solidFill>
                <a:latin typeface="Calibri"/>
              </a:rPr>
              <a:t>Clone the repo right now and run
uv venv &amp;&amp; uv sync &amp;&amp; uv run hr-seed.
Seeding takes ~60 seconds and lets you follow every demo.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THE WORKING APP</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project we'll build with — at a glance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943600" cy="365760"/>
          </a:xfrm>
          <a:prstGeom prst="rect">
            <a:avLst/>
          </a:prstGeom>
          <a:noFill/>
        </p:spPr>
        <p:txBody>
          <a:bodyPr wrap="square" lIns="0" rIns="0" tIns="0" bIns="0" anchor="t">
            <a:spAutoFit/>
          </a:bodyPr>
          <a:lstStyle/>
          <a:p>
            <a:pPr algn="l"/>
            <a:r>
              <a:rPr sz="1500" b="1" i="0">
                <a:solidFill>
                  <a:srgbClr val="0B1B3F"/>
                </a:solidFill>
                <a:latin typeface="Consolas"/>
              </a:rPr>
              <a:t>agents2/contoso-hr-agent/</a:t>
            </a:r>
          </a:p>
        </p:txBody>
      </p:sp>
      <p:sp>
        <p:nvSpPr>
          <p:cNvPr id="9" name="Rectangle 8"/>
          <p:cNvSpPr/>
          <p:nvPr/>
        </p:nvSpPr>
        <p:spPr>
          <a:xfrm>
            <a:off x="548640" y="1691640"/>
            <a:ext cx="594360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801368"/>
            <a:ext cx="5669280" cy="4352544"/>
          </a:xfrm>
          <a:prstGeom prst="rect">
            <a:avLst/>
          </a:prstGeom>
          <a:noFill/>
        </p:spPr>
        <p:txBody>
          <a:bodyPr wrap="square" lIns="0" rIns="0" tIns="0" bIns="0">
            <a:spAutoFit/>
          </a:bodyPr>
          <a:lstStyle/>
          <a:p>
            <a:pPr>
              <a:spcAft>
                <a:spcPts val="0"/>
              </a:spcAft>
            </a:pPr>
            <a:r>
              <a:rPr sz="1100">
                <a:solidFill>
                  <a:srgbClr val="FFFFFF"/>
                </a:solidFill>
                <a:latin typeface="Consolas"/>
              </a:rPr>
              <a:t>src/contoso_hr/</a:t>
            </a:r>
          </a:p>
          <a:p>
            <a:pPr>
              <a:spcAft>
                <a:spcPts val="0"/>
              </a:spcAft>
            </a:pPr>
            <a:r>
              <a:rPr sz="1100">
                <a:solidFill>
                  <a:srgbClr val="FFFFFF"/>
                </a:solidFill>
                <a:latin typeface="Consolas"/>
              </a:rPr>
              <a:t>├── pipeline/</a:t>
            </a:r>
          </a:p>
          <a:p>
            <a:pPr>
              <a:spcAft>
                <a:spcPts val="0"/>
              </a:spcAft>
            </a:pPr>
            <a:r>
              <a:rPr sz="1100">
                <a:solidFill>
                  <a:srgbClr val="FFFFFF"/>
                </a:solidFill>
                <a:latin typeface="Consolas"/>
              </a:rPr>
              <a:t>│   ├── graph.py         5-node LangGraph StateGraph</a:t>
            </a:r>
          </a:p>
          <a:p>
            <a:pPr>
              <a:spcAft>
                <a:spcPts val="0"/>
              </a:spcAft>
            </a:pPr>
            <a:r>
              <a:rPr sz="1100">
                <a:solidFill>
                  <a:srgbClr val="FFFFFF"/>
                </a:solidFill>
                <a:latin typeface="Consolas"/>
              </a:rPr>
              <a:t>│   ├── agents.py        4 CrewAI Agents</a:t>
            </a:r>
          </a:p>
          <a:p>
            <a:pPr>
              <a:spcAft>
                <a:spcPts val="0"/>
              </a:spcAft>
            </a:pPr>
            <a:r>
              <a:rPr sz="1100">
                <a:solidFill>
                  <a:srgbClr val="FFFFFF"/>
                </a:solidFill>
                <a:latin typeface="Consolas"/>
              </a:rPr>
              <a:t>│   ├── tasks.py         Task factories</a:t>
            </a:r>
          </a:p>
          <a:p>
            <a:pPr>
              <a:spcAft>
                <a:spcPts val="0"/>
              </a:spcAft>
            </a:pPr>
            <a:r>
              <a:rPr sz="1100">
                <a:solidFill>
                  <a:srgbClr val="FFFFFF"/>
                </a:solidFill>
                <a:latin typeface="Consolas"/>
              </a:rPr>
              <a:t>│   ├── prompts.py       System prompts</a:t>
            </a:r>
          </a:p>
          <a:p>
            <a:pPr>
              <a:spcAft>
                <a:spcPts val="0"/>
              </a:spcAft>
            </a:pPr>
            <a:r>
              <a:rPr sz="1100">
                <a:solidFill>
                  <a:srgbClr val="FFFFFF"/>
                </a:solidFill>
                <a:latin typeface="Consolas"/>
              </a:rPr>
              <a:t>│   └── tools.py         @tool decorators</a:t>
            </a:r>
          </a:p>
          <a:p>
            <a:pPr>
              <a:spcAft>
                <a:spcPts val="0"/>
              </a:spcAft>
            </a:pPr>
            <a:r>
              <a:rPr sz="1100">
                <a:solidFill>
                  <a:srgbClr val="FFFFFF"/>
                </a:solidFill>
                <a:latin typeface="Consolas"/>
              </a:rPr>
              <a:t>├── knowledge/</a:t>
            </a:r>
          </a:p>
          <a:p>
            <a:pPr>
              <a:spcAft>
                <a:spcPts val="0"/>
              </a:spcAft>
            </a:pPr>
            <a:r>
              <a:rPr sz="1100">
                <a:solidFill>
                  <a:srgbClr val="FFFFFF"/>
                </a:solidFill>
                <a:latin typeface="Consolas"/>
              </a:rPr>
              <a:t>│   ├── vectorizer.py    Chroma ingest</a:t>
            </a:r>
          </a:p>
          <a:p>
            <a:pPr>
              <a:spcAft>
                <a:spcPts val="0"/>
              </a:spcAft>
            </a:pPr>
            <a:r>
              <a:rPr sz="1100">
                <a:solidFill>
                  <a:srgbClr val="FFFFFF"/>
                </a:solidFill>
                <a:latin typeface="Consolas"/>
              </a:rPr>
              <a:t>│   └── retriever.py     Semantic search</a:t>
            </a:r>
          </a:p>
          <a:p>
            <a:pPr>
              <a:spcAft>
                <a:spcPts val="0"/>
              </a:spcAft>
            </a:pPr>
            <a:r>
              <a:rPr sz="1100">
                <a:solidFill>
                  <a:srgbClr val="FFFFFF"/>
                </a:solidFill>
                <a:latin typeface="Consolas"/>
              </a:rPr>
              <a:t>├── memory/</a:t>
            </a:r>
          </a:p>
          <a:p>
            <a:pPr>
              <a:spcAft>
                <a:spcPts val="0"/>
              </a:spcAft>
            </a:pPr>
            <a:r>
              <a:rPr sz="1100">
                <a:solidFill>
                  <a:srgbClr val="FFFFFF"/>
                </a:solidFill>
                <a:latin typeface="Consolas"/>
              </a:rPr>
              <a:t>│   ├── sqlite_store.py  Candidates + evals</a:t>
            </a:r>
          </a:p>
          <a:p>
            <a:pPr>
              <a:spcAft>
                <a:spcPts val="0"/>
              </a:spcAft>
            </a:pPr>
            <a:r>
              <a:rPr sz="1100">
                <a:solidFill>
                  <a:srgbClr val="FFFFFF"/>
                </a:solidFill>
                <a:latin typeface="Consolas"/>
              </a:rPr>
              <a:t>│   └── checkpoints.py   LangGraph SqliteSaver</a:t>
            </a:r>
          </a:p>
          <a:p>
            <a:pPr>
              <a:spcAft>
                <a:spcPts val="0"/>
              </a:spcAft>
            </a:pPr>
            <a:r>
              <a:rPr sz="1100">
                <a:solidFill>
                  <a:srgbClr val="FFFFFF"/>
                </a:solidFill>
                <a:latin typeface="Consolas"/>
              </a:rPr>
              <a:t>├── mcp_server/</a:t>
            </a:r>
          </a:p>
          <a:p>
            <a:pPr>
              <a:spcAft>
                <a:spcPts val="0"/>
              </a:spcAft>
            </a:pPr>
            <a:r>
              <a:rPr sz="1100">
                <a:solidFill>
                  <a:srgbClr val="FFFFFF"/>
                </a:solidFill>
                <a:latin typeface="Consolas"/>
              </a:rPr>
              <a:t>│   └── server.py        FastMCP 2 (5 primitives)</a:t>
            </a:r>
          </a:p>
          <a:p>
            <a:pPr>
              <a:spcAft>
                <a:spcPts val="0"/>
              </a:spcAft>
            </a:pPr>
            <a:r>
              <a:rPr sz="1100">
                <a:solidFill>
                  <a:srgbClr val="FFFFFF"/>
                </a:solidFill>
                <a:latin typeface="Consolas"/>
              </a:rPr>
              <a:t>├── watcher/</a:t>
            </a:r>
          </a:p>
          <a:p>
            <a:pPr>
              <a:spcAft>
                <a:spcPts val="0"/>
              </a:spcAft>
            </a:pPr>
            <a:r>
              <a:rPr sz="1100">
                <a:solidFill>
                  <a:srgbClr val="FFFFFF"/>
                </a:solidFill>
                <a:latin typeface="Consolas"/>
              </a:rPr>
              <a:t>│   └── resume_watcher.py</a:t>
            </a:r>
          </a:p>
          <a:p>
            <a:pPr>
              <a:spcAft>
                <a:spcPts val="0"/>
              </a:spcAft>
            </a:pPr>
            <a:r>
              <a:rPr sz="1100">
                <a:solidFill>
                  <a:srgbClr val="FFFFFF"/>
                </a:solidFill>
                <a:latin typeface="Consolas"/>
              </a:rPr>
              <a:t>├── engine.py            FastAPI :8090</a:t>
            </a:r>
          </a:p>
          <a:p>
            <a:pPr>
              <a:spcAft>
                <a:spcPts val="0"/>
              </a:spcAft>
            </a:pPr>
            <a:r>
              <a:rPr sz="1100">
                <a:solidFill>
                  <a:srgbClr val="FFFFFF"/>
                </a:solidFill>
                <a:latin typeface="Consolas"/>
              </a:rPr>
              <a:t>├── models.py            Pydantic v2 chain</a:t>
            </a:r>
          </a:p>
          <a:p>
            <a:pPr>
              <a:spcAft>
                <a:spcPts val="0"/>
              </a:spcAft>
            </a:pPr>
            <a:r>
              <a:rPr sz="1100">
                <a:solidFill>
                  <a:srgbClr val="FFFFFF"/>
                </a:solidFill>
                <a:latin typeface="Consolas"/>
              </a:rPr>
              <a:t>└── config.py            Azure AI Foundry</a:t>
            </a:r>
          </a:p>
          <a:p>
            <a:pPr>
              <a:spcAft>
                <a:spcPts val="0"/>
              </a:spcAft>
            </a:pPr>
            <a:r>
              <a:rPr sz="1100">
                <a:solidFill>
                  <a:srgbClr val="FFFFFF"/>
                </a:solidFill>
                <a:latin typeface="Consolas"/>
              </a:rPr>
              <a:t>web/</a:t>
            </a:r>
          </a:p>
          <a:p>
            <a:pPr>
              <a:spcAft>
                <a:spcPts val="0"/>
              </a:spcAft>
            </a:pPr>
            <a:r>
              <a:rPr sz="1100">
                <a:solidFill>
                  <a:srgbClr val="FFFFFF"/>
                </a:solidFill>
                <a:latin typeface="Consolas"/>
              </a:rPr>
              <a:t>  chat.html · candidates.html · runs.html</a:t>
            </a:r>
          </a:p>
          <a:p>
            <a:pPr>
              <a:spcAft>
                <a:spcPts val="0"/>
              </a:spcAft>
            </a:pPr>
            <a:r>
              <a:rPr sz="1100">
                <a:solidFill>
                  <a:srgbClr val="FFFFFF"/>
                </a:solidFill>
                <a:latin typeface="Consolas"/>
              </a:rPr>
              <a:t>data/</a:t>
            </a:r>
          </a:p>
          <a:p>
            <a:pPr>
              <a:spcAft>
                <a:spcPts val="0"/>
              </a:spcAft>
            </a:pPr>
            <a:r>
              <a:rPr sz="1100">
                <a:solidFill>
                  <a:srgbClr val="FFFFFF"/>
                </a:solidFill>
                <a:latin typeface="Consolas"/>
              </a:rPr>
              <a:t>  hr.db · checkpoints.db · chroma/</a:t>
            </a:r>
          </a:p>
        </p:txBody>
      </p:sp>
      <p:sp>
        <p:nvSpPr>
          <p:cNvPr id="12" name="Rectangle 11"/>
          <p:cNvSpPr/>
          <p:nvPr/>
        </p:nvSpPr>
        <p:spPr>
          <a:xfrm>
            <a:off x="6766560" y="141732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41732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490472"/>
            <a:ext cx="4572000" cy="292608"/>
          </a:xfrm>
          <a:prstGeom prst="rect">
            <a:avLst/>
          </a:prstGeom>
          <a:noFill/>
        </p:spPr>
        <p:txBody>
          <a:bodyPr wrap="square" lIns="0" rIns="0" tIns="0" bIns="0" anchor="t">
            <a:spAutoFit/>
          </a:bodyPr>
          <a:lstStyle/>
          <a:p>
            <a:pPr algn="l"/>
            <a:r>
              <a:rPr sz="1400" b="1" i="0">
                <a:solidFill>
                  <a:srgbClr val="0B1B3F"/>
                </a:solidFill>
                <a:latin typeface="Calibri"/>
              </a:rPr>
              <a:t>4 CrewAI agents</a:t>
            </a:r>
          </a:p>
        </p:txBody>
      </p:sp>
      <p:sp>
        <p:nvSpPr>
          <p:cNvPr id="15" name="TextBox 14"/>
          <p:cNvSpPr txBox="1"/>
          <p:nvPr/>
        </p:nvSpPr>
        <p:spPr>
          <a:xfrm>
            <a:off x="7040880" y="1783080"/>
            <a:ext cx="4572000" cy="292608"/>
          </a:xfrm>
          <a:prstGeom prst="rect">
            <a:avLst/>
          </a:prstGeom>
          <a:noFill/>
        </p:spPr>
        <p:txBody>
          <a:bodyPr wrap="square" lIns="0" rIns="0" tIns="0" bIns="0" anchor="t">
            <a:spAutoFit/>
          </a:bodyPr>
          <a:lstStyle/>
          <a:p>
            <a:pPr algn="l"/>
            <a:r>
              <a:rPr sz="1100" b="0" i="0">
                <a:solidFill>
                  <a:srgbClr val="0F172A"/>
                </a:solidFill>
                <a:latin typeface="Calibri"/>
              </a:rPr>
              <a:t>Alex · PolicyExpert · ResumeAnalyst · DecisionMaker</a:t>
            </a:r>
          </a:p>
        </p:txBody>
      </p:sp>
      <p:sp>
        <p:nvSpPr>
          <p:cNvPr id="16" name="Rectangle 15"/>
          <p:cNvSpPr/>
          <p:nvPr/>
        </p:nvSpPr>
        <p:spPr>
          <a:xfrm>
            <a:off x="6766560" y="219456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0" y="219456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2267712"/>
            <a:ext cx="4572000" cy="292608"/>
          </a:xfrm>
          <a:prstGeom prst="rect">
            <a:avLst/>
          </a:prstGeom>
          <a:noFill/>
        </p:spPr>
        <p:txBody>
          <a:bodyPr wrap="square" lIns="0" rIns="0" tIns="0" bIns="0" anchor="t">
            <a:spAutoFit/>
          </a:bodyPr>
          <a:lstStyle/>
          <a:p>
            <a:pPr algn="l"/>
            <a:r>
              <a:rPr sz="1400" b="1" i="0">
                <a:solidFill>
                  <a:srgbClr val="0B1B3F"/>
                </a:solidFill>
                <a:latin typeface="Calibri"/>
              </a:rPr>
              <a:t>5 LangGraph nodes</a:t>
            </a:r>
          </a:p>
        </p:txBody>
      </p:sp>
      <p:sp>
        <p:nvSpPr>
          <p:cNvPr id="19" name="TextBox 18"/>
          <p:cNvSpPr txBox="1"/>
          <p:nvPr/>
        </p:nvSpPr>
        <p:spPr>
          <a:xfrm>
            <a:off x="7040880" y="2560320"/>
            <a:ext cx="4572000" cy="292608"/>
          </a:xfrm>
          <a:prstGeom prst="rect">
            <a:avLst/>
          </a:prstGeom>
          <a:noFill/>
        </p:spPr>
        <p:txBody>
          <a:bodyPr wrap="square" lIns="0" rIns="0" tIns="0" bIns="0" anchor="t">
            <a:spAutoFit/>
          </a:bodyPr>
          <a:lstStyle/>
          <a:p>
            <a:pPr algn="l"/>
            <a:r>
              <a:rPr sz="1100" b="0" i="0">
                <a:solidFill>
                  <a:srgbClr val="0F172A"/>
                </a:solidFill>
                <a:latin typeface="Calibri"/>
              </a:rPr>
              <a:t>intake → [policy_expert ‖ resume_analyst] → decision_maker → notify</a:t>
            </a:r>
          </a:p>
        </p:txBody>
      </p:sp>
      <p:sp>
        <p:nvSpPr>
          <p:cNvPr id="20" name="Rectangle 19"/>
          <p:cNvSpPr/>
          <p:nvPr/>
        </p:nvSpPr>
        <p:spPr>
          <a:xfrm>
            <a:off x="6766560" y="297180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0" y="297180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3044952"/>
            <a:ext cx="4572000" cy="292608"/>
          </a:xfrm>
          <a:prstGeom prst="rect">
            <a:avLst/>
          </a:prstGeom>
          <a:noFill/>
        </p:spPr>
        <p:txBody>
          <a:bodyPr wrap="square" lIns="0" rIns="0" tIns="0" bIns="0" anchor="t">
            <a:spAutoFit/>
          </a:bodyPr>
          <a:lstStyle/>
          <a:p>
            <a:pPr algn="l"/>
            <a:r>
              <a:rPr sz="1400" b="1" i="0">
                <a:solidFill>
                  <a:srgbClr val="0B1B3F"/>
                </a:solidFill>
                <a:latin typeface="Calibri"/>
              </a:rPr>
              <a:t>All 5 MCP primitives</a:t>
            </a:r>
          </a:p>
        </p:txBody>
      </p:sp>
      <p:sp>
        <p:nvSpPr>
          <p:cNvPr id="23" name="TextBox 22"/>
          <p:cNvSpPr txBox="1"/>
          <p:nvPr/>
        </p:nvSpPr>
        <p:spPr>
          <a:xfrm>
            <a:off x="7040880" y="3337560"/>
            <a:ext cx="4572000" cy="292608"/>
          </a:xfrm>
          <a:prstGeom prst="rect">
            <a:avLst/>
          </a:prstGeom>
          <a:noFill/>
        </p:spPr>
        <p:txBody>
          <a:bodyPr wrap="square" lIns="0" rIns="0" tIns="0" bIns="0" anchor="t">
            <a:spAutoFit/>
          </a:bodyPr>
          <a:lstStyle/>
          <a:p>
            <a:pPr algn="l"/>
            <a:r>
              <a:rPr sz="1100" b="0" i="0">
                <a:solidFill>
                  <a:srgbClr val="0F172A"/>
                </a:solidFill>
                <a:latin typeface="Calibri"/>
              </a:rPr>
              <a:t>tools · resources · prompts · sampling · elicitation</a:t>
            </a:r>
          </a:p>
        </p:txBody>
      </p:sp>
      <p:sp>
        <p:nvSpPr>
          <p:cNvPr id="24" name="Rectangle 23"/>
          <p:cNvSpPr/>
          <p:nvPr/>
        </p:nvSpPr>
        <p:spPr>
          <a:xfrm>
            <a:off x="6766560" y="374904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0" y="374904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0" y="3822192"/>
            <a:ext cx="4572000" cy="292608"/>
          </a:xfrm>
          <a:prstGeom prst="rect">
            <a:avLst/>
          </a:prstGeom>
          <a:noFill/>
        </p:spPr>
        <p:txBody>
          <a:bodyPr wrap="square" lIns="0" rIns="0" tIns="0" bIns="0" anchor="t">
            <a:spAutoFit/>
          </a:bodyPr>
          <a:lstStyle/>
          <a:p>
            <a:pPr algn="l"/>
            <a:r>
              <a:rPr sz="1400" b="1" i="0">
                <a:solidFill>
                  <a:srgbClr val="0B1B3F"/>
                </a:solidFill>
                <a:latin typeface="Calibri"/>
              </a:rPr>
              <a:t>3 web pages</a:t>
            </a:r>
          </a:p>
        </p:txBody>
      </p:sp>
      <p:sp>
        <p:nvSpPr>
          <p:cNvPr id="27" name="TextBox 26"/>
          <p:cNvSpPr txBox="1"/>
          <p:nvPr/>
        </p:nvSpPr>
        <p:spPr>
          <a:xfrm>
            <a:off x="7040880" y="4114800"/>
            <a:ext cx="4572000" cy="292608"/>
          </a:xfrm>
          <a:prstGeom prst="rect">
            <a:avLst/>
          </a:prstGeom>
          <a:noFill/>
        </p:spPr>
        <p:txBody>
          <a:bodyPr wrap="square" lIns="0" rIns="0" tIns="0" bIns="0" anchor="t">
            <a:spAutoFit/>
          </a:bodyPr>
          <a:lstStyle/>
          <a:p>
            <a:pPr algn="l"/>
            <a:r>
              <a:rPr sz="1100" b="0" i="0">
                <a:solidFill>
                  <a:srgbClr val="0F172A"/>
                </a:solidFill>
                <a:latin typeface="Calibri"/>
              </a:rPr>
              <a:t>Chat (Alex) · Candidates grid · Pipeline trace</a:t>
            </a:r>
          </a:p>
        </p:txBody>
      </p:sp>
      <p:sp>
        <p:nvSpPr>
          <p:cNvPr id="28" name="Rectangle 27"/>
          <p:cNvSpPr/>
          <p:nvPr/>
        </p:nvSpPr>
        <p:spPr>
          <a:xfrm>
            <a:off x="6766560" y="452628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452628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0" y="4599432"/>
            <a:ext cx="4572000" cy="292608"/>
          </a:xfrm>
          <a:prstGeom prst="rect">
            <a:avLst/>
          </a:prstGeom>
          <a:noFill/>
        </p:spPr>
        <p:txBody>
          <a:bodyPr wrap="square" lIns="0" rIns="0" tIns="0" bIns="0" anchor="t">
            <a:spAutoFit/>
          </a:bodyPr>
          <a:lstStyle/>
          <a:p>
            <a:pPr algn="l"/>
            <a:r>
              <a:rPr sz="1400" b="1" i="0">
                <a:solidFill>
                  <a:srgbClr val="0B1B3F"/>
                </a:solidFill>
                <a:latin typeface="Calibri"/>
              </a:rPr>
              <a:t>13 sample resumes</a:t>
            </a:r>
          </a:p>
        </p:txBody>
      </p:sp>
      <p:sp>
        <p:nvSpPr>
          <p:cNvPr id="31" name="TextBox 30"/>
          <p:cNvSpPr txBox="1"/>
          <p:nvPr/>
        </p:nvSpPr>
        <p:spPr>
          <a:xfrm>
            <a:off x="7040880" y="4892040"/>
            <a:ext cx="4572000" cy="292608"/>
          </a:xfrm>
          <a:prstGeom prst="rect">
            <a:avLst/>
          </a:prstGeom>
          <a:noFill/>
        </p:spPr>
        <p:txBody>
          <a:bodyPr wrap="square" lIns="0" rIns="0" tIns="0" bIns="0" anchor="t">
            <a:spAutoFit/>
          </a:bodyPr>
          <a:lstStyle/>
          <a:p>
            <a:pPr algn="l"/>
            <a:r>
              <a:rPr sz="1100" b="0" i="0">
                <a:solidFill>
                  <a:srgbClr val="0F172A"/>
                </a:solidFill>
                <a:latin typeface="Calibri"/>
              </a:rPr>
              <a:t>3 quality tiers · exercise every disposition path</a:t>
            </a:r>
          </a:p>
        </p:txBody>
      </p:sp>
      <p:sp>
        <p:nvSpPr>
          <p:cNvPr id="32" name="Rectangle 31"/>
          <p:cNvSpPr/>
          <p:nvPr/>
        </p:nvSpPr>
        <p:spPr>
          <a:xfrm>
            <a:off x="6766560" y="530352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0" y="530352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0" y="5376672"/>
            <a:ext cx="4572000" cy="292608"/>
          </a:xfrm>
          <a:prstGeom prst="rect">
            <a:avLst/>
          </a:prstGeom>
          <a:noFill/>
        </p:spPr>
        <p:txBody>
          <a:bodyPr wrap="square" lIns="0" rIns="0" tIns="0" bIns="0" anchor="t">
            <a:spAutoFit/>
          </a:bodyPr>
          <a:lstStyle/>
          <a:p>
            <a:pPr algn="l"/>
            <a:r>
              <a:rPr sz="1400" b="1" i="0">
                <a:solidFill>
                  <a:srgbClr val="0B1B3F"/>
                </a:solidFill>
                <a:latin typeface="Calibri"/>
              </a:rPr>
              <a:t>8 policy docs / 146 chunks</a:t>
            </a:r>
          </a:p>
        </p:txBody>
      </p:sp>
      <p:sp>
        <p:nvSpPr>
          <p:cNvPr id="35" name="TextBox 34"/>
          <p:cNvSpPr txBox="1"/>
          <p:nvPr/>
        </p:nvSpPr>
        <p:spPr>
          <a:xfrm>
            <a:off x="7040880" y="5669280"/>
            <a:ext cx="4572000" cy="292608"/>
          </a:xfrm>
          <a:prstGeom prst="rect">
            <a:avLst/>
          </a:prstGeom>
          <a:noFill/>
        </p:spPr>
        <p:txBody>
          <a:bodyPr wrap="square" lIns="0" rIns="0" tIns="0" bIns="0" anchor="t">
            <a:spAutoFit/>
          </a:bodyPr>
          <a:lstStyle/>
          <a:p>
            <a:pPr algn="l"/>
            <a:r>
              <a:rPr sz="1100" b="0" i="0">
                <a:solidFill>
                  <a:srgbClr val="0F172A"/>
                </a:solidFill>
                <a:latin typeface="Calibri"/>
              </a:rPr>
              <a:t>ChromaDB-indexed Contoso HR policy corpus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How we'll work together</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800">
                <a:solidFill>
                  <a:srgbClr val="0F172A"/>
                </a:solidFill>
                <a:latin typeface="Calibri"/>
              </a:rPr>
              <a:t>Live demos drive the session — slides exist to anchor the concept, not replace the work.</a:t>
            </a:r>
          </a:p>
          <a:p>
            <a:pPr algn="l" indent="-228600" marL="228600">
              <a:spcAft>
                <a:spcPts val="1000"/>
              </a:spcAft>
              <a:buChar char="•"/>
            </a:pPr>
            <a:r>
              <a:rPr sz="1800">
                <a:solidFill>
                  <a:srgbClr val="0F172A"/>
                </a:solidFill>
                <a:latin typeface="Calibri"/>
              </a:rPr>
              <a:t>I'll narrate every keystroke. If I move too fast, drop a note in Q&amp;A.</a:t>
            </a:r>
          </a:p>
          <a:p>
            <a:pPr algn="l" indent="-228600" marL="228600">
              <a:spcAft>
                <a:spcPts val="1000"/>
              </a:spcAft>
              <a:buChar char="•"/>
            </a:pPr>
            <a:r>
              <a:rPr sz="1800">
                <a:solidFill>
                  <a:srgbClr val="0F172A"/>
                </a:solidFill>
                <a:latin typeface="Calibri"/>
              </a:rPr>
              <a:t>Use the Q&amp;A window for questions; chat for side-conversations and links.</a:t>
            </a:r>
          </a:p>
          <a:p>
            <a:pPr algn="l" indent="-228600" marL="228600">
              <a:spcAft>
                <a:spcPts val="1000"/>
              </a:spcAft>
              <a:buChar char="•"/>
            </a:pPr>
            <a:r>
              <a:rPr sz="1800">
                <a:solidFill>
                  <a:srgbClr val="0F172A"/>
                </a:solidFill>
                <a:latin typeface="Calibri"/>
              </a:rPr>
              <a:t>Code is in the repo. You can follow along, watch, or skim — all three work.</a:t>
            </a:r>
          </a:p>
          <a:p>
            <a:pPr algn="l" indent="-228600" marL="228600">
              <a:spcAft>
                <a:spcPts val="1000"/>
              </a:spcAft>
              <a:buChar char="•"/>
            </a:pPr>
            <a:r>
              <a:rPr sz="1800">
                <a:solidFill>
                  <a:srgbClr val="0F172A"/>
                </a:solidFill>
                <a:latin typeface="Calibri"/>
              </a:rPr>
              <a:t>Stretch breaks at the top of each hour and a longer break at the half.</a:t>
            </a:r>
          </a:p>
          <a:p>
            <a:pPr algn="l" indent="-228600" marL="228600">
              <a:spcAft>
                <a:spcPts val="1000"/>
              </a:spcAft>
              <a:buChar char="•"/>
            </a:pPr>
            <a:r>
              <a:rPr sz="1800">
                <a:solidFill>
                  <a:srgbClr val="0F172A"/>
                </a:solidFill>
                <a:latin typeface="Calibri"/>
              </a:rPr>
              <a:t>Finished a section early? Jump ahead. The repo has the full pipeline ready to 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Recording, slides &amp; completion badge</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572000"/>
          </a:xfrm>
          <a:prstGeom prst="rect">
            <a:avLst/>
          </a:prstGeom>
          <a:noFill/>
        </p:spPr>
        <p:txBody>
          <a:bodyPr wrap="square" lIns="0" rIns="0" tIns="0" bIns="0">
            <a:spAutoFit/>
          </a:bodyPr>
          <a:lstStyle/>
          <a:p>
            <a:pPr algn="l" indent="-228600" marL="228600">
              <a:spcAft>
                <a:spcPts val="1400"/>
              </a:spcAft>
              <a:buChar char="•"/>
            </a:pPr>
            <a:r>
              <a:rPr sz="1800" b="1">
                <a:solidFill>
                  <a:srgbClr val="0B1B3F"/>
                </a:solidFill>
                <a:latin typeface="Calibri"/>
              </a:rPr>
              <a:t>Recording</a:t>
            </a:r>
            <a:r>
              <a:rPr sz="1800">
                <a:solidFill>
                  <a:srgbClr val="0F172A"/>
                </a:solidFill>
                <a:latin typeface="Calibri"/>
              </a:rPr>
              <a:t>  Available on the O'Reilly platform within 24-48 hours.</a:t>
            </a:r>
          </a:p>
          <a:p>
            <a:pPr algn="l" indent="-228600" marL="228600">
              <a:spcAft>
                <a:spcPts val="1400"/>
              </a:spcAft>
              <a:buChar char="•"/>
            </a:pPr>
            <a:r>
              <a:rPr sz="1800" b="1">
                <a:solidFill>
                  <a:srgbClr val="0B1B3F"/>
                </a:solidFill>
                <a:latin typeface="Calibri"/>
              </a:rPr>
              <a:t>Slides</a:t>
            </a:r>
            <a:r>
              <a:rPr sz="1800">
                <a:solidFill>
                  <a:srgbClr val="0F172A"/>
                </a:solidFill>
                <a:latin typeface="Calibri"/>
              </a:rPr>
              <a:t>  Posted in the course landing page · also at timw.info/agents2.</a:t>
            </a:r>
          </a:p>
          <a:p>
            <a:pPr algn="l" indent="-228600" marL="228600">
              <a:spcAft>
                <a:spcPts val="1400"/>
              </a:spcAft>
              <a:buChar char="•"/>
            </a:pPr>
            <a:r>
              <a:rPr sz="1800" b="1">
                <a:solidFill>
                  <a:srgbClr val="0B1B3F"/>
                </a:solidFill>
                <a:latin typeface="Calibri"/>
              </a:rPr>
              <a:t>Completion badge</a:t>
            </a:r>
            <a:r>
              <a:rPr sz="1800">
                <a:solidFill>
                  <a:srgbClr val="0F172A"/>
                </a:solidFill>
                <a:latin typeface="Calibri"/>
              </a:rPr>
              <a:t>  Issued after the session if you attend live (Acclaim / Credly).</a:t>
            </a:r>
          </a:p>
          <a:p>
            <a:pPr algn="l" indent="-228600" marL="228600">
              <a:spcAft>
                <a:spcPts val="1400"/>
              </a:spcAft>
              <a:buChar char="•"/>
            </a:pPr>
            <a:r>
              <a:rPr sz="1800" b="1">
                <a:solidFill>
                  <a:srgbClr val="0B1B3F"/>
                </a:solidFill>
                <a:latin typeface="Calibri"/>
              </a:rPr>
              <a:t>Captions</a:t>
            </a:r>
            <a:r>
              <a:rPr sz="1800">
                <a:solidFill>
                  <a:srgbClr val="0F172A"/>
                </a:solidFill>
                <a:latin typeface="Calibri"/>
              </a:rPr>
              <a:t>  Live captions on by default · search the transcript after the fact.</a:t>
            </a:r>
          </a:p>
          <a:p>
            <a:pPr algn="l" indent="-228600" marL="228600">
              <a:spcAft>
                <a:spcPts val="1400"/>
              </a:spcAft>
              <a:buChar char="•"/>
            </a:pPr>
            <a:r>
              <a:rPr sz="1800" b="1">
                <a:solidFill>
                  <a:srgbClr val="0B1B3F"/>
                </a:solidFill>
                <a:latin typeface="Calibri"/>
              </a:rPr>
              <a:t>CPE / continuing education</a:t>
            </a:r>
            <a:r>
              <a:rPr sz="1800">
                <a:solidFill>
                  <a:srgbClr val="0F172A"/>
                </a:solidFill>
                <a:latin typeface="Calibri"/>
              </a:rPr>
              <a:t>  O'Reilly issues a certificate of completion on request.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How to ask questions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858000" cy="4572000"/>
          </a:xfrm>
          <a:prstGeom prst="rect">
            <a:avLst/>
          </a:prstGeom>
          <a:noFill/>
        </p:spPr>
        <p:txBody>
          <a:bodyPr wrap="square" lIns="0" rIns="0" tIns="0" bIns="0">
            <a:spAutoFit/>
          </a:bodyPr>
          <a:lstStyle/>
          <a:p>
            <a:pPr algn="l" indent="-228600" marL="228600">
              <a:spcAft>
                <a:spcPts val="1100"/>
              </a:spcAft>
              <a:buChar char="•"/>
            </a:pPr>
            <a:r>
              <a:rPr sz="1600" b="1">
                <a:solidFill>
                  <a:srgbClr val="0B1B3F"/>
                </a:solidFill>
                <a:latin typeface="Calibri"/>
              </a:rPr>
              <a:t>Q&amp;A window</a:t>
            </a:r>
            <a:r>
              <a:rPr sz="1600">
                <a:solidFill>
                  <a:srgbClr val="0F172A"/>
                </a:solidFill>
                <a:latin typeface="Calibri"/>
              </a:rPr>
              <a:t>  Drop questions there — only O'Reilly staff and I see them.</a:t>
            </a:r>
          </a:p>
          <a:p>
            <a:pPr algn="l" indent="-228600" marL="228600">
              <a:spcAft>
                <a:spcPts val="1100"/>
              </a:spcAft>
              <a:buChar char="•"/>
            </a:pPr>
            <a:r>
              <a:rPr sz="1600" b="1">
                <a:solidFill>
                  <a:srgbClr val="0B1B3F"/>
                </a:solidFill>
                <a:latin typeface="Calibri"/>
              </a:rPr>
              <a:t>Chat</a:t>
            </a:r>
            <a:r>
              <a:rPr sz="1600">
                <a:solidFill>
                  <a:srgbClr val="0F172A"/>
                </a:solidFill>
                <a:latin typeface="Calibri"/>
              </a:rPr>
              <a:t>  Use chat for links, side-conversations, and emoji reactions.</a:t>
            </a:r>
          </a:p>
          <a:p>
            <a:pPr algn="l" indent="-228600" marL="228600">
              <a:spcAft>
                <a:spcPts val="1100"/>
              </a:spcAft>
              <a:buChar char="•"/>
            </a:pPr>
            <a:r>
              <a:rPr sz="1600" b="1">
                <a:solidFill>
                  <a:srgbClr val="0B1B3F"/>
                </a:solidFill>
                <a:latin typeface="Calibri"/>
              </a:rPr>
              <a:t>Audio glitches</a:t>
            </a:r>
            <a:r>
              <a:rPr sz="1600">
                <a:solidFill>
                  <a:srgbClr val="0F172A"/>
                </a:solidFill>
                <a:latin typeface="Calibri"/>
              </a:rPr>
              <a:t>  Tell me in Q&amp;A if I get crispy or my video freezes.</a:t>
            </a:r>
          </a:p>
          <a:p>
            <a:pPr algn="l" indent="-228600" marL="228600">
              <a:spcAft>
                <a:spcPts val="1100"/>
              </a:spcAft>
              <a:buChar char="•"/>
            </a:pPr>
            <a:r>
              <a:rPr sz="1600" b="1">
                <a:solidFill>
                  <a:srgbClr val="0B1B3F"/>
                </a:solidFill>
                <a:latin typeface="Calibri"/>
              </a:rPr>
              <a:t>Privacy</a:t>
            </a:r>
            <a:r>
              <a:rPr sz="1600">
                <a:solidFill>
                  <a:srgbClr val="0F172A"/>
                </a:solidFill>
                <a:latin typeface="Calibri"/>
              </a:rPr>
              <a:t>  Your name shows as initials only · no company is visible.</a:t>
            </a:r>
          </a:p>
          <a:p>
            <a:pPr algn="l" indent="-228600" marL="228600">
              <a:spcAft>
                <a:spcPts val="1100"/>
              </a:spcAft>
              <a:buChar char="•"/>
            </a:pPr>
            <a:r>
              <a:rPr sz="1600" b="1">
                <a:solidFill>
                  <a:srgbClr val="0B1B3F"/>
                </a:solidFill>
                <a:latin typeface="Calibri"/>
              </a:rPr>
              <a:t>Don't wait</a:t>
            </a:r>
            <a:r>
              <a:rPr sz="1600">
                <a:solidFill>
                  <a:srgbClr val="0F172A"/>
                </a:solidFill>
                <a:latin typeface="Calibri"/>
              </a:rPr>
              <a:t>  Ask the question while it's hot — I'd rather pause than miss it.</a:t>
            </a:r>
          </a:p>
        </p:txBody>
      </p:sp>
      <p:sp>
        <p:nvSpPr>
          <p:cNvPr id="8" name="Rectangle 7"/>
          <p:cNvSpPr/>
          <p:nvPr/>
        </p:nvSpPr>
        <p:spPr>
          <a:xfrm>
            <a:off x="7863840" y="1417320"/>
            <a:ext cx="3840480"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828800"/>
            <a:ext cx="3383280" cy="2743200"/>
          </a:xfrm>
          <a:prstGeom prst="rect">
            <a:avLst/>
          </a:prstGeom>
          <a:noFill/>
        </p:spPr>
        <p:txBody>
          <a:bodyPr wrap="square" lIns="0" rIns="0" tIns="0" bIns="0" anchor="t">
            <a:spAutoFit/>
          </a:bodyPr>
          <a:lstStyle/>
          <a:p>
            <a:pPr algn="l"/>
            <a:r>
              <a:rPr sz="1800" b="1" i="1">
                <a:solidFill>
                  <a:srgbClr val="07122C"/>
                </a:solidFill>
                <a:latin typeface="Calibri"/>
              </a:rPr>
              <a:t>There are no silly questions. The dumb question you didn't ask is the one that's also bothering 12 other people.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What you'll leave with</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800" b="1">
                <a:solidFill>
                  <a:srgbClr val="0B1B3F"/>
                </a:solidFill>
                <a:latin typeface="Calibri"/>
              </a:rPr>
              <a:t>A working agent</a:t>
            </a:r>
            <a:r>
              <a:rPr sz="1800">
                <a:solidFill>
                  <a:srgbClr val="0F172A"/>
                </a:solidFill>
                <a:latin typeface="Calibri"/>
              </a:rPr>
              <a:t>  The Contoso HR Agent — a 4-agent parallel pipeline you can run on your laptop.</a:t>
            </a:r>
          </a:p>
          <a:p>
            <a:pPr algn="l" indent="-228600" marL="228600">
              <a:spcAft>
                <a:spcPts val="1000"/>
              </a:spcAft>
              <a:buChar char="•"/>
            </a:pPr>
            <a:r>
              <a:rPr sz="1800" b="1">
                <a:solidFill>
                  <a:srgbClr val="0B1B3F"/>
                </a:solidFill>
                <a:latin typeface="Calibri"/>
              </a:rPr>
              <a:t>A mental model</a:t>
            </a:r>
            <a:r>
              <a:rPr sz="1800">
                <a:solidFill>
                  <a:srgbClr val="0F172A"/>
                </a:solidFill>
                <a:latin typeface="Calibri"/>
              </a:rPr>
              <a:t>  When to reach for low-code (Copilot Studio) vs code-first (LangGraph + CrewAI).</a:t>
            </a:r>
          </a:p>
          <a:p>
            <a:pPr algn="l" indent="-228600" marL="228600">
              <a:spcAft>
                <a:spcPts val="1000"/>
              </a:spcAft>
              <a:buChar char="•"/>
            </a:pPr>
            <a:r>
              <a:rPr sz="1800" b="1">
                <a:solidFill>
                  <a:srgbClr val="0B1B3F"/>
                </a:solidFill>
                <a:latin typeface="Calibri"/>
              </a:rPr>
              <a:t>MCP fluency</a:t>
            </a:r>
            <a:r>
              <a:rPr sz="1800">
                <a:solidFill>
                  <a:srgbClr val="0F172A"/>
                </a:solidFill>
                <a:latin typeface="Calibri"/>
              </a:rPr>
              <a:t>  All five primitives: tools, resources, prompts, sampling, elicitation.</a:t>
            </a:r>
          </a:p>
          <a:p>
            <a:pPr algn="l" indent="-228600" marL="228600">
              <a:spcAft>
                <a:spcPts val="1000"/>
              </a:spcAft>
              <a:buChar char="•"/>
            </a:pPr>
            <a:r>
              <a:rPr sz="1800" b="1">
                <a:solidFill>
                  <a:srgbClr val="0B1B3F"/>
                </a:solidFill>
                <a:latin typeface="Calibri"/>
              </a:rPr>
              <a:t>Production patterns</a:t>
            </a:r>
            <a:r>
              <a:rPr sz="1800">
                <a:solidFill>
                  <a:srgbClr val="0F172A"/>
                </a:solidFill>
                <a:latin typeface="Calibri"/>
              </a:rPr>
              <a:t>  Foundry Agent Service · APIM AI gateway · guardrails · cost controls.</a:t>
            </a:r>
          </a:p>
          <a:p>
            <a:pPr algn="l" indent="-228600" marL="228600">
              <a:spcAft>
                <a:spcPts val="1000"/>
              </a:spcAft>
              <a:buChar char="•"/>
            </a:pPr>
            <a:r>
              <a:rPr sz="1800" b="1">
                <a:solidFill>
                  <a:srgbClr val="0B1B3F"/>
                </a:solidFill>
                <a:latin typeface="Calibri"/>
              </a:rPr>
              <a:t>A repo to fork</a:t>
            </a:r>
            <a:r>
              <a:rPr sz="1800">
                <a:solidFill>
                  <a:srgbClr val="0F172A"/>
                </a:solidFill>
                <a:latin typeface="Calibri"/>
              </a:rPr>
              <a:t>  github.com/timothywarner-org/agents2 — clone it, break it, ship something.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01</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What is an Agent?</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From chatbot to ReAct loop · low-code vs code-first · build with both.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CONCEPTS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Chatbot vs Agent — the action gap</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Chatbot</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Answers a question.</a:t>
            </a:r>
          </a:p>
          <a:p>
            <a:pPr algn="l" indent="-228600" marL="228600">
              <a:spcAft>
                <a:spcPts val="800"/>
              </a:spcAft>
              <a:buChar char="•"/>
            </a:pPr>
            <a:r>
              <a:rPr sz="1500">
                <a:solidFill>
                  <a:srgbClr val="0F172A"/>
                </a:solidFill>
                <a:latin typeface="Calibri"/>
              </a:rPr>
              <a:t>Stateless — each message is fresh.</a:t>
            </a:r>
          </a:p>
          <a:p>
            <a:pPr algn="l" indent="-228600" marL="228600">
              <a:spcAft>
                <a:spcPts val="800"/>
              </a:spcAft>
              <a:buChar char="•"/>
            </a:pPr>
            <a:r>
              <a:rPr sz="1500">
                <a:solidFill>
                  <a:srgbClr val="0F172A"/>
                </a:solidFill>
                <a:latin typeface="Calibri"/>
              </a:rPr>
              <a:t>No tools beyond text generation.</a:t>
            </a:r>
          </a:p>
          <a:p>
            <a:pPr algn="l" indent="-228600" marL="228600">
              <a:spcAft>
                <a:spcPts val="800"/>
              </a:spcAft>
              <a:buChar char="•"/>
            </a:pPr>
            <a:r>
              <a:rPr sz="1500">
                <a:solidFill>
                  <a:srgbClr val="0F172A"/>
                </a:solidFill>
                <a:latin typeface="Calibri"/>
              </a:rPr>
              <a:t>Single turn: prompt in, completion out.</a:t>
            </a:r>
          </a:p>
          <a:p>
            <a:pPr algn="l" indent="-228600" marL="228600">
              <a:spcAft>
                <a:spcPts val="800"/>
              </a:spcAft>
              <a:buChar char="•"/>
            </a:pPr>
            <a:r>
              <a:rPr sz="1500">
                <a:solidFill>
                  <a:srgbClr val="0F172A"/>
                </a:solidFill>
                <a:latin typeface="Calibri"/>
              </a:rPr>
              <a:t>If it can't answer, it apologizes.</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Agent</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Takes an action toward a goal.</a:t>
            </a:r>
          </a:p>
          <a:p>
            <a:pPr algn="l" indent="-228600" marL="228600">
              <a:spcAft>
                <a:spcPts val="800"/>
              </a:spcAft>
              <a:buChar char="•"/>
            </a:pPr>
            <a:r>
              <a:rPr sz="1500">
                <a:solidFill>
                  <a:srgbClr val="0F172A"/>
                </a:solidFill>
                <a:latin typeface="Calibri"/>
              </a:rPr>
              <a:t>Stateful — remembers context across turns.</a:t>
            </a:r>
          </a:p>
          <a:p>
            <a:pPr algn="l" indent="-228600" marL="228600">
              <a:spcAft>
                <a:spcPts val="800"/>
              </a:spcAft>
              <a:buChar char="•"/>
            </a:pPr>
            <a:r>
              <a:rPr sz="1500">
                <a:solidFill>
                  <a:srgbClr val="0F172A"/>
                </a:solidFill>
                <a:latin typeface="Calibri"/>
              </a:rPr>
              <a:t>Calls tools: APIs, files, databases, code.</a:t>
            </a:r>
          </a:p>
          <a:p>
            <a:pPr algn="l" indent="-228600" marL="228600">
              <a:spcAft>
                <a:spcPts val="800"/>
              </a:spcAft>
              <a:buChar char="•"/>
            </a:pPr>
            <a:r>
              <a:rPr sz="1500">
                <a:solidFill>
                  <a:srgbClr val="0F172A"/>
                </a:solidFill>
                <a:latin typeface="Calibri"/>
              </a:rPr>
              <a:t>Multi-turn loop: observe → think → act.</a:t>
            </a:r>
          </a:p>
          <a:p>
            <a:pPr algn="l" indent="-228600" marL="228600">
              <a:spcAft>
                <a:spcPts val="800"/>
              </a:spcAft>
              <a:buChar char="•"/>
            </a:pPr>
            <a:r>
              <a:rPr sz="1500">
                <a:solidFill>
                  <a:srgbClr val="0F172A"/>
                </a:solidFill>
                <a:latin typeface="Calibri"/>
              </a:rPr>
              <a:t>If it can't do it, it tries another path.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CONCEPTS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ReAct loop — observe · think · act · repeat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6400800" cy="47548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94560"/>
            <a:ext cx="2194560" cy="91440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94560"/>
            <a:ext cx="2194560" cy="914400"/>
          </a:xfrm>
          <a:prstGeom prst="rect">
            <a:avLst/>
          </a:prstGeom>
          <a:noFill/>
        </p:spPr>
        <p:txBody>
          <a:bodyPr wrap="square" lIns="0" rIns="0" tIns="0" bIns="0" anchor="ctr">
            <a:spAutoFit/>
          </a:bodyPr>
          <a:lstStyle/>
          <a:p>
            <a:pPr algn="ctr"/>
            <a:r>
              <a:rPr sz="2000" b="1" i="0">
                <a:solidFill>
                  <a:srgbClr val="FFFFFF"/>
                </a:solidFill>
                <a:latin typeface="Calibri"/>
              </a:rPr>
              <a:t>Observe</a:t>
            </a:r>
          </a:p>
        </p:txBody>
      </p:sp>
      <p:sp>
        <p:nvSpPr>
          <p:cNvPr id="11" name="Rectangle 10"/>
          <p:cNvSpPr/>
          <p:nvPr/>
        </p:nvSpPr>
        <p:spPr>
          <a:xfrm>
            <a:off x="4297680" y="2194560"/>
            <a:ext cx="2194560" cy="914400"/>
          </a:xfrm>
          <a:prstGeom prst="rect">
            <a:avLst/>
          </a:prstGeom>
          <a:solidFill>
            <a:srgbClr val="CC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2194560"/>
            <a:ext cx="2194560" cy="914400"/>
          </a:xfrm>
          <a:prstGeom prst="rect">
            <a:avLst/>
          </a:prstGeom>
          <a:noFill/>
        </p:spPr>
        <p:txBody>
          <a:bodyPr wrap="square" lIns="0" rIns="0" tIns="0" bIns="0" anchor="ctr">
            <a:spAutoFit/>
          </a:bodyPr>
          <a:lstStyle/>
          <a:p>
            <a:pPr algn="ctr"/>
            <a:r>
              <a:rPr sz="2000" b="1" i="0">
                <a:solidFill>
                  <a:srgbClr val="FFFFFF"/>
                </a:solidFill>
                <a:latin typeface="Calibri"/>
              </a:rPr>
              <a:t>Think</a:t>
            </a:r>
          </a:p>
        </p:txBody>
      </p:sp>
      <p:sp>
        <p:nvSpPr>
          <p:cNvPr id="13" name="Rectangle 12"/>
          <p:cNvSpPr/>
          <p:nvPr/>
        </p:nvSpPr>
        <p:spPr>
          <a:xfrm>
            <a:off x="2697480" y="4206240"/>
            <a:ext cx="2194560" cy="9144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97480" y="4206240"/>
            <a:ext cx="2194560" cy="914400"/>
          </a:xfrm>
          <a:prstGeom prst="rect">
            <a:avLst/>
          </a:prstGeom>
          <a:noFill/>
        </p:spPr>
        <p:txBody>
          <a:bodyPr wrap="square" lIns="0" rIns="0" tIns="0" bIns="0" anchor="ctr">
            <a:spAutoFit/>
          </a:bodyPr>
          <a:lstStyle/>
          <a:p>
            <a:pPr algn="ctr"/>
            <a:r>
              <a:rPr sz="2000" b="1" i="0">
                <a:solidFill>
                  <a:srgbClr val="FFFFFF"/>
                </a:solidFill>
                <a:latin typeface="Calibri"/>
              </a:rPr>
              <a:t>Act</a:t>
            </a:r>
          </a:p>
        </p:txBody>
      </p:sp>
      <p:sp>
        <p:nvSpPr>
          <p:cNvPr id="15" name="Right Arrow 14"/>
          <p:cNvSpPr/>
          <p:nvPr/>
        </p:nvSpPr>
        <p:spPr>
          <a:xfrm>
            <a:off x="3291840" y="2468880"/>
            <a:ext cx="100584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rot="5400000">
            <a:off x="4663440" y="3154680"/>
            <a:ext cx="91440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rot="12900000">
            <a:off x="2194560" y="3657600"/>
            <a:ext cx="91440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1417320"/>
            <a:ext cx="4297680" cy="457200"/>
          </a:xfrm>
          <a:prstGeom prst="rect">
            <a:avLst/>
          </a:prstGeom>
          <a:noFill/>
        </p:spPr>
        <p:txBody>
          <a:bodyPr wrap="square" lIns="0" rIns="0" tIns="0" bIns="0" anchor="t">
            <a:spAutoFit/>
          </a:bodyPr>
          <a:lstStyle/>
          <a:p>
            <a:pPr algn="l"/>
            <a:r>
              <a:rPr sz="1800" b="1" i="0">
                <a:solidFill>
                  <a:srgbClr val="0B1B3F"/>
                </a:solidFill>
                <a:latin typeface="Calibri"/>
              </a:rPr>
              <a:t>What it looks like in practice</a:t>
            </a:r>
          </a:p>
        </p:txBody>
      </p:sp>
      <p:sp>
        <p:nvSpPr>
          <p:cNvPr id="19" name="TextBox 18"/>
          <p:cNvSpPr txBox="1"/>
          <p:nvPr/>
        </p:nvSpPr>
        <p:spPr>
          <a:xfrm>
            <a:off x="7315200" y="1920240"/>
            <a:ext cx="4297680" cy="4114800"/>
          </a:xfrm>
          <a:prstGeom prst="rect">
            <a:avLst/>
          </a:prstGeom>
          <a:noFill/>
        </p:spPr>
        <p:txBody>
          <a:bodyPr wrap="square" lIns="0" rIns="0" tIns="0" bIns="0">
            <a:spAutoFit/>
          </a:bodyPr>
          <a:lstStyle/>
          <a:p>
            <a:pPr algn="l">
              <a:spcAft>
                <a:spcPts val="400"/>
              </a:spcAft>
            </a:pPr>
            <a:r>
              <a:rPr sz="1200">
                <a:solidFill>
                  <a:srgbClr val="0F172A"/>
                </a:solidFill>
                <a:latin typeface="Calibri"/>
              </a:rPr>
              <a:t>User: 'Add a login button to the header.'</a:t>
            </a:r>
          </a:p>
          <a:p>
            <a:pPr algn="l">
              <a:spcAft>
                <a:spcPts val="400"/>
              </a:spcAft>
            </a:pPr>
            <a:r>
              <a:rPr sz="1200">
                <a:solidFill>
                  <a:srgbClr val="0F172A"/>
                </a:solidFill>
                <a:latin typeface="Calibri"/>
              </a:rPr>
              <a:t>Think: I need to find the header file first.</a:t>
            </a:r>
          </a:p>
          <a:p>
            <a:pPr algn="l">
              <a:spcAft>
                <a:spcPts val="400"/>
              </a:spcAft>
            </a:pPr>
            <a:r>
              <a:rPr sz="1200">
                <a:solidFill>
                  <a:srgbClr val="0F172A"/>
                </a:solidFill>
                <a:latin typeface="Calibri"/>
              </a:rPr>
              <a:t>Act: search('Header.tsx').</a:t>
            </a:r>
          </a:p>
          <a:p>
            <a:pPr algn="l">
              <a:spcAft>
                <a:spcPts val="400"/>
              </a:spcAft>
            </a:pPr>
            <a:r>
              <a:rPr sz="1200">
                <a:solidFill>
                  <a:srgbClr val="0F172A"/>
                </a:solidFill>
                <a:latin typeface="Calibri"/>
              </a:rPr>
              <a:t>Observe: src/components/Header.tsx found.</a:t>
            </a:r>
          </a:p>
          <a:p>
            <a:pPr algn="l">
              <a:spcAft>
                <a:spcPts val="400"/>
              </a:spcAft>
            </a:pPr>
            <a:r>
              <a:rPr sz="1200">
                <a:solidFill>
                  <a:srgbClr val="0F172A"/>
                </a:solidFill>
                <a:latin typeface="Calibri"/>
              </a:rPr>
              <a:t>Think: Read it to understand structure.</a:t>
            </a:r>
          </a:p>
          <a:p>
            <a:pPr algn="l">
              <a:spcAft>
                <a:spcPts val="400"/>
              </a:spcAft>
            </a:pPr>
            <a:r>
              <a:rPr sz="1200">
                <a:solidFill>
                  <a:srgbClr val="0F172A"/>
                </a:solidFill>
                <a:latin typeface="Calibri"/>
              </a:rPr>
              <a:t>Act: read_file(...).</a:t>
            </a:r>
          </a:p>
          <a:p>
            <a:pPr algn="l">
              <a:spcAft>
                <a:spcPts val="400"/>
              </a:spcAft>
            </a:pPr>
            <a:r>
              <a:rPr sz="1200">
                <a:solidFill>
                  <a:srgbClr val="0F172A"/>
                </a:solidFill>
                <a:latin typeface="Calibri"/>
              </a:rPr>
              <a:t>Observe: React component with NavBar.</a:t>
            </a:r>
          </a:p>
          <a:p>
            <a:pPr algn="l">
              <a:spcAft>
                <a:spcPts val="400"/>
              </a:spcAft>
            </a:pPr>
            <a:r>
              <a:rPr sz="1200">
                <a:solidFill>
                  <a:srgbClr val="0F172A"/>
                </a:solidFill>
                <a:latin typeface="Calibri"/>
              </a:rPr>
              <a:t>Act: edit Header.tsx → import LoginButton.</a:t>
            </a:r>
          </a:p>
          <a:p>
            <a:pPr algn="l">
              <a:spcAft>
                <a:spcPts val="400"/>
              </a:spcAft>
            </a:pPr>
            <a:r>
              <a:rPr sz="1200">
                <a:solidFill>
                  <a:srgbClr val="0F172A"/>
                </a:solidFill>
                <a:latin typeface="Calibri"/>
              </a:rPr>
              <a:t>Reply: 'Done. Login button added.'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CONCEPTS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Five pillars of an agent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2167128" cy="914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508760"/>
            <a:ext cx="2167128" cy="448056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1847088" cy="548640"/>
          </a:xfrm>
          <a:prstGeom prst="rect">
            <a:avLst/>
          </a:prstGeom>
          <a:noFill/>
        </p:spPr>
        <p:txBody>
          <a:bodyPr wrap="square" lIns="0" rIns="0" tIns="0" bIns="0" anchor="t">
            <a:spAutoFit/>
          </a:bodyPr>
          <a:lstStyle/>
          <a:p>
            <a:pPr algn="l"/>
            <a:r>
              <a:rPr sz="1800" b="1" i="0">
                <a:solidFill>
                  <a:srgbClr val="0B1B3F"/>
                </a:solidFill>
                <a:latin typeface="Calibri"/>
              </a:rPr>
              <a:t>Goal</a:t>
            </a:r>
          </a:p>
        </p:txBody>
      </p:sp>
      <p:sp>
        <p:nvSpPr>
          <p:cNvPr id="11" name="TextBox 10"/>
          <p:cNvSpPr txBox="1"/>
          <p:nvPr/>
        </p:nvSpPr>
        <p:spPr>
          <a:xfrm>
            <a:off x="731520" y="2377440"/>
            <a:ext cx="1847088" cy="3474720"/>
          </a:xfrm>
          <a:prstGeom prst="rect">
            <a:avLst/>
          </a:prstGeom>
          <a:noFill/>
        </p:spPr>
        <p:txBody>
          <a:bodyPr wrap="square" lIns="0" rIns="0" tIns="0" bIns="0">
            <a:spAutoFit/>
          </a:bodyPr>
          <a:lstStyle/>
          <a:p>
            <a:pPr algn="l">
              <a:spcAft>
                <a:spcPts val="500"/>
              </a:spcAft>
            </a:pPr>
            <a:r>
              <a:rPr sz="1200">
                <a:solidFill>
                  <a:srgbClr val="0F172A"/>
                </a:solidFill>
                <a:latin typeface="Calibri"/>
              </a:rPr>
              <a:t>A clear objective the agent is trying to satisfy. No goal = aimless chat.</a:t>
            </a:r>
          </a:p>
        </p:txBody>
      </p:sp>
      <p:sp>
        <p:nvSpPr>
          <p:cNvPr id="12" name="Rectangle 11"/>
          <p:cNvSpPr/>
          <p:nvPr/>
        </p:nvSpPr>
        <p:spPr>
          <a:xfrm>
            <a:off x="2761488" y="1417320"/>
            <a:ext cx="2167128" cy="914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61488" y="1508760"/>
            <a:ext cx="2167128" cy="448056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44368" y="1691640"/>
            <a:ext cx="1847088" cy="548640"/>
          </a:xfrm>
          <a:prstGeom prst="rect">
            <a:avLst/>
          </a:prstGeom>
          <a:noFill/>
        </p:spPr>
        <p:txBody>
          <a:bodyPr wrap="square" lIns="0" rIns="0" tIns="0" bIns="0" anchor="t">
            <a:spAutoFit/>
          </a:bodyPr>
          <a:lstStyle/>
          <a:p>
            <a:pPr algn="l"/>
            <a:r>
              <a:rPr sz="1800" b="1" i="0">
                <a:solidFill>
                  <a:srgbClr val="0B1B3F"/>
                </a:solidFill>
                <a:latin typeface="Calibri"/>
              </a:rPr>
              <a:t>Tools</a:t>
            </a:r>
          </a:p>
        </p:txBody>
      </p:sp>
      <p:sp>
        <p:nvSpPr>
          <p:cNvPr id="15" name="TextBox 14"/>
          <p:cNvSpPr txBox="1"/>
          <p:nvPr/>
        </p:nvSpPr>
        <p:spPr>
          <a:xfrm>
            <a:off x="2944368" y="2377440"/>
            <a:ext cx="1847088" cy="3474720"/>
          </a:xfrm>
          <a:prstGeom prst="rect">
            <a:avLst/>
          </a:prstGeom>
          <a:noFill/>
        </p:spPr>
        <p:txBody>
          <a:bodyPr wrap="square" lIns="0" rIns="0" tIns="0" bIns="0">
            <a:spAutoFit/>
          </a:bodyPr>
          <a:lstStyle/>
          <a:p>
            <a:pPr algn="l">
              <a:spcAft>
                <a:spcPts val="500"/>
              </a:spcAft>
            </a:pPr>
            <a:r>
              <a:rPr sz="1200">
                <a:solidFill>
                  <a:srgbClr val="0F172A"/>
                </a:solidFill>
                <a:latin typeface="Calibri"/>
              </a:rPr>
              <a:t>APIs, files, shells, DBs. Tools turn reasoning into action.</a:t>
            </a:r>
          </a:p>
        </p:txBody>
      </p:sp>
      <p:sp>
        <p:nvSpPr>
          <p:cNvPr id="16" name="Rectangle 15"/>
          <p:cNvSpPr/>
          <p:nvPr/>
        </p:nvSpPr>
        <p:spPr>
          <a:xfrm>
            <a:off x="4974336" y="1417320"/>
            <a:ext cx="2167128" cy="914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74336" y="1508760"/>
            <a:ext cx="2167128" cy="448056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57216" y="1691640"/>
            <a:ext cx="1847088" cy="548640"/>
          </a:xfrm>
          <a:prstGeom prst="rect">
            <a:avLst/>
          </a:prstGeom>
          <a:noFill/>
        </p:spPr>
        <p:txBody>
          <a:bodyPr wrap="square" lIns="0" rIns="0" tIns="0" bIns="0" anchor="t">
            <a:spAutoFit/>
          </a:bodyPr>
          <a:lstStyle/>
          <a:p>
            <a:pPr algn="l"/>
            <a:r>
              <a:rPr sz="1800" b="1" i="0">
                <a:solidFill>
                  <a:srgbClr val="0B1B3F"/>
                </a:solidFill>
                <a:latin typeface="Calibri"/>
              </a:rPr>
              <a:t>Memory</a:t>
            </a:r>
          </a:p>
        </p:txBody>
      </p:sp>
      <p:sp>
        <p:nvSpPr>
          <p:cNvPr id="19" name="TextBox 18"/>
          <p:cNvSpPr txBox="1"/>
          <p:nvPr/>
        </p:nvSpPr>
        <p:spPr>
          <a:xfrm>
            <a:off x="5157216" y="2377440"/>
            <a:ext cx="1847088" cy="3474720"/>
          </a:xfrm>
          <a:prstGeom prst="rect">
            <a:avLst/>
          </a:prstGeom>
          <a:noFill/>
        </p:spPr>
        <p:txBody>
          <a:bodyPr wrap="square" lIns="0" rIns="0" tIns="0" bIns="0">
            <a:spAutoFit/>
          </a:bodyPr>
          <a:lstStyle/>
          <a:p>
            <a:pPr algn="l">
              <a:spcAft>
                <a:spcPts val="500"/>
              </a:spcAft>
            </a:pPr>
            <a:r>
              <a:rPr sz="1200">
                <a:solidFill>
                  <a:srgbClr val="0F172A"/>
                </a:solidFill>
                <a:latin typeface="Calibri"/>
              </a:rPr>
              <a:t>Working context + long-term store (vector DB, checkpoints).</a:t>
            </a:r>
          </a:p>
        </p:txBody>
      </p:sp>
      <p:sp>
        <p:nvSpPr>
          <p:cNvPr id="20" name="Rectangle 19"/>
          <p:cNvSpPr/>
          <p:nvPr/>
        </p:nvSpPr>
        <p:spPr>
          <a:xfrm>
            <a:off x="7187184" y="1417320"/>
            <a:ext cx="2167128" cy="914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87184" y="1508760"/>
            <a:ext cx="2167128" cy="448056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70064" y="1691640"/>
            <a:ext cx="1847088" cy="548640"/>
          </a:xfrm>
          <a:prstGeom prst="rect">
            <a:avLst/>
          </a:prstGeom>
          <a:noFill/>
        </p:spPr>
        <p:txBody>
          <a:bodyPr wrap="square" lIns="0" rIns="0" tIns="0" bIns="0" anchor="t">
            <a:spAutoFit/>
          </a:bodyPr>
          <a:lstStyle/>
          <a:p>
            <a:pPr algn="l"/>
            <a:r>
              <a:rPr sz="1800" b="1" i="0">
                <a:solidFill>
                  <a:srgbClr val="0B1B3F"/>
                </a:solidFill>
                <a:latin typeface="Calibri"/>
              </a:rPr>
              <a:t>Loop</a:t>
            </a:r>
          </a:p>
        </p:txBody>
      </p:sp>
      <p:sp>
        <p:nvSpPr>
          <p:cNvPr id="23" name="TextBox 22"/>
          <p:cNvSpPr txBox="1"/>
          <p:nvPr/>
        </p:nvSpPr>
        <p:spPr>
          <a:xfrm>
            <a:off x="7370064" y="2377440"/>
            <a:ext cx="1847088" cy="3474720"/>
          </a:xfrm>
          <a:prstGeom prst="rect">
            <a:avLst/>
          </a:prstGeom>
          <a:noFill/>
        </p:spPr>
        <p:txBody>
          <a:bodyPr wrap="square" lIns="0" rIns="0" tIns="0" bIns="0">
            <a:spAutoFit/>
          </a:bodyPr>
          <a:lstStyle/>
          <a:p>
            <a:pPr algn="l">
              <a:spcAft>
                <a:spcPts val="500"/>
              </a:spcAft>
            </a:pPr>
            <a:r>
              <a:rPr sz="1200">
                <a:solidFill>
                  <a:srgbClr val="0F172A"/>
                </a:solidFill>
                <a:latin typeface="Calibri"/>
              </a:rPr>
              <a:t>Multi-step plan-act-observe cycle, with retries on failure.</a:t>
            </a:r>
          </a:p>
        </p:txBody>
      </p:sp>
      <p:sp>
        <p:nvSpPr>
          <p:cNvPr id="24" name="Rectangle 23"/>
          <p:cNvSpPr/>
          <p:nvPr/>
        </p:nvSpPr>
        <p:spPr>
          <a:xfrm>
            <a:off x="9400032" y="1417320"/>
            <a:ext cx="2167128" cy="914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00032" y="1508760"/>
            <a:ext cx="2167128" cy="448056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82912" y="1691640"/>
            <a:ext cx="1847088" cy="548640"/>
          </a:xfrm>
          <a:prstGeom prst="rect">
            <a:avLst/>
          </a:prstGeom>
          <a:noFill/>
        </p:spPr>
        <p:txBody>
          <a:bodyPr wrap="square" lIns="0" rIns="0" tIns="0" bIns="0" anchor="t">
            <a:spAutoFit/>
          </a:bodyPr>
          <a:lstStyle/>
          <a:p>
            <a:pPr algn="l"/>
            <a:r>
              <a:rPr sz="1800" b="1" i="0">
                <a:solidFill>
                  <a:srgbClr val="0B1B3F"/>
                </a:solidFill>
                <a:latin typeface="Calibri"/>
              </a:rPr>
              <a:t>Autonomy</a:t>
            </a:r>
          </a:p>
        </p:txBody>
      </p:sp>
      <p:sp>
        <p:nvSpPr>
          <p:cNvPr id="27" name="TextBox 26"/>
          <p:cNvSpPr txBox="1"/>
          <p:nvPr/>
        </p:nvSpPr>
        <p:spPr>
          <a:xfrm>
            <a:off x="9582912" y="2377440"/>
            <a:ext cx="1847088" cy="3474720"/>
          </a:xfrm>
          <a:prstGeom prst="rect">
            <a:avLst/>
          </a:prstGeom>
          <a:noFill/>
        </p:spPr>
        <p:txBody>
          <a:bodyPr wrap="square" lIns="0" rIns="0" tIns="0" bIns="0">
            <a:spAutoFit/>
          </a:bodyPr>
          <a:lstStyle/>
          <a:p>
            <a:pPr algn="l">
              <a:spcAft>
                <a:spcPts val="500"/>
              </a:spcAft>
            </a:pPr>
            <a:r>
              <a:rPr sz="1200">
                <a:solidFill>
                  <a:srgbClr val="0F172A"/>
                </a:solidFill>
                <a:latin typeface="Calibri"/>
              </a:rPr>
              <a:t>Right amount of human-in-the-loop. Tunable per task.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CONCEPTS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Agent patterns — pick the right shape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14173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508760"/>
            <a:ext cx="3200400" cy="502920"/>
          </a:xfrm>
          <a:prstGeom prst="rect">
            <a:avLst/>
          </a:prstGeom>
          <a:noFill/>
        </p:spPr>
        <p:txBody>
          <a:bodyPr wrap="square" lIns="0" rIns="0" tIns="0" bIns="0" anchor="t">
            <a:spAutoFit/>
          </a:bodyPr>
          <a:lstStyle/>
          <a:p>
            <a:pPr algn="l"/>
            <a:r>
              <a:rPr sz="1600" b="1" i="0">
                <a:solidFill>
                  <a:srgbClr val="0B1B3F"/>
                </a:solidFill>
                <a:latin typeface="Calibri"/>
              </a:rPr>
              <a:t>ReAct</a:t>
            </a:r>
          </a:p>
        </p:txBody>
      </p:sp>
      <p:sp>
        <p:nvSpPr>
          <p:cNvPr id="11" name="TextBox 10"/>
          <p:cNvSpPr txBox="1"/>
          <p:nvPr/>
        </p:nvSpPr>
        <p:spPr>
          <a:xfrm>
            <a:off x="4206240" y="1508760"/>
            <a:ext cx="7315200" cy="502920"/>
          </a:xfrm>
          <a:prstGeom prst="rect">
            <a:avLst/>
          </a:prstGeom>
          <a:noFill/>
        </p:spPr>
        <p:txBody>
          <a:bodyPr wrap="square" lIns="0" rIns="0" tIns="0" bIns="0" anchor="ctr">
            <a:spAutoFit/>
          </a:bodyPr>
          <a:lstStyle/>
          <a:p>
            <a:pPr algn="l"/>
            <a:r>
              <a:rPr sz="1300" b="0" i="0">
                <a:solidFill>
                  <a:srgbClr val="0F172A"/>
                </a:solidFill>
                <a:latin typeface="Calibri"/>
              </a:rPr>
              <a:t>Tool-calling loop: think → act → observe → repeat. The default.</a:t>
            </a:r>
          </a:p>
        </p:txBody>
      </p:sp>
      <p:sp>
        <p:nvSpPr>
          <p:cNvPr id="12" name="Rectangle 11"/>
          <p:cNvSpPr/>
          <p:nvPr/>
        </p:nvSpPr>
        <p:spPr>
          <a:xfrm>
            <a:off x="640080" y="219456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 y="219456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286000"/>
            <a:ext cx="3200400" cy="502920"/>
          </a:xfrm>
          <a:prstGeom prst="rect">
            <a:avLst/>
          </a:prstGeom>
          <a:noFill/>
        </p:spPr>
        <p:txBody>
          <a:bodyPr wrap="square" lIns="0" rIns="0" tIns="0" bIns="0" anchor="t">
            <a:spAutoFit/>
          </a:bodyPr>
          <a:lstStyle/>
          <a:p>
            <a:pPr algn="l"/>
            <a:r>
              <a:rPr sz="1600" b="1" i="0">
                <a:solidFill>
                  <a:srgbClr val="0B1B3F"/>
                </a:solidFill>
                <a:latin typeface="Calibri"/>
              </a:rPr>
              <a:t>Plan-and-Execute</a:t>
            </a:r>
          </a:p>
        </p:txBody>
      </p:sp>
      <p:sp>
        <p:nvSpPr>
          <p:cNvPr id="15" name="TextBox 14"/>
          <p:cNvSpPr txBox="1"/>
          <p:nvPr/>
        </p:nvSpPr>
        <p:spPr>
          <a:xfrm>
            <a:off x="4206240" y="2286000"/>
            <a:ext cx="7315200" cy="502920"/>
          </a:xfrm>
          <a:prstGeom prst="rect">
            <a:avLst/>
          </a:prstGeom>
          <a:noFill/>
        </p:spPr>
        <p:txBody>
          <a:bodyPr wrap="square" lIns="0" rIns="0" tIns="0" bIns="0" anchor="ctr">
            <a:spAutoFit/>
          </a:bodyPr>
          <a:lstStyle/>
          <a:p>
            <a:pPr algn="l"/>
            <a:r>
              <a:rPr sz="1300" b="0" i="0">
                <a:solidFill>
                  <a:srgbClr val="0F172A"/>
                </a:solidFill>
                <a:latin typeface="Calibri"/>
              </a:rPr>
              <a:t>Plan all steps first, then execute the plan; re-plan on failure.</a:t>
            </a:r>
          </a:p>
        </p:txBody>
      </p:sp>
      <p:sp>
        <p:nvSpPr>
          <p:cNvPr id="16" name="Rectangle 15"/>
          <p:cNvSpPr/>
          <p:nvPr/>
        </p:nvSpPr>
        <p:spPr>
          <a:xfrm>
            <a:off x="640080" y="297180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 y="297180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063240"/>
            <a:ext cx="3200400" cy="502920"/>
          </a:xfrm>
          <a:prstGeom prst="rect">
            <a:avLst/>
          </a:prstGeom>
          <a:noFill/>
        </p:spPr>
        <p:txBody>
          <a:bodyPr wrap="square" lIns="0" rIns="0" tIns="0" bIns="0" anchor="t">
            <a:spAutoFit/>
          </a:bodyPr>
          <a:lstStyle/>
          <a:p>
            <a:pPr algn="l"/>
            <a:r>
              <a:rPr sz="1600" b="1" i="0">
                <a:solidFill>
                  <a:srgbClr val="0B1B3F"/>
                </a:solidFill>
                <a:latin typeface="Calibri"/>
              </a:rPr>
              <a:t>Reflexion / self-critique</a:t>
            </a:r>
          </a:p>
        </p:txBody>
      </p:sp>
      <p:sp>
        <p:nvSpPr>
          <p:cNvPr id="19" name="TextBox 18"/>
          <p:cNvSpPr txBox="1"/>
          <p:nvPr/>
        </p:nvSpPr>
        <p:spPr>
          <a:xfrm>
            <a:off x="4206240" y="3063240"/>
            <a:ext cx="7315200" cy="502920"/>
          </a:xfrm>
          <a:prstGeom prst="rect">
            <a:avLst/>
          </a:prstGeom>
          <a:noFill/>
        </p:spPr>
        <p:txBody>
          <a:bodyPr wrap="square" lIns="0" rIns="0" tIns="0" bIns="0" anchor="ctr">
            <a:spAutoFit/>
          </a:bodyPr>
          <a:lstStyle/>
          <a:p>
            <a:pPr algn="l"/>
            <a:r>
              <a:rPr sz="1300" b="0" i="0">
                <a:solidFill>
                  <a:srgbClr val="0F172A"/>
                </a:solidFill>
                <a:latin typeface="Calibri"/>
              </a:rPr>
              <a:t>Agent critiques its own output, then revises. Quality &gt; speed.</a:t>
            </a:r>
          </a:p>
        </p:txBody>
      </p:sp>
      <p:sp>
        <p:nvSpPr>
          <p:cNvPr id="20" name="Rectangle 19"/>
          <p:cNvSpPr/>
          <p:nvPr/>
        </p:nvSpPr>
        <p:spPr>
          <a:xfrm>
            <a:off x="640080" y="374904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 y="374904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840480"/>
            <a:ext cx="3200400" cy="502920"/>
          </a:xfrm>
          <a:prstGeom prst="rect">
            <a:avLst/>
          </a:prstGeom>
          <a:noFill/>
        </p:spPr>
        <p:txBody>
          <a:bodyPr wrap="square" lIns="0" rIns="0" tIns="0" bIns="0" anchor="t">
            <a:spAutoFit/>
          </a:bodyPr>
          <a:lstStyle/>
          <a:p>
            <a:pPr algn="l"/>
            <a:r>
              <a:rPr sz="1600" b="1" i="0">
                <a:solidFill>
                  <a:srgbClr val="0B1B3F"/>
                </a:solidFill>
                <a:latin typeface="Calibri"/>
              </a:rPr>
              <a:t>Multi-agent / crew</a:t>
            </a:r>
          </a:p>
        </p:txBody>
      </p:sp>
      <p:sp>
        <p:nvSpPr>
          <p:cNvPr id="23" name="TextBox 22"/>
          <p:cNvSpPr txBox="1"/>
          <p:nvPr/>
        </p:nvSpPr>
        <p:spPr>
          <a:xfrm>
            <a:off x="4206240" y="3840480"/>
            <a:ext cx="7315200" cy="502920"/>
          </a:xfrm>
          <a:prstGeom prst="rect">
            <a:avLst/>
          </a:prstGeom>
          <a:noFill/>
        </p:spPr>
        <p:txBody>
          <a:bodyPr wrap="square" lIns="0" rIns="0" tIns="0" bIns="0" anchor="ctr">
            <a:spAutoFit/>
          </a:bodyPr>
          <a:lstStyle/>
          <a:p>
            <a:pPr algn="l"/>
            <a:r>
              <a:rPr sz="1300" b="0" i="0">
                <a:solidFill>
                  <a:srgbClr val="0F172A"/>
                </a:solidFill>
                <a:latin typeface="Calibri"/>
              </a:rPr>
              <a:t>Specialist personas hand off (CrewAI). Mirrors how humans collaborate.</a:t>
            </a:r>
          </a:p>
        </p:txBody>
      </p:sp>
      <p:sp>
        <p:nvSpPr>
          <p:cNvPr id="24" name="Rectangle 23"/>
          <p:cNvSpPr/>
          <p:nvPr/>
        </p:nvSpPr>
        <p:spPr>
          <a:xfrm>
            <a:off x="640080" y="452628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 y="452628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617720"/>
            <a:ext cx="3200400" cy="502920"/>
          </a:xfrm>
          <a:prstGeom prst="rect">
            <a:avLst/>
          </a:prstGeom>
          <a:noFill/>
        </p:spPr>
        <p:txBody>
          <a:bodyPr wrap="square" lIns="0" rIns="0" tIns="0" bIns="0" anchor="t">
            <a:spAutoFit/>
          </a:bodyPr>
          <a:lstStyle/>
          <a:p>
            <a:pPr algn="l"/>
            <a:r>
              <a:rPr sz="1600" b="1" i="0">
                <a:solidFill>
                  <a:srgbClr val="0B1B3F"/>
                </a:solidFill>
                <a:latin typeface="Calibri"/>
              </a:rPr>
              <a:t>Graph / DAG</a:t>
            </a:r>
          </a:p>
        </p:txBody>
      </p:sp>
      <p:sp>
        <p:nvSpPr>
          <p:cNvPr id="27" name="TextBox 26"/>
          <p:cNvSpPr txBox="1"/>
          <p:nvPr/>
        </p:nvSpPr>
        <p:spPr>
          <a:xfrm>
            <a:off x="4206240" y="4617720"/>
            <a:ext cx="7315200" cy="502920"/>
          </a:xfrm>
          <a:prstGeom prst="rect">
            <a:avLst/>
          </a:prstGeom>
          <a:noFill/>
        </p:spPr>
        <p:txBody>
          <a:bodyPr wrap="square" lIns="0" rIns="0" tIns="0" bIns="0" anchor="ctr">
            <a:spAutoFit/>
          </a:bodyPr>
          <a:lstStyle/>
          <a:p>
            <a:pPr algn="l"/>
            <a:r>
              <a:rPr sz="1300" b="0" i="0">
                <a:solidFill>
                  <a:srgbClr val="0F172A"/>
                </a:solidFill>
                <a:latin typeface="Calibri"/>
              </a:rPr>
              <a:t>Explicit nodes &amp; edges (LangGraph). Best for parallel + branching workflows.</a:t>
            </a:r>
          </a:p>
        </p:txBody>
      </p:sp>
      <p:sp>
        <p:nvSpPr>
          <p:cNvPr id="28" name="Rectangle 27"/>
          <p:cNvSpPr/>
          <p:nvPr/>
        </p:nvSpPr>
        <p:spPr>
          <a:xfrm>
            <a:off x="640080" y="53035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 y="53035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394960"/>
            <a:ext cx="3200400" cy="502920"/>
          </a:xfrm>
          <a:prstGeom prst="rect">
            <a:avLst/>
          </a:prstGeom>
          <a:noFill/>
        </p:spPr>
        <p:txBody>
          <a:bodyPr wrap="square" lIns="0" rIns="0" tIns="0" bIns="0" anchor="t">
            <a:spAutoFit/>
          </a:bodyPr>
          <a:lstStyle/>
          <a:p>
            <a:pPr algn="l"/>
            <a:r>
              <a:rPr sz="1600" b="1" i="0">
                <a:solidFill>
                  <a:srgbClr val="0B1B3F"/>
                </a:solidFill>
                <a:latin typeface="Calibri"/>
              </a:rPr>
              <a:t>Hierarchical / supervisor</a:t>
            </a:r>
          </a:p>
        </p:txBody>
      </p:sp>
      <p:sp>
        <p:nvSpPr>
          <p:cNvPr id="31" name="TextBox 30"/>
          <p:cNvSpPr txBox="1"/>
          <p:nvPr/>
        </p:nvSpPr>
        <p:spPr>
          <a:xfrm>
            <a:off x="4206240" y="5394960"/>
            <a:ext cx="7315200" cy="502920"/>
          </a:xfrm>
          <a:prstGeom prst="rect">
            <a:avLst/>
          </a:prstGeom>
          <a:noFill/>
        </p:spPr>
        <p:txBody>
          <a:bodyPr wrap="square" lIns="0" rIns="0" tIns="0" bIns="0" anchor="ctr">
            <a:spAutoFit/>
          </a:bodyPr>
          <a:lstStyle/>
          <a:p>
            <a:pPr algn="l"/>
            <a:r>
              <a:rPr sz="1300" b="0" i="0">
                <a:solidFill>
                  <a:srgbClr val="0F172A"/>
                </a:solidFill>
                <a:latin typeface="Calibri"/>
              </a:rPr>
              <a:t>Manager agent routes to worker agents. Useful at scale.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PROMPTING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Anatomy of a good agent system prompt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5486400" cy="4572000"/>
          </a:xfrm>
          <a:prstGeom prst="rect">
            <a:avLst/>
          </a:prstGeom>
          <a:noFill/>
        </p:spPr>
        <p:txBody>
          <a:bodyPr wrap="square" lIns="0" rIns="0" tIns="0" bIns="0">
            <a:spAutoFit/>
          </a:bodyPr>
          <a:lstStyle/>
          <a:p>
            <a:pPr algn="l" indent="-228600" marL="228600">
              <a:spcAft>
                <a:spcPts val="1100"/>
              </a:spcAft>
              <a:buChar char="•"/>
            </a:pPr>
            <a:r>
              <a:rPr sz="1500" b="1">
                <a:solidFill>
                  <a:srgbClr val="CC9000"/>
                </a:solidFill>
                <a:latin typeface="Calibri"/>
              </a:rPr>
              <a:t>ROLE</a:t>
            </a:r>
            <a:r>
              <a:rPr sz="1500">
                <a:solidFill>
                  <a:srgbClr val="0F172A"/>
                </a:solidFill>
                <a:latin typeface="Calibri"/>
              </a:rPr>
              <a:t>  Who the agent is in one sentence.</a:t>
            </a:r>
          </a:p>
          <a:p>
            <a:pPr algn="l" indent="-228600" marL="228600">
              <a:spcAft>
                <a:spcPts val="1100"/>
              </a:spcAft>
              <a:buChar char="•"/>
            </a:pPr>
            <a:r>
              <a:rPr sz="1500" b="1">
                <a:solidFill>
                  <a:srgbClr val="CC9000"/>
                </a:solidFill>
                <a:latin typeface="Calibri"/>
              </a:rPr>
              <a:t>GOAL</a:t>
            </a:r>
            <a:r>
              <a:rPr sz="1500">
                <a:solidFill>
                  <a:srgbClr val="0F172A"/>
                </a:solidFill>
                <a:latin typeface="Calibri"/>
              </a:rPr>
              <a:t>  What success looks like, measurably.</a:t>
            </a:r>
          </a:p>
          <a:p>
            <a:pPr algn="l" indent="-228600" marL="228600">
              <a:spcAft>
                <a:spcPts val="1100"/>
              </a:spcAft>
              <a:buChar char="•"/>
            </a:pPr>
            <a:r>
              <a:rPr sz="1500" b="1">
                <a:solidFill>
                  <a:srgbClr val="CC9000"/>
                </a:solidFill>
                <a:latin typeface="Calibri"/>
              </a:rPr>
              <a:t>BACKSTORY</a:t>
            </a:r>
            <a:r>
              <a:rPr sz="1500">
                <a:solidFill>
                  <a:srgbClr val="0F172A"/>
                </a:solidFill>
                <a:latin typeface="Calibri"/>
              </a:rPr>
              <a:t>  Domain expertise &amp; persona it draws on.</a:t>
            </a:r>
          </a:p>
          <a:p>
            <a:pPr algn="l" indent="-228600" marL="228600">
              <a:spcAft>
                <a:spcPts val="1100"/>
              </a:spcAft>
              <a:buChar char="•"/>
            </a:pPr>
            <a:r>
              <a:rPr sz="1500" b="1">
                <a:solidFill>
                  <a:srgbClr val="CC9000"/>
                </a:solidFill>
                <a:latin typeface="Calibri"/>
              </a:rPr>
              <a:t>TOOLS</a:t>
            </a:r>
            <a:r>
              <a:rPr sz="1500">
                <a:solidFill>
                  <a:srgbClr val="0F172A"/>
                </a:solidFill>
                <a:latin typeface="Calibri"/>
              </a:rPr>
              <a:t>  What the agent CAN do — every tool is permission.</a:t>
            </a:r>
          </a:p>
          <a:p>
            <a:pPr algn="l" indent="-228600" marL="228600">
              <a:spcAft>
                <a:spcPts val="1100"/>
              </a:spcAft>
              <a:buChar char="•"/>
            </a:pPr>
            <a:r>
              <a:rPr sz="1500" b="1">
                <a:solidFill>
                  <a:srgbClr val="CC9000"/>
                </a:solidFill>
                <a:latin typeface="Calibri"/>
              </a:rPr>
              <a:t>OUTPUT FORMAT</a:t>
            </a:r>
            <a:r>
              <a:rPr sz="1500">
                <a:solidFill>
                  <a:srgbClr val="0F172A"/>
                </a:solidFill>
                <a:latin typeface="Calibri"/>
              </a:rPr>
              <a:t>  Schema: JSON keys, markdown sections, max length.</a:t>
            </a:r>
          </a:p>
          <a:p>
            <a:pPr algn="l" indent="-228600" marL="228600">
              <a:spcAft>
                <a:spcPts val="1100"/>
              </a:spcAft>
              <a:buChar char="•"/>
            </a:pPr>
            <a:r>
              <a:rPr sz="1500" b="1">
                <a:solidFill>
                  <a:srgbClr val="CC9000"/>
                </a:solidFill>
                <a:latin typeface="Calibri"/>
              </a:rPr>
              <a:t>GUARDRAILS</a:t>
            </a:r>
            <a:r>
              <a:rPr sz="1500">
                <a:solidFill>
                  <a:srgbClr val="0F172A"/>
                </a:solidFill>
                <a:latin typeface="Calibri"/>
              </a:rPr>
              <a:t>  What it must NEVER do (PII, speculation, etc.).</a:t>
            </a:r>
          </a:p>
          <a:p>
            <a:pPr algn="l" indent="-228600" marL="228600">
              <a:spcAft>
                <a:spcPts val="1100"/>
              </a:spcAft>
              <a:buChar char="•"/>
            </a:pPr>
            <a:r>
              <a:rPr sz="1500" b="1">
                <a:solidFill>
                  <a:srgbClr val="CC9000"/>
                </a:solidFill>
                <a:latin typeface="Calibri"/>
              </a:rPr>
              <a:t>FALLBACK</a:t>
            </a:r>
            <a:r>
              <a:rPr sz="1500">
                <a:solidFill>
                  <a:srgbClr val="0F172A"/>
                </a:solidFill>
                <a:latin typeface="Calibri"/>
              </a:rPr>
              <a:t>  Behavior when tools fail or context is missing.</a:t>
            </a:r>
          </a:p>
        </p:txBody>
      </p:sp>
      <p:sp>
        <p:nvSpPr>
          <p:cNvPr id="9" name="Rectangle 8"/>
          <p:cNvSpPr/>
          <p:nvPr/>
        </p:nvSpPr>
        <p:spPr>
          <a:xfrm>
            <a:off x="6400800" y="1417320"/>
            <a:ext cx="530352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1732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5392" y="1527048"/>
            <a:ext cx="5029200" cy="4352544"/>
          </a:xfrm>
          <a:prstGeom prst="rect">
            <a:avLst/>
          </a:prstGeom>
          <a:noFill/>
        </p:spPr>
        <p:txBody>
          <a:bodyPr wrap="square" lIns="0" rIns="0" tIns="0" bIns="0">
            <a:spAutoFit/>
          </a:bodyPr>
          <a:lstStyle/>
          <a:p>
            <a:pPr>
              <a:spcAft>
                <a:spcPts val="0"/>
              </a:spcAft>
            </a:pPr>
            <a:r>
              <a:rPr sz="1100">
                <a:solidFill>
                  <a:srgbClr val="FFFFFF"/>
                </a:solidFill>
                <a:latin typeface="Consolas"/>
              </a:rPr>
              <a:t># pipeline/prompts.py — real code</a:t>
            </a:r>
          </a:p>
          <a:p>
            <a:pPr>
              <a:spcAft>
                <a:spcPts val="0"/>
              </a:spcAft>
            </a:pPr>
            <a:r>
              <a:rPr sz="1100">
                <a:solidFill>
                  <a:srgbClr val="FFFFFF"/>
                </a:solidFill>
                <a:latin typeface="Consolas"/>
              </a:rPr>
              <a:t> </a:t>
            </a:r>
          </a:p>
          <a:p>
            <a:pPr>
              <a:spcAft>
                <a:spcPts val="0"/>
              </a:spcAft>
            </a:pPr>
            <a:r>
              <a:rPr sz="1100">
                <a:solidFill>
                  <a:srgbClr val="FFFFFF"/>
                </a:solidFill>
                <a:latin typeface="Consolas"/>
              </a:rPr>
              <a:t>POLICY_EXPERT_SYSTEM_PROMPT = '''</a:t>
            </a:r>
          </a:p>
          <a:p>
            <a:pPr>
              <a:spcAft>
                <a:spcPts val="0"/>
              </a:spcAft>
            </a:pPr>
            <a:r>
              <a:rPr sz="1100">
                <a:solidFill>
                  <a:srgbClr val="FFFFFF"/>
                </a:solidFill>
                <a:latin typeface="Consolas"/>
              </a:rPr>
              <a:t>You are the Contoso HR Policy</a:t>
            </a:r>
          </a:p>
          <a:p>
            <a:pPr>
              <a:spcAft>
                <a:spcPts val="0"/>
              </a:spcAft>
            </a:pPr>
            <a:r>
              <a:rPr sz="1100">
                <a:solidFill>
                  <a:srgbClr val="FFFFFF"/>
                </a:solidFill>
                <a:latin typeface="Consolas"/>
              </a:rPr>
              <a:t>Expert, a senior HR Business</a:t>
            </a:r>
          </a:p>
          <a:p>
            <a:pPr>
              <a:spcAft>
                <a:spcPts val="0"/>
              </a:spcAft>
            </a:pPr>
            <a:r>
              <a:rPr sz="1100">
                <a:solidFill>
                  <a:srgbClr val="FFFFFF"/>
                </a:solidFill>
                <a:latin typeface="Consolas"/>
              </a:rPr>
              <a:t>Partner with deep knowledge</a:t>
            </a:r>
          </a:p>
          <a:p>
            <a:pPr>
              <a:spcAft>
                <a:spcPts val="0"/>
              </a:spcAft>
            </a:pPr>
            <a:r>
              <a:rPr sz="1100">
                <a:solidFill>
                  <a:srgbClr val="FFFFFF"/>
                </a:solidFill>
                <a:latin typeface="Consolas"/>
              </a:rPr>
              <a:t>of Contoso hiring policies...</a:t>
            </a:r>
          </a:p>
          <a:p>
            <a:pPr>
              <a:spcAft>
                <a:spcPts val="0"/>
              </a:spcAft>
            </a:pPr>
            <a:r>
              <a:rPr sz="1100">
                <a:solidFill>
                  <a:srgbClr val="FFFFFF"/>
                </a:solidFill>
                <a:latin typeface="Consolas"/>
              </a:rPr>
              <a:t> </a:t>
            </a:r>
          </a:p>
          <a:p>
            <a:pPr>
              <a:spcAft>
                <a:spcPts val="0"/>
              </a:spcAft>
            </a:pPr>
            <a:r>
              <a:rPr sz="1100">
                <a:solidFill>
                  <a:srgbClr val="FFFFFF"/>
                </a:solidFill>
                <a:latin typeface="Consolas"/>
              </a:rPr>
              <a:t>You use the query_hr_policy tool</a:t>
            </a:r>
          </a:p>
          <a:p>
            <a:pPr>
              <a:spcAft>
                <a:spcPts val="0"/>
              </a:spcAft>
            </a:pPr>
            <a:r>
              <a:rPr sz="1100">
                <a:solidFill>
                  <a:srgbClr val="FFFFFF"/>
                </a:solidFill>
                <a:latin typeface="Consolas"/>
              </a:rPr>
              <a:t>to retrieve relevant Contoso</a:t>
            </a:r>
          </a:p>
          <a:p>
            <a:pPr>
              <a:spcAft>
                <a:spcPts val="0"/>
              </a:spcAft>
            </a:pPr>
            <a:r>
              <a:rPr sz="1100">
                <a:solidFill>
                  <a:srgbClr val="FFFFFF"/>
                </a:solidFill>
                <a:latin typeface="Consolas"/>
              </a:rPr>
              <a:t>policy content before answering.</a:t>
            </a:r>
          </a:p>
          <a:p>
            <a:pPr>
              <a:spcAft>
                <a:spcPts val="0"/>
              </a:spcAft>
            </a:pPr>
            <a:r>
              <a:rPr sz="1100">
                <a:solidFill>
                  <a:srgbClr val="FFFFFF"/>
                </a:solidFill>
                <a:latin typeface="Consolas"/>
              </a:rPr>
              <a:t> </a:t>
            </a:r>
          </a:p>
          <a:p>
            <a:pPr>
              <a:spcAft>
                <a:spcPts val="0"/>
              </a:spcAft>
            </a:pPr>
            <a:r>
              <a:rPr sz="1100">
                <a:solidFill>
                  <a:srgbClr val="FFFFFF"/>
                </a:solidFill>
                <a:latin typeface="Consolas"/>
              </a:rPr>
              <a:t>You never fabricate policy</a:t>
            </a:r>
          </a:p>
          <a:p>
            <a:pPr>
              <a:spcAft>
                <a:spcPts val="0"/>
              </a:spcAft>
            </a:pPr>
            <a:r>
              <a:rPr sz="1100">
                <a:solidFill>
                  <a:srgbClr val="FFFFFF"/>
                </a:solidFill>
                <a:latin typeface="Consolas"/>
              </a:rPr>
              <a:t>details — always retrieve from</a:t>
            </a:r>
          </a:p>
          <a:p>
            <a:pPr>
              <a:spcAft>
                <a:spcPts val="0"/>
              </a:spcAft>
            </a:pPr>
            <a:r>
              <a:rPr sz="1100">
                <a:solidFill>
                  <a:srgbClr val="FFFFFF"/>
                </a:solidFill>
                <a:latin typeface="Consolas"/>
              </a:rPr>
              <a:t>the knowledge base first.</a:t>
            </a:r>
          </a:p>
          <a:p>
            <a:pPr>
              <a:spcAft>
                <a:spcPts val="0"/>
              </a:spcAft>
            </a:pPr>
            <a:r>
              <a:rPr sz="1100">
                <a:solidFill>
                  <a:srgbClr val="FFFFFF"/>
                </a:solidFill>
                <a:latin typeface="Consolas"/>
              </a:rPr>
              <a:t> </a:t>
            </a:r>
          </a:p>
          <a:p>
            <a:pPr>
              <a:spcAft>
                <a:spcPts val="0"/>
              </a:spcAft>
            </a:pPr>
            <a:r>
              <a:rPr sz="1100">
                <a:solidFill>
                  <a:srgbClr val="FFFFFF"/>
                </a:solidFill>
                <a:latin typeface="Consolas"/>
              </a:rPr>
              <a:t>Respond in JSON only when asked.</a:t>
            </a:r>
          </a:p>
          <a:p>
            <a:pPr>
              <a:spcAft>
                <a:spcPts val="0"/>
              </a:spcAft>
            </a:pPr>
            <a:r>
              <a:rPr sz="1100">
                <a:solidFill>
                  <a:srgbClr val="FFFFFF"/>
                </a:solidFill>
                <a:latin typeface="Consolas"/>
              </a:rPr>
              <a:t>Be concise and policy-focused.</a:t>
            </a:r>
          </a:p>
          <a:p>
            <a:pPr>
              <a:spcAft>
                <a:spcPts val="0"/>
              </a:spcAft>
            </a:pPr>
            <a:r>
              <a:rPr sz="1100">
                <a:solidFill>
                  <a:srgbClr val="FFFFFF"/>
                </a:solidFill>
                <a:latin typeface="Consolas"/>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CHOICE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Two paths into agentic AI — pick one (or both)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Low-code path</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Microsoft Copilot Studio (graphical, drag &amp; drop).</a:t>
            </a:r>
          </a:p>
          <a:p>
            <a:pPr algn="l" indent="-228600" marL="228600">
              <a:spcAft>
                <a:spcPts val="800"/>
              </a:spcAft>
              <a:buChar char="•"/>
            </a:pPr>
            <a:r>
              <a:rPr sz="1500">
                <a:solidFill>
                  <a:srgbClr val="0F172A"/>
                </a:solidFill>
                <a:latin typeface="Calibri"/>
              </a:rPr>
              <a:t>Power Platform connectors do the heavy lifting.</a:t>
            </a:r>
          </a:p>
          <a:p>
            <a:pPr algn="l" indent="-228600" marL="228600">
              <a:spcAft>
                <a:spcPts val="800"/>
              </a:spcAft>
              <a:buChar char="•"/>
            </a:pPr>
            <a:r>
              <a:rPr sz="1500">
                <a:solidFill>
                  <a:srgbClr val="0F172A"/>
                </a:solidFill>
                <a:latin typeface="Calibri"/>
              </a:rPr>
              <a:t>Generative answers + generative actions.</a:t>
            </a:r>
          </a:p>
          <a:p>
            <a:pPr algn="l" indent="-228600" marL="228600">
              <a:spcAft>
                <a:spcPts val="800"/>
              </a:spcAft>
              <a:buChar char="•"/>
            </a:pPr>
            <a:r>
              <a:rPr sz="1500">
                <a:solidFill>
                  <a:srgbClr val="0F172A"/>
                </a:solidFill>
                <a:latin typeface="Calibri"/>
              </a:rPr>
              <a:t>Publish to Teams, M365 Copilot, websites.</a:t>
            </a:r>
          </a:p>
          <a:p>
            <a:pPr algn="l" indent="-228600" marL="228600">
              <a:spcAft>
                <a:spcPts val="800"/>
              </a:spcAft>
              <a:buChar char="•"/>
            </a:pPr>
            <a:r>
              <a:rPr sz="1500">
                <a:solidFill>
                  <a:srgbClr val="0F172A"/>
                </a:solidFill>
                <a:latin typeface="Calibri"/>
              </a:rPr>
              <a:t>Best for: business analysts, departmental bots, fast wins.</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Code-first path</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Claude Code, LangGraph, CrewAI, FastMCP 2, Foundry SDK.</a:t>
            </a:r>
          </a:p>
          <a:p>
            <a:pPr algn="l" indent="-228600" marL="228600">
              <a:spcAft>
                <a:spcPts val="800"/>
              </a:spcAft>
              <a:buChar char="•"/>
            </a:pPr>
            <a:r>
              <a:rPr sz="1500">
                <a:solidFill>
                  <a:srgbClr val="0F172A"/>
                </a:solidFill>
                <a:latin typeface="Calibri"/>
              </a:rPr>
              <a:t>Full control over state, tools, models, routing.</a:t>
            </a:r>
          </a:p>
          <a:p>
            <a:pPr algn="l" indent="-228600" marL="228600">
              <a:spcAft>
                <a:spcPts val="800"/>
              </a:spcAft>
              <a:buChar char="•"/>
            </a:pPr>
            <a:r>
              <a:rPr sz="1500">
                <a:solidFill>
                  <a:srgbClr val="0F172A"/>
                </a:solidFill>
                <a:latin typeface="Calibri"/>
              </a:rPr>
              <a:t>Versioned in git, tested in CI, deployed to your cloud.</a:t>
            </a:r>
          </a:p>
          <a:p>
            <a:pPr algn="l" indent="-228600" marL="228600">
              <a:spcAft>
                <a:spcPts val="800"/>
              </a:spcAft>
              <a:buChar char="•"/>
            </a:pPr>
            <a:r>
              <a:rPr sz="1500">
                <a:solidFill>
                  <a:srgbClr val="0F172A"/>
                </a:solidFill>
                <a:latin typeface="Calibri"/>
              </a:rPr>
              <a:t>Production patterns: parallel branches, MCP, observability.</a:t>
            </a:r>
          </a:p>
          <a:p>
            <a:pPr algn="l" indent="-228600" marL="228600">
              <a:spcAft>
                <a:spcPts val="800"/>
              </a:spcAft>
              <a:buChar char="•"/>
            </a:pPr>
            <a:r>
              <a:rPr sz="1500">
                <a:solidFill>
                  <a:srgbClr val="0F172A"/>
                </a:solidFill>
                <a:latin typeface="Calibri"/>
              </a:rPr>
              <a:t>Best for: engineers, complex pipelines, enterprise scale.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DEMO</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Demo · Claude Code in the agents2 repo</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6858000" cy="4572000"/>
          </a:xfrm>
          <a:prstGeom prst="rect">
            <a:avLst/>
          </a:prstGeom>
          <a:noFill/>
        </p:spPr>
        <p:txBody>
          <a:bodyPr wrap="square" lIns="0" rIns="0" tIns="0" bIns="0">
            <a:spAutoFit/>
          </a:bodyPr>
          <a:lstStyle/>
          <a:p>
            <a:pPr algn="l" indent="-228600" marL="228600">
              <a:spcAft>
                <a:spcPts val="1100"/>
              </a:spcAft>
              <a:buChar char="•"/>
            </a:pPr>
            <a:r>
              <a:rPr sz="1500" b="1">
                <a:solidFill>
                  <a:srgbClr val="0B1B3F"/>
                </a:solidFill>
                <a:latin typeface="Calibri"/>
              </a:rPr>
              <a:t>Setup</a:t>
            </a:r>
            <a:r>
              <a:rPr sz="1500">
                <a:solidFill>
                  <a:srgbClr val="0F172A"/>
                </a:solidFill>
                <a:latin typeface="Calibri"/>
              </a:rPr>
              <a:t>  claude --version · cd agents2/contoso-hr-agent · run claude.</a:t>
            </a:r>
          </a:p>
          <a:p>
            <a:pPr algn="l" indent="-228600" marL="228600">
              <a:spcAft>
                <a:spcPts val="1100"/>
              </a:spcAft>
              <a:buChar char="•"/>
            </a:pPr>
            <a:r>
              <a:rPr sz="1500" b="1">
                <a:solidFill>
                  <a:srgbClr val="0B1B3F"/>
                </a:solidFill>
                <a:latin typeface="Calibri"/>
              </a:rPr>
              <a:t>Prompt 1</a:t>
            </a:r>
            <a:r>
              <a:rPr sz="1500">
                <a:solidFill>
                  <a:srgbClr val="0F172A"/>
                </a:solidFill>
                <a:latin typeface="Calibri"/>
              </a:rPr>
              <a:t>  'What files handle the HR pipeline? Give me a quick overview.'</a:t>
            </a:r>
          </a:p>
          <a:p>
            <a:pPr algn="l" indent="-228600" marL="228600">
              <a:spcAft>
                <a:spcPts val="1100"/>
              </a:spcAft>
              <a:buChar char="•"/>
            </a:pPr>
            <a:r>
              <a:rPr sz="1500" b="1">
                <a:solidFill>
                  <a:srgbClr val="0B1B3F"/>
                </a:solidFill>
                <a:latin typeface="Calibri"/>
              </a:rPr>
              <a:t>Prompt 2</a:t>
            </a:r>
            <a:r>
              <a:rPr sz="1500">
                <a:solidFill>
                  <a:srgbClr val="0F172A"/>
                </a:solidFill>
                <a:latin typeface="Calibri"/>
              </a:rPr>
              <a:t>  'How do policy_expert and resume_analyst run concurrently?'</a:t>
            </a:r>
          </a:p>
          <a:p>
            <a:pPr algn="l" indent="-228600" marL="228600">
              <a:spcAft>
                <a:spcPts val="1100"/>
              </a:spcAft>
              <a:buChar char="•"/>
            </a:pPr>
            <a:r>
              <a:rPr sz="1500" b="1">
                <a:solidFill>
                  <a:srgbClr val="0B1B3F"/>
                </a:solidFill>
                <a:latin typeface="Calibri"/>
              </a:rPr>
              <a:t>Prompt 3</a:t>
            </a:r>
            <a:r>
              <a:rPr sz="1500">
                <a:solidFill>
                  <a:srgbClr val="0F172A"/>
                </a:solidFill>
                <a:latin typeface="Calibri"/>
              </a:rPr>
              <a:t>  'Add a docstring to the intake node function.'</a:t>
            </a:r>
          </a:p>
          <a:p>
            <a:pPr algn="l" indent="-228600" marL="228600">
              <a:spcAft>
                <a:spcPts val="1100"/>
              </a:spcAft>
              <a:buChar char="•"/>
            </a:pPr>
            <a:r>
              <a:rPr sz="1500" b="1">
                <a:solidFill>
                  <a:srgbClr val="0B1B3F"/>
                </a:solidFill>
                <a:latin typeface="Calibri"/>
              </a:rPr>
              <a:t>Watch the loop</a:t>
            </a:r>
            <a:r>
              <a:rPr sz="1500">
                <a:solidFill>
                  <a:srgbClr val="0F172A"/>
                </a:solidFill>
                <a:latin typeface="Calibri"/>
              </a:rPr>
              <a:t>  Claude reads files, searches the repo, edits, then explains.</a:t>
            </a:r>
          </a:p>
          <a:p>
            <a:pPr algn="l" indent="-228600" marL="228600">
              <a:spcAft>
                <a:spcPts val="1100"/>
              </a:spcAft>
              <a:buChar char="•"/>
            </a:pPr>
            <a:r>
              <a:rPr sz="1500" b="1">
                <a:solidFill>
                  <a:srgbClr val="0B1B3F"/>
                </a:solidFill>
                <a:latin typeface="Calibri"/>
              </a:rPr>
              <a:t>Compare to ChatGPT</a:t>
            </a:r>
            <a:r>
              <a:rPr sz="1500">
                <a:solidFill>
                  <a:srgbClr val="0F172A"/>
                </a:solidFill>
                <a:latin typeface="Calibri"/>
              </a:rPr>
              <a:t>  Same questions, no tool use → no concrete answer.</a:t>
            </a:r>
          </a:p>
        </p:txBody>
      </p:sp>
      <p:sp>
        <p:nvSpPr>
          <p:cNvPr id="9" name="Rectangle 8"/>
          <p:cNvSpPr/>
          <p:nvPr/>
        </p:nvSpPr>
        <p:spPr>
          <a:xfrm>
            <a:off x="7863840" y="1417320"/>
            <a:ext cx="384048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0" y="1417320"/>
            <a:ext cx="91440"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691640"/>
            <a:ext cx="3383280" cy="457200"/>
          </a:xfrm>
          <a:prstGeom prst="rect">
            <a:avLst/>
          </a:prstGeom>
          <a:noFill/>
        </p:spPr>
        <p:txBody>
          <a:bodyPr wrap="square" lIns="0" rIns="0" tIns="0" bIns="0" anchor="t">
            <a:spAutoFit/>
          </a:bodyPr>
          <a:lstStyle/>
          <a:p>
            <a:pPr algn="l"/>
            <a:r>
              <a:rPr sz="1600" b="1" i="0">
                <a:solidFill>
                  <a:srgbClr val="FFB703"/>
                </a:solidFill>
                <a:latin typeface="Calibri"/>
              </a:rPr>
              <a:t>Demo checkpoint</a:t>
            </a:r>
          </a:p>
        </p:txBody>
      </p:sp>
      <p:sp>
        <p:nvSpPr>
          <p:cNvPr id="12" name="TextBox 11"/>
          <p:cNvSpPr txBox="1"/>
          <p:nvPr/>
        </p:nvSpPr>
        <p:spPr>
          <a:xfrm>
            <a:off x="8092440" y="2286000"/>
            <a:ext cx="3383280" cy="3657600"/>
          </a:xfrm>
          <a:prstGeom prst="rect">
            <a:avLst/>
          </a:prstGeom>
          <a:noFill/>
        </p:spPr>
        <p:txBody>
          <a:bodyPr wrap="square" lIns="0" rIns="0" tIns="0" bIns="0" anchor="t">
            <a:spAutoFit/>
          </a:bodyPr>
          <a:lstStyle/>
          <a:p>
            <a:pPr algn="l"/>
            <a:r>
              <a:rPr sz="1400" b="0" i="0">
                <a:solidFill>
                  <a:srgbClr val="FFFFFF"/>
                </a:solidFill>
                <a:latin typeface="Calibri"/>
              </a:rPr>
              <a:t>Count the tool calls Claude makes for each prompt.
The tool count is the difference between an agent and a chatbot.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DEMO</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Demo · Copilot Studio — HR Policy Advisor in 5 minutes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500" b="1">
                <a:solidFill>
                  <a:srgbClr val="0B1B3F"/>
                </a:solidFill>
                <a:latin typeface="Calibri"/>
              </a:rPr>
              <a:t>1. Sign in</a:t>
            </a:r>
            <a:r>
              <a:rPr sz="1500">
                <a:solidFill>
                  <a:srgbClr val="0F172A"/>
                </a:solidFill>
                <a:latin typeface="Calibri"/>
              </a:rPr>
              <a:t>  copilotstudio.microsoft.com · personal MSA or work account.</a:t>
            </a:r>
          </a:p>
          <a:p>
            <a:pPr algn="l" indent="-228600" marL="228600">
              <a:spcAft>
                <a:spcPts val="1000"/>
              </a:spcAft>
              <a:buChar char="•"/>
            </a:pPr>
            <a:r>
              <a:rPr sz="1500" b="1">
                <a:solidFill>
                  <a:srgbClr val="0B1B3F"/>
                </a:solidFill>
                <a:latin typeface="Calibri"/>
              </a:rPr>
              <a:t>2. New copilot</a:t>
            </a:r>
            <a:r>
              <a:rPr sz="1500">
                <a:solidFill>
                  <a:srgbClr val="0F172A"/>
                </a:solidFill>
                <a:latin typeface="Calibri"/>
              </a:rPr>
              <a:t>  Name it HR Policy Advisor · pick generative AI mode.</a:t>
            </a:r>
          </a:p>
          <a:p>
            <a:pPr algn="l" indent="-228600" marL="228600">
              <a:spcAft>
                <a:spcPts val="1000"/>
              </a:spcAft>
              <a:buChar char="•"/>
            </a:pPr>
            <a:r>
              <a:rPr sz="1500" b="1">
                <a:solidFill>
                  <a:srgbClr val="0B1B3F"/>
                </a:solidFill>
                <a:latin typeface="Calibri"/>
              </a:rPr>
              <a:t>3. Add a topic</a:t>
            </a:r>
            <a:r>
              <a:rPr sz="1500">
                <a:solidFill>
                  <a:srgbClr val="0F172A"/>
                </a:solidFill>
                <a:latin typeface="Calibri"/>
              </a:rPr>
              <a:t>  Trigger phrases: 'check HR policy', 'what does the policy say'.</a:t>
            </a:r>
          </a:p>
          <a:p>
            <a:pPr algn="l" indent="-228600" marL="228600">
              <a:spcAft>
                <a:spcPts val="1000"/>
              </a:spcAft>
              <a:buChar char="•"/>
            </a:pPr>
            <a:r>
              <a:rPr sz="1500" b="1">
                <a:solidFill>
                  <a:srgbClr val="0B1B3F"/>
                </a:solidFill>
                <a:latin typeface="Calibri"/>
              </a:rPr>
              <a:t>4. Ask a question node</a:t>
            </a:r>
            <a:r>
              <a:rPr sz="1500">
                <a:solidFill>
                  <a:srgbClr val="0F172A"/>
                </a:solidFill>
                <a:latin typeface="Calibri"/>
              </a:rPr>
              <a:t>  'What HR policy question do you have?' → save as PolicyQuery.</a:t>
            </a:r>
          </a:p>
          <a:p>
            <a:pPr algn="l" indent="-228600" marL="228600">
              <a:spcAft>
                <a:spcPts val="1000"/>
              </a:spcAft>
              <a:buChar char="•"/>
            </a:pPr>
            <a:r>
              <a:rPr sz="1500" b="1">
                <a:solidFill>
                  <a:srgbClr val="0B1B3F"/>
                </a:solidFill>
                <a:latin typeface="Calibri"/>
              </a:rPr>
              <a:t>5. Generative answer</a:t>
            </a:r>
            <a:r>
              <a:rPr sz="1500">
                <a:solidFill>
                  <a:srgbClr val="0F172A"/>
                </a:solidFill>
                <a:latin typeface="Calibri"/>
              </a:rPr>
              <a:t>  Point at the HR policy SharePoint or upload PDFs as knowledge.</a:t>
            </a:r>
          </a:p>
          <a:p>
            <a:pPr algn="l" indent="-228600" marL="228600">
              <a:spcAft>
                <a:spcPts val="1000"/>
              </a:spcAft>
              <a:buChar char="•"/>
            </a:pPr>
            <a:r>
              <a:rPr sz="1500" b="1">
                <a:solidFill>
                  <a:srgbClr val="0B1B3F"/>
                </a:solidFill>
                <a:latin typeface="Calibri"/>
              </a:rPr>
              <a:t>6. Test pane</a:t>
            </a:r>
            <a:r>
              <a:rPr sz="1500">
                <a:solidFill>
                  <a:srgbClr val="0F172A"/>
                </a:solidFill>
                <a:latin typeface="Calibri"/>
              </a:rPr>
              <a:t>  Ask: 'What certifications are required for the MCT role?'</a:t>
            </a:r>
          </a:p>
          <a:p>
            <a:pPr algn="l" indent="-228600" marL="228600">
              <a:spcAft>
                <a:spcPts val="1000"/>
              </a:spcAft>
              <a:buChar char="•"/>
            </a:pPr>
            <a:r>
              <a:rPr sz="1500" b="1">
                <a:solidFill>
                  <a:srgbClr val="0B1B3F"/>
                </a:solidFill>
                <a:latin typeface="Calibri"/>
              </a:rPr>
              <a:t>Stretch goal</a:t>
            </a:r>
            <a:r>
              <a:rPr sz="1500">
                <a:solidFill>
                  <a:srgbClr val="0F172A"/>
                </a:solidFill>
                <a:latin typeface="Calibri"/>
              </a:rPr>
              <a:t>  Add a second topic that evaluates a pasted resume.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CHOICE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When to use which path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graphicFrame>
        <p:nvGraphicFramePr>
          <p:cNvPr id="8" name="Table 7"/>
          <p:cNvGraphicFramePr>
            <a:graphicFrameLocks noGrp="1"/>
          </p:cNvGraphicFramePr>
          <p:nvPr/>
        </p:nvGraphicFramePr>
        <p:xfrm>
          <a:off x="548640" y="1417320"/>
          <a:ext cx="11064240" cy="3520440"/>
        </p:xfrm>
        <a:graphic>
          <a:graphicData uri="http://schemas.openxmlformats.org/drawingml/2006/table">
            <a:tbl>
              <a:tblPr firstRow="1" bandRow="1">
                <a:tableStyleId>{5C22544A-7EE6-4342-B048-85BDC9FD1C3A}</a:tableStyleId>
              </a:tblPr>
              <a:tblGrid>
                <a:gridCol w="3688080"/>
                <a:gridCol w="3688080"/>
                <a:gridCol w="3688080"/>
              </a:tblGrid>
              <a:tr h="502920">
                <a:tc>
                  <a:txBody>
                    <a:bodyPr/>
                    <a:lstStyle/>
                    <a:p>
                      <a:pPr algn="l"/>
                      <a:r>
                        <a:rPr sz="1300" b="1">
                          <a:solidFill>
                            <a:srgbClr val="FFFFFF"/>
                          </a:solidFill>
                          <a:latin typeface="Calibri"/>
                        </a:rPr>
                        <a:t>Need</a:t>
                      </a:r>
                    </a:p>
                  </a:txBody>
                  <a:tcPr>
                    <a:solidFill>
                      <a:srgbClr val="0B1B3F"/>
                    </a:solidFill>
                  </a:tcPr>
                </a:tc>
                <a:tc>
                  <a:txBody>
                    <a:bodyPr/>
                    <a:lstStyle/>
                    <a:p>
                      <a:pPr algn="l"/>
                      <a:r>
                        <a:rPr sz="1300" b="1">
                          <a:solidFill>
                            <a:srgbClr val="FFFFFF"/>
                          </a:solidFill>
                          <a:latin typeface="Calibri"/>
                        </a:rPr>
                        <a:t>Pick this</a:t>
                      </a:r>
                    </a:p>
                  </a:txBody>
                  <a:tcPr>
                    <a:solidFill>
                      <a:srgbClr val="0B1B3F"/>
                    </a:solidFill>
                  </a:tcPr>
                </a:tc>
                <a:tc>
                  <a:txBody>
                    <a:bodyPr/>
                    <a:lstStyle/>
                    <a:p>
                      <a:pPr algn="l"/>
                      <a:r>
                        <a:rPr sz="1300" b="1">
                          <a:solidFill>
                            <a:srgbClr val="FFFFFF"/>
                          </a:solidFill>
                          <a:latin typeface="Calibri"/>
                        </a:rPr>
                        <a:t>Why</a:t>
                      </a:r>
                    </a:p>
                  </a:txBody>
                  <a:tcPr>
                    <a:solidFill>
                      <a:srgbClr val="0B1B3F"/>
                    </a:solidFill>
                  </a:tcPr>
                </a:tc>
              </a:tr>
              <a:tr h="502920">
                <a:tc>
                  <a:txBody>
                    <a:bodyPr/>
                    <a:lstStyle/>
                    <a:p>
                      <a:pPr algn="l"/>
                      <a:r>
                        <a:rPr sz="1100" b="1">
                          <a:solidFill>
                            <a:srgbClr val="0B1B3F"/>
                          </a:solidFill>
                          <a:latin typeface="Calibri"/>
                        </a:rPr>
                        <a:t>Customer-facing FAQ in Teams</a:t>
                      </a:r>
                    </a:p>
                  </a:txBody>
                  <a:tcPr>
                    <a:solidFill>
                      <a:srgbClr val="F8FAFC"/>
                    </a:solidFill>
                  </a:tcPr>
                </a:tc>
                <a:tc>
                  <a:txBody>
                    <a:bodyPr/>
                    <a:lstStyle/>
                    <a:p>
                      <a:pPr algn="l"/>
                      <a:r>
                        <a:rPr sz="1100">
                          <a:solidFill>
                            <a:srgbClr val="0F172A"/>
                          </a:solidFill>
                          <a:latin typeface="Calibri"/>
                        </a:rPr>
                        <a:t>Copilot Studio</a:t>
                      </a:r>
                    </a:p>
                  </a:txBody>
                  <a:tcPr>
                    <a:solidFill>
                      <a:srgbClr val="F8FAFC"/>
                    </a:solidFill>
                  </a:tcPr>
                </a:tc>
                <a:tc>
                  <a:txBody>
                    <a:bodyPr/>
                    <a:lstStyle/>
                    <a:p>
                      <a:pPr algn="l"/>
                      <a:r>
                        <a:rPr sz="1100">
                          <a:solidFill>
                            <a:srgbClr val="0F172A"/>
                          </a:solidFill>
                          <a:latin typeface="Calibri"/>
                        </a:rPr>
                        <a:t>Built-in channels, no infra to manage, IT can govern centrally.</a:t>
                      </a:r>
                    </a:p>
                  </a:txBody>
                  <a:tcPr>
                    <a:solidFill>
                      <a:srgbClr val="F8FAFC"/>
                    </a:solidFill>
                  </a:tcPr>
                </a:tc>
              </a:tr>
              <a:tr h="502920">
                <a:tc>
                  <a:txBody>
                    <a:bodyPr/>
                    <a:lstStyle/>
                    <a:p>
                      <a:pPr algn="l"/>
                      <a:r>
                        <a:rPr sz="1100" b="1">
                          <a:solidFill>
                            <a:srgbClr val="0B1B3F"/>
                          </a:solidFill>
                          <a:latin typeface="Calibri"/>
                        </a:rPr>
                        <a:t>Multi-step internal automation</a:t>
                      </a:r>
                    </a:p>
                  </a:txBody>
                  <a:tcPr>
                    <a:solidFill>
                      <a:srgbClr val="EEF2F7"/>
                    </a:solidFill>
                  </a:tcPr>
                </a:tc>
                <a:tc>
                  <a:txBody>
                    <a:bodyPr/>
                    <a:lstStyle/>
                    <a:p>
                      <a:pPr algn="l"/>
                      <a:r>
                        <a:rPr sz="1100">
                          <a:solidFill>
                            <a:srgbClr val="0F172A"/>
                          </a:solidFill>
                          <a:latin typeface="Calibri"/>
                        </a:rPr>
                        <a:t>LangGraph + CrewAI</a:t>
                      </a:r>
                    </a:p>
                  </a:txBody>
                  <a:tcPr>
                    <a:solidFill>
                      <a:srgbClr val="EEF2F7"/>
                    </a:solidFill>
                  </a:tcPr>
                </a:tc>
                <a:tc>
                  <a:txBody>
                    <a:bodyPr/>
                    <a:lstStyle/>
                    <a:p>
                      <a:pPr algn="l"/>
                      <a:r>
                        <a:rPr sz="1100">
                          <a:solidFill>
                            <a:srgbClr val="0F172A"/>
                          </a:solidFill>
                          <a:latin typeface="Calibri"/>
                        </a:rPr>
                        <a:t>Parallel branches, custom state, full control over routing.</a:t>
                      </a:r>
                    </a:p>
                  </a:txBody>
                  <a:tcPr>
                    <a:solidFill>
                      <a:srgbClr val="EEF2F7"/>
                    </a:solidFill>
                  </a:tcPr>
                </a:tc>
              </a:tr>
              <a:tr h="502920">
                <a:tc>
                  <a:txBody>
                    <a:bodyPr/>
                    <a:lstStyle/>
                    <a:p>
                      <a:pPr algn="l"/>
                      <a:r>
                        <a:rPr sz="1100" b="1">
                          <a:solidFill>
                            <a:srgbClr val="0B1B3F"/>
                          </a:solidFill>
                          <a:latin typeface="Calibri"/>
                        </a:rPr>
                        <a:t>Coding assistant in your terminal</a:t>
                      </a:r>
                    </a:p>
                  </a:txBody>
                  <a:tcPr>
                    <a:solidFill>
                      <a:srgbClr val="F8FAFC"/>
                    </a:solidFill>
                  </a:tcPr>
                </a:tc>
                <a:tc>
                  <a:txBody>
                    <a:bodyPr/>
                    <a:lstStyle/>
                    <a:p>
                      <a:pPr algn="l"/>
                      <a:r>
                        <a:rPr sz="1100">
                          <a:solidFill>
                            <a:srgbClr val="0F172A"/>
                          </a:solidFill>
                          <a:latin typeface="Calibri"/>
                        </a:rPr>
                        <a:t>Claude Code</a:t>
                      </a:r>
                    </a:p>
                  </a:txBody>
                  <a:tcPr>
                    <a:solidFill>
                      <a:srgbClr val="F8FAFC"/>
                    </a:solidFill>
                  </a:tcPr>
                </a:tc>
                <a:tc>
                  <a:txBody>
                    <a:bodyPr/>
                    <a:lstStyle/>
                    <a:p>
                      <a:pPr algn="l"/>
                      <a:r>
                        <a:rPr sz="1100">
                          <a:solidFill>
                            <a:srgbClr val="0F172A"/>
                          </a:solidFill>
                          <a:latin typeface="Calibri"/>
                        </a:rPr>
                        <a:t>Reads &amp; writes your filesystem; great for exploration &amp; refactors.</a:t>
                      </a:r>
                    </a:p>
                  </a:txBody>
                  <a:tcPr>
                    <a:solidFill>
                      <a:srgbClr val="F8FAFC"/>
                    </a:solidFill>
                  </a:tcPr>
                </a:tc>
              </a:tr>
              <a:tr h="502920">
                <a:tc>
                  <a:txBody>
                    <a:bodyPr/>
                    <a:lstStyle/>
                    <a:p>
                      <a:pPr algn="l"/>
                      <a:r>
                        <a:rPr sz="1100" b="1">
                          <a:solidFill>
                            <a:srgbClr val="0B1B3F"/>
                          </a:solidFill>
                          <a:latin typeface="Calibri"/>
                        </a:rPr>
                        <a:t>Production agent on Azure</a:t>
                      </a:r>
                    </a:p>
                  </a:txBody>
                  <a:tcPr>
                    <a:solidFill>
                      <a:srgbClr val="EEF2F7"/>
                    </a:solidFill>
                  </a:tcPr>
                </a:tc>
                <a:tc>
                  <a:txBody>
                    <a:bodyPr/>
                    <a:lstStyle/>
                    <a:p>
                      <a:pPr algn="l"/>
                      <a:r>
                        <a:rPr sz="1100">
                          <a:solidFill>
                            <a:srgbClr val="0F172A"/>
                          </a:solidFill>
                          <a:latin typeface="Calibri"/>
                        </a:rPr>
                        <a:t>Foundry Agent Service</a:t>
                      </a:r>
                    </a:p>
                  </a:txBody>
                  <a:tcPr>
                    <a:solidFill>
                      <a:srgbClr val="EEF2F7"/>
                    </a:solidFill>
                  </a:tcPr>
                </a:tc>
                <a:tc>
                  <a:txBody>
                    <a:bodyPr/>
                    <a:lstStyle/>
                    <a:p>
                      <a:pPr algn="l"/>
                      <a:r>
                        <a:rPr sz="1100">
                          <a:solidFill>
                            <a:srgbClr val="0F172A"/>
                          </a:solidFill>
                          <a:latin typeface="Calibri"/>
                        </a:rPr>
                        <a:t>Managed runtime, identity, content safety, MCP tool catalog.</a:t>
                      </a:r>
                    </a:p>
                  </a:txBody>
                  <a:tcPr>
                    <a:solidFill>
                      <a:srgbClr val="EEF2F7"/>
                    </a:solidFill>
                  </a:tcPr>
                </a:tc>
              </a:tr>
              <a:tr h="502920">
                <a:tc>
                  <a:txBody>
                    <a:bodyPr/>
                    <a:lstStyle/>
                    <a:p>
                      <a:pPr algn="l"/>
                      <a:r>
                        <a:rPr sz="1100" b="1">
                          <a:solidFill>
                            <a:srgbClr val="0B1B3F"/>
                          </a:solidFill>
                          <a:latin typeface="Calibri"/>
                        </a:rPr>
                        <a:t>Quick prototype to sell internally</a:t>
                      </a:r>
                    </a:p>
                  </a:txBody>
                  <a:tcPr>
                    <a:solidFill>
                      <a:srgbClr val="F8FAFC"/>
                    </a:solidFill>
                  </a:tcPr>
                </a:tc>
                <a:tc>
                  <a:txBody>
                    <a:bodyPr/>
                    <a:lstStyle/>
                    <a:p>
                      <a:pPr algn="l"/>
                      <a:r>
                        <a:rPr sz="1100">
                          <a:solidFill>
                            <a:srgbClr val="0F172A"/>
                          </a:solidFill>
                          <a:latin typeface="Calibri"/>
                        </a:rPr>
                        <a:t>Copilot Studio</a:t>
                      </a:r>
                    </a:p>
                  </a:txBody>
                  <a:tcPr>
                    <a:solidFill>
                      <a:srgbClr val="F8FAFC"/>
                    </a:solidFill>
                  </a:tcPr>
                </a:tc>
                <a:tc>
                  <a:txBody>
                    <a:bodyPr/>
                    <a:lstStyle/>
                    <a:p>
                      <a:pPr algn="l"/>
                      <a:r>
                        <a:rPr sz="1100">
                          <a:solidFill>
                            <a:srgbClr val="0F172A"/>
                          </a:solidFill>
                          <a:latin typeface="Calibri"/>
                        </a:rPr>
                        <a:t>Demo-ready in 30 minutes; iterate visually with stakeholders.</a:t>
                      </a:r>
                    </a:p>
                  </a:txBody>
                  <a:tcPr>
                    <a:solidFill>
                      <a:srgbClr val="F8FAFC"/>
                    </a:solidFill>
                  </a:tcPr>
                </a:tc>
              </a:tr>
              <a:tr h="502920">
                <a:tc>
                  <a:txBody>
                    <a:bodyPr/>
                    <a:lstStyle/>
                    <a:p>
                      <a:pPr algn="l"/>
                      <a:r>
                        <a:rPr sz="1100" b="1">
                          <a:solidFill>
                            <a:srgbClr val="0B1B3F"/>
                          </a:solidFill>
                          <a:latin typeface="Calibri"/>
                        </a:rPr>
                        <a:t>Enterprise pipeline with tests + CI</a:t>
                      </a:r>
                    </a:p>
                  </a:txBody>
                  <a:tcPr>
                    <a:solidFill>
                      <a:srgbClr val="EEF2F7"/>
                    </a:solidFill>
                  </a:tcPr>
                </a:tc>
                <a:tc>
                  <a:txBody>
                    <a:bodyPr/>
                    <a:lstStyle/>
                    <a:p>
                      <a:pPr algn="l"/>
                      <a:r>
                        <a:rPr sz="1100">
                          <a:solidFill>
                            <a:srgbClr val="0F172A"/>
                          </a:solidFill>
                          <a:latin typeface="Calibri"/>
                        </a:rPr>
                        <a:t>LangGraph + FastMCP</a:t>
                      </a:r>
                    </a:p>
                  </a:txBody>
                  <a:tcPr>
                    <a:solidFill>
                      <a:srgbClr val="EEF2F7"/>
                    </a:solidFill>
                  </a:tcPr>
                </a:tc>
                <a:tc>
                  <a:txBody>
                    <a:bodyPr/>
                    <a:lstStyle/>
                    <a:p>
                      <a:pPr algn="l"/>
                      <a:r>
                        <a:rPr sz="1100">
                          <a:solidFill>
                            <a:srgbClr val="0F172A"/>
                          </a:solidFill>
                          <a:latin typeface="Calibri"/>
                        </a:rPr>
                        <a:t>Versioned in git, unit-testable, deployable to Container Apps.</a:t>
                      </a:r>
                    </a:p>
                  </a:txBody>
                  <a:tcPr>
                    <a:solidFill>
                      <a:srgbClr val="EEF2F7"/>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ANTIPATTERNS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Six agent antipatterns to avoid</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600" b="1">
                <a:solidFill>
                  <a:srgbClr val="0B1B3F"/>
                </a:solidFill>
                <a:latin typeface="Calibri"/>
              </a:rPr>
              <a:t>Tool sprawl</a:t>
            </a:r>
            <a:r>
              <a:rPr sz="1600">
                <a:solidFill>
                  <a:srgbClr val="0F172A"/>
                </a:solidFill>
                <a:latin typeface="Calibri"/>
              </a:rPr>
              <a:t>  Giving the agent 30+ tools because you can. Narrow tool sets win.</a:t>
            </a:r>
          </a:p>
          <a:p>
            <a:pPr algn="l" indent="-228600" marL="228600">
              <a:spcAft>
                <a:spcPts val="1000"/>
              </a:spcAft>
              <a:buChar char="•"/>
            </a:pPr>
            <a:r>
              <a:rPr sz="1600" b="1">
                <a:solidFill>
                  <a:srgbClr val="0B1B3F"/>
                </a:solidFill>
                <a:latin typeface="Calibri"/>
              </a:rPr>
              <a:t>Hidden side effects</a:t>
            </a:r>
            <a:r>
              <a:rPr sz="1600">
                <a:solidFill>
                  <a:srgbClr val="0F172A"/>
                </a:solidFill>
                <a:latin typeface="Calibri"/>
              </a:rPr>
              <a:t>  A tool that 'reads' but secretly writes. Make actions explicit.</a:t>
            </a:r>
          </a:p>
          <a:p>
            <a:pPr algn="l" indent="-228600" marL="228600">
              <a:spcAft>
                <a:spcPts val="1000"/>
              </a:spcAft>
              <a:buChar char="•"/>
            </a:pPr>
            <a:r>
              <a:rPr sz="1600" b="1">
                <a:solidFill>
                  <a:srgbClr val="0B1B3F"/>
                </a:solidFill>
                <a:latin typeface="Calibri"/>
              </a:rPr>
              <a:t>Stringly-typed state</a:t>
            </a:r>
            <a:r>
              <a:rPr sz="1600">
                <a:solidFill>
                  <a:srgbClr val="0F172A"/>
                </a:solidFill>
                <a:latin typeface="Calibri"/>
              </a:rPr>
              <a:t>  Free-form blobs instead of typed schemas. Use Pydantic.</a:t>
            </a:r>
          </a:p>
          <a:p>
            <a:pPr algn="l" indent="-228600" marL="228600">
              <a:spcAft>
                <a:spcPts val="1000"/>
              </a:spcAft>
              <a:buChar char="•"/>
            </a:pPr>
            <a:r>
              <a:rPr sz="1600" b="1">
                <a:solidFill>
                  <a:srgbClr val="0B1B3F"/>
                </a:solidFill>
                <a:latin typeface="Calibri"/>
              </a:rPr>
              <a:t>No memory boundaries</a:t>
            </a:r>
            <a:r>
              <a:rPr sz="1600">
                <a:solidFill>
                  <a:srgbClr val="0F172A"/>
                </a:solidFill>
                <a:latin typeface="Calibri"/>
              </a:rPr>
              <a:t>  Mixing session, conversation, and long-term memory. Pick lanes.</a:t>
            </a:r>
          </a:p>
          <a:p>
            <a:pPr algn="l" indent="-228600" marL="228600">
              <a:spcAft>
                <a:spcPts val="1000"/>
              </a:spcAft>
              <a:buChar char="•"/>
            </a:pPr>
            <a:r>
              <a:rPr sz="1600" b="1">
                <a:solidFill>
                  <a:srgbClr val="0B1B3F"/>
                </a:solidFill>
                <a:latin typeface="Calibri"/>
              </a:rPr>
              <a:t>Prompt-only guardrails</a:t>
            </a:r>
            <a:r>
              <a:rPr sz="1600">
                <a:solidFill>
                  <a:srgbClr val="0F172A"/>
                </a:solidFill>
                <a:latin typeface="Calibri"/>
              </a:rPr>
              <a:t>  'Don't say X' in the prompt. Use APIM / Foundry Guardrails outside.</a:t>
            </a:r>
          </a:p>
          <a:p>
            <a:pPr algn="l" indent="-228600" marL="228600">
              <a:spcAft>
                <a:spcPts val="1000"/>
              </a:spcAft>
              <a:buChar char="•"/>
            </a:pPr>
            <a:r>
              <a:rPr sz="1600" b="1">
                <a:solidFill>
                  <a:srgbClr val="0B1B3F"/>
                </a:solidFill>
                <a:latin typeface="Calibri"/>
              </a:rPr>
              <a:t>Untestable agents</a:t>
            </a:r>
            <a:r>
              <a:rPr sz="1600">
                <a:solidFill>
                  <a:srgbClr val="0F172A"/>
                </a:solidFill>
                <a:latin typeface="Calibri"/>
              </a:rPr>
              <a:t>  No golden dataset, no eval harness. You're shipping hopes.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Hour 1 — what we covered</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600">
                <a:solidFill>
                  <a:srgbClr val="0F172A"/>
                </a:solidFill>
                <a:latin typeface="Calibri"/>
              </a:rPr>
              <a:t>Agents take actions. Chatbots answer questions. The difference is tool use.</a:t>
            </a:r>
          </a:p>
          <a:p>
            <a:pPr algn="l" indent="-228600" marL="228600">
              <a:spcAft>
                <a:spcPts val="1000"/>
              </a:spcAft>
              <a:buChar char="•"/>
            </a:pPr>
            <a:r>
              <a:rPr sz="1600">
                <a:solidFill>
                  <a:srgbClr val="0F172A"/>
                </a:solidFill>
                <a:latin typeface="Calibri"/>
              </a:rPr>
              <a:t>ReAct loop: observe → think → act → repeat. Memorize this — every framework reduces to it.</a:t>
            </a:r>
          </a:p>
          <a:p>
            <a:pPr algn="l" indent="-228600" marL="228600">
              <a:spcAft>
                <a:spcPts val="1000"/>
              </a:spcAft>
              <a:buChar char="•"/>
            </a:pPr>
            <a:r>
              <a:rPr sz="1600">
                <a:solidFill>
                  <a:srgbClr val="0F172A"/>
                </a:solidFill>
                <a:latin typeface="Calibri"/>
              </a:rPr>
              <a:t>Five pillars: goal, tools, memory, loop, autonomy.</a:t>
            </a:r>
          </a:p>
          <a:p>
            <a:pPr algn="l" indent="-228600" marL="228600">
              <a:spcAft>
                <a:spcPts val="1000"/>
              </a:spcAft>
              <a:buChar char="•"/>
            </a:pPr>
            <a:r>
              <a:rPr sz="1600">
                <a:solidFill>
                  <a:srgbClr val="0F172A"/>
                </a:solidFill>
                <a:latin typeface="Calibri"/>
              </a:rPr>
              <a:t>Six patterns: ReAct, plan-and-execute, reflexion, multi-agent, graph, hierarchical.</a:t>
            </a:r>
          </a:p>
          <a:p>
            <a:pPr algn="l" indent="-228600" marL="228600">
              <a:spcAft>
                <a:spcPts val="1000"/>
              </a:spcAft>
              <a:buChar char="•"/>
            </a:pPr>
            <a:r>
              <a:rPr sz="1600">
                <a:solidFill>
                  <a:srgbClr val="0F172A"/>
                </a:solidFill>
                <a:latin typeface="Calibri"/>
              </a:rPr>
              <a:t>Two paths: low-code Copilot Studio for fast wins; code-first LangGraph + CrewAI for production.</a:t>
            </a:r>
          </a:p>
          <a:p>
            <a:pPr algn="l" indent="-228600" marL="228600">
              <a:spcAft>
                <a:spcPts val="1000"/>
              </a:spcAft>
              <a:buChar char="•"/>
            </a:pPr>
            <a:r>
              <a:rPr sz="1600">
                <a:solidFill>
                  <a:srgbClr val="0F172A"/>
                </a:solidFill>
                <a:latin typeface="Calibri"/>
              </a:rPr>
              <a:t>You ran Claude Code against agents2 and built a Copilot Studio bot from scratch.</a:t>
            </a:r>
          </a:p>
          <a:p>
            <a:pPr algn="l" indent="-228600" marL="228600">
              <a:spcAft>
                <a:spcPts val="1000"/>
              </a:spcAft>
              <a:buChar char="•"/>
            </a:pPr>
            <a:r>
              <a:rPr sz="1600">
                <a:solidFill>
                  <a:srgbClr val="0F172A"/>
                </a:solidFill>
                <a:latin typeface="Calibri"/>
              </a:rPr>
              <a:t>Next up: the parallel pipeline running live. This is where it gets fun.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02</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Low-Code then Code-First</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Copilot Studio Contoso HR Agent, then the same agent in LangGraph + CrewAI.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WHY LOW-CODE FIRST</a:t>
            </a:r>
          </a:p>
          <a:p>
            <a:r>
              <a:rPr sz="3200" b="1"/>
              <a:t>Why we start in Copilot Studio</a:t>
            </a:r>
          </a:p>
        </p:txBody>
      </p:sp>
      <p:sp>
        <p:nvSpPr>
          <p:cNvPr id="3" name="Content Placeholder 2"/>
          <p:cNvSpPr>
            <a:spLocks noGrp="1"/>
          </p:cNvSpPr>
          <p:nvPr>
            <p:ph idx="1"/>
          </p:nvPr>
        </p:nvSpPr>
        <p:spPr/>
        <p:txBody>
          <a:bodyPr/>
          <a:lstStyle/>
          <a:p>
            <a:r>
              <a:rPr sz="1800"/>
              <a:t>Most enterprise agents start in low-code; production rewrites come later</a:t>
            </a:r>
          </a:p>
          <a:p>
            <a:pPr/>
            <a:r>
              <a:rPr sz="1800"/>
              <a:t>Copilot Studio = opinionated runtime + visual designer + built-in M365 connectors</a:t>
            </a:r>
          </a:p>
          <a:p>
            <a:pPr/>
            <a:r>
              <a:rPr sz="1800"/>
              <a:t>You can ship to a Teams channel in one afternoon</a:t>
            </a:r>
          </a:p>
          <a:p>
            <a:pPr/>
            <a:r>
              <a:rPr sz="1800"/>
              <a:t>You will outgrow it, and that is fine. Hour 3 shows what is underneath.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COPILOT STUDIO ANATOMY</a:t>
            </a:r>
          </a:p>
          <a:p>
            <a:r>
              <a:rPr sz="3200" b="1"/>
              <a:t>The five building blocks</a:t>
            </a:r>
          </a:p>
        </p:txBody>
      </p:sp>
      <p:sp>
        <p:nvSpPr>
          <p:cNvPr id="3" name="Content Placeholder 2"/>
          <p:cNvSpPr>
            <a:spLocks noGrp="1"/>
          </p:cNvSpPr>
          <p:nvPr>
            <p:ph idx="1"/>
          </p:nvPr>
        </p:nvSpPr>
        <p:spPr/>
        <p:txBody>
          <a:bodyPr/>
          <a:lstStyle/>
          <a:p>
            <a:r>
              <a:rPr sz="1800"/>
              <a:t>Topics: conversation flows triggered by phrases or events</a:t>
            </a:r>
          </a:p>
          <a:p>
            <a:pPr/>
            <a:r>
              <a:rPr sz="1800"/>
              <a:t>Knowledge: grounded sources (SharePoint, websites, Dataverse, uploaded files)</a:t>
            </a:r>
          </a:p>
          <a:p>
            <a:pPr/>
            <a:r>
              <a:rPr sz="1800"/>
              <a:t>Actions: connectors that call out (Outlook, Teams, Power Automate, custom)</a:t>
            </a:r>
          </a:p>
          <a:p>
            <a:pPr/>
            <a:r>
              <a:rPr sz="1800"/>
              <a:t>Variables: topic-scope and global-scope state</a:t>
            </a:r>
          </a:p>
          <a:p>
            <a:pPr/>
            <a:r>
              <a:rPr sz="1800"/>
              <a:t>Entities: slot-fill extractors (prebuilt + custom)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THE AGENT WE ARE BUILDING</a:t>
            </a:r>
          </a:p>
          <a:p>
            <a:r>
              <a:rPr sz="3200" b="1"/>
              <a:t>Contoso HR Agent: same job, different runtime</a:t>
            </a:r>
          </a:p>
        </p:txBody>
      </p:sp>
      <p:sp>
        <p:nvSpPr>
          <p:cNvPr id="3" name="Content Placeholder 2"/>
          <p:cNvSpPr>
            <a:spLocks noGrp="1"/>
          </p:cNvSpPr>
          <p:nvPr>
            <p:ph idx="1"/>
          </p:nvPr>
        </p:nvSpPr>
        <p:spPr/>
        <p:txBody>
          <a:bodyPr/>
          <a:lstStyle/>
          <a:p>
            <a:r>
              <a:rPr sz="1800"/>
              <a:t>Same name and use case as the code version we will see in Hour 3</a:t>
            </a:r>
          </a:p>
          <a:p>
            <a:pPr/>
            <a:r>
              <a:rPr sz="1800"/>
              <a:t>Knowledge: Microsoft Learn HR-shaped governance content (live, public, no auth)</a:t>
            </a:r>
          </a:p>
          <a:p>
            <a:pPr/>
            <a:r>
              <a:rPr sz="1800"/>
              <a:t>Topics: Evaluate Resume / Ask HR Policy / Show Last Candidate</a:t>
            </a:r>
          </a:p>
          <a:p>
            <a:pPr/>
            <a:r>
              <a:rPr sz="1800"/>
              <a:t>Action: Outlook Send email v2 on decision</a:t>
            </a:r>
          </a:p>
          <a:p>
            <a:pPr/>
            <a:r>
              <a:rPr sz="1800"/>
              <a:t>Output: Adaptive Card with structured evaluation</a:t>
            </a:r>
          </a:p>
          <a:p>
            <a:pPr/>
            <a:r>
              <a:rPr sz="1800"/>
              <a:t>Publish target: Microsoft Teams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LIVE BUILD . KNOWLEDGE SOURCE</a:t>
            </a:r>
          </a:p>
          <a:p>
            <a:r>
              <a:rPr sz="3200" b="1"/>
              <a:t>Step 1: add the knowledge source</a:t>
            </a:r>
          </a:p>
        </p:txBody>
      </p:sp>
      <p:sp>
        <p:nvSpPr>
          <p:cNvPr id="3" name="Content Placeholder 2"/>
          <p:cNvSpPr>
            <a:spLocks noGrp="1"/>
          </p:cNvSpPr>
          <p:nvPr>
            <p:ph idx="1"/>
          </p:nvPr>
        </p:nvSpPr>
        <p:spPr/>
        <p:txBody>
          <a:bodyPr/>
          <a:lstStyle/>
          <a:p>
            <a:r>
              <a:rPr sz="1800"/>
              <a:t>Add a public-website knowledge source</a:t>
            </a:r>
          </a:p>
          <a:p>
            <a:pPr/>
            <a:r>
              <a:rPr sz="1800"/>
              <a:t>URL: learn.microsoft.com/training/paths/m365-copilot-administrator/</a:t>
            </a:r>
          </a:p>
          <a:p>
            <a:pPr/>
            <a:r>
              <a:rPr sz="1800"/>
              <a:t>Why Microsoft Learn over SharePoint: rock-solid, no auth, deterministic, indexed</a:t>
            </a:r>
          </a:p>
          <a:p>
            <a:pPr/>
            <a:r>
              <a:rPr sz="1800"/>
              <a:t>Verify with one test query in the test pane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LIVE BUILD . GLOBAL VARIABLE</a:t>
            </a:r>
          </a:p>
          <a:p>
            <a:r>
              <a:rPr sz="3200" b="1"/>
              <a:t>Step 2: create the global variable</a:t>
            </a:r>
          </a:p>
        </p:txBody>
      </p:sp>
      <p:sp>
        <p:nvSpPr>
          <p:cNvPr id="3" name="Content Placeholder 2"/>
          <p:cNvSpPr>
            <a:spLocks noGrp="1"/>
          </p:cNvSpPr>
          <p:nvPr>
            <p:ph idx="1"/>
          </p:nvPr>
        </p:nvSpPr>
        <p:spPr/>
        <p:txBody>
          <a:bodyPr/>
          <a:lstStyle/>
          <a:p>
            <a:r>
              <a:rPr sz="1800"/>
              <a:t>Create Global.LastCandidate (String, UseInAIContext on)</a:t>
            </a:r>
          </a:p>
          <a:p>
            <a:pPr/>
            <a:r>
              <a:rPr sz="1800"/>
              <a:t>Set in Topic 1 step 4 (after slot-fill)</a:t>
            </a:r>
          </a:p>
          <a:p>
            <a:pPr/>
            <a:r>
              <a:rPr sz="1800"/>
              <a:t>Read in Topic 3 and surfaced to the orchestrator</a:t>
            </a:r>
          </a:p>
          <a:p>
            <a:pPr/>
            <a:r>
              <a:rPr sz="1800"/>
              <a:t>Demonstrates cross-topic state, the question I get every session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LIVE BUILD . TOPIC 1 (EVALUATE RESUME)</a:t>
            </a:r>
          </a:p>
          <a:p>
            <a:r>
              <a:rPr sz="3200" b="1"/>
              <a:t>Step 3: build the resume intake topic</a:t>
            </a:r>
          </a:p>
        </p:txBody>
      </p:sp>
      <p:sp>
        <p:nvSpPr>
          <p:cNvPr id="3" name="Content Placeholder 2"/>
          <p:cNvSpPr>
            <a:spLocks noGrp="1"/>
          </p:cNvSpPr>
          <p:nvPr>
            <p:ph idx="1"/>
          </p:nvPr>
        </p:nvSpPr>
        <p:spPr/>
        <p:txBody>
          <a:bodyPr/>
          <a:lstStyle/>
          <a:p>
            <a:r>
              <a:rPr sz="1800"/>
              <a:t>Trigger phrases: evaluate this resume / score this candidate / is this candidate a fit</a:t>
            </a:r>
          </a:p>
          <a:p>
            <a:pPr/>
            <a:r>
              <a:rPr sz="1800"/>
              <a:t>Sequence: 3 Question nodes, SetVariable, SearchAndSummarizeContent, Adaptive Card, Outlook action</a:t>
            </a:r>
          </a:p>
          <a:p>
            <a:pPr/>
            <a:r>
              <a:rPr sz="1800"/>
              <a:t>Entities: StringPrebuilt x2 + NumberPrebuiltEntity x1</a:t>
            </a:r>
          </a:p>
          <a:p>
            <a:pPr/>
            <a:r>
              <a:rPr sz="1800"/>
              <a:t>Grounded answer uses the HR Policy Library knowledge source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LIVE BUILD . ADAPTIVE CARD</a:t>
            </a:r>
          </a:p>
          <a:p>
            <a:r>
              <a:rPr sz="3200" b="1"/>
              <a:t>Step 4: the structured response</a:t>
            </a:r>
          </a:p>
        </p:txBody>
      </p:sp>
      <p:sp>
        <p:nvSpPr>
          <p:cNvPr id="3" name="Content Placeholder 2"/>
          <p:cNvSpPr>
            <a:spLocks noGrp="1"/>
          </p:cNvSpPr>
          <p:nvPr>
            <p:ph idx="1"/>
          </p:nvPr>
        </p:nvSpPr>
        <p:spPr/>
        <p:txBody>
          <a:bodyPr/>
          <a:lstStyle/>
          <a:p>
            <a:r>
              <a:rPr sz="1800"/>
              <a:t>FactSet for candidate / role / years / disposition</a:t>
            </a:r>
          </a:p>
          <a:p>
            <a:pPr/>
            <a:r>
              <a:rPr sz="1800"/>
              <a:t>TextBlock for reasoning</a:t>
            </a:r>
          </a:p>
          <a:p>
            <a:pPr/>
            <a:r>
              <a:rPr sz="1800"/>
              <a:t>Action.Submit for Email HR</a:t>
            </a:r>
          </a:p>
          <a:p>
            <a:pPr/>
            <a:r>
              <a:rPr sz="1800"/>
              <a:t>Cards beat plain text: structured, scannable, accessible, reusable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LIVE BUILD . TOPIC 2 (ASK HR POLICY)</a:t>
            </a:r>
          </a:p>
          <a:p>
            <a:r>
              <a:rPr sz="3200" b="1"/>
              <a:t>Step 5: policy Q&amp;A topic</a:t>
            </a:r>
          </a:p>
        </p:txBody>
      </p:sp>
      <p:sp>
        <p:nvSpPr>
          <p:cNvPr id="3" name="Content Placeholder 2"/>
          <p:cNvSpPr>
            <a:spLocks noGrp="1"/>
          </p:cNvSpPr>
          <p:nvPr>
            <p:ph idx="1"/>
          </p:nvPr>
        </p:nvSpPr>
        <p:spPr/>
        <p:txBody>
          <a:bodyPr/>
          <a:lstStyle/>
          <a:p>
            <a:r>
              <a:rPr sz="1800"/>
              <a:t>Trigger phrases: what is our policy on / hr policy / company guideline</a:t>
            </a:r>
          </a:p>
          <a:p>
            <a:pPr/>
            <a:r>
              <a:rPr sz="1800"/>
              <a:t>Single SearchAndSummarizeContent node, grounded</a:t>
            </a:r>
          </a:p>
          <a:p>
            <a:pPr/>
            <a:r>
              <a:rPr sz="1800"/>
              <a:t>responseCaptureType: FullResponse for citations</a:t>
            </a:r>
          </a:p>
          <a:p>
            <a:pPr/>
            <a:r>
              <a:rPr sz="1800"/>
              <a:t>Demonstrates knowledge reuse across topics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LIVE BUILD . TOPIC 3 (SHOW LAST CANDIDATE)</a:t>
            </a:r>
          </a:p>
          <a:p>
            <a:r>
              <a:rPr sz="3200" b="1"/>
              <a:t>Step 6: recall the last candidate</a:t>
            </a:r>
          </a:p>
        </p:txBody>
      </p:sp>
      <p:sp>
        <p:nvSpPr>
          <p:cNvPr id="3" name="Content Placeholder 2"/>
          <p:cNvSpPr>
            <a:spLocks noGrp="1"/>
          </p:cNvSpPr>
          <p:nvPr>
            <p:ph idx="1"/>
          </p:nvPr>
        </p:nvSpPr>
        <p:spPr/>
        <p:txBody>
          <a:bodyPr/>
          <a:lstStyle/>
          <a:p>
            <a:r>
              <a:rPr sz="1800"/>
              <a:t>Trigger phrases: who was the last candidate / recap last applicant</a:t>
            </a:r>
          </a:p>
          <a:p>
            <a:pPr/>
            <a:r>
              <a:rPr sz="1800"/>
              <a:t>ConditionGroup on =IsBlank(Global.LastCandidate)</a:t>
            </a:r>
          </a:p>
          <a:p>
            <a:pPr/>
            <a:r>
              <a:rPr sz="1800"/>
              <a:t>Empty branch: friendly fallback message</a:t>
            </a:r>
          </a:p>
          <a:p>
            <a:pPr/>
            <a:r>
              <a:rPr sz="1800"/>
              <a:t>Set branch: surface the global variable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LIVE BUILD . CONNECTOR ACTION</a:t>
            </a:r>
          </a:p>
          <a:p>
            <a:r>
              <a:rPr sz="3200" b="1"/>
              <a:t>Step 7: wire the Outlook connector</a:t>
            </a:r>
          </a:p>
        </p:txBody>
      </p:sp>
      <p:sp>
        <p:nvSpPr>
          <p:cNvPr id="3" name="Content Placeholder 2"/>
          <p:cNvSpPr>
            <a:spLocks noGrp="1"/>
          </p:cNvSpPr>
          <p:nvPr>
            <p:ph idx="1"/>
          </p:nvPr>
        </p:nvSpPr>
        <p:spPr/>
        <p:txBody>
          <a:bodyPr/>
          <a:lstStyle/>
          <a:p>
            <a:r>
              <a:rPr sz="1800"/>
              <a:t>Office 365 Outlook, Send email v2 (GA, not preview)</a:t>
            </a:r>
          </a:p>
          <a:p>
            <a:pPr/>
            <a:r>
              <a:rPr sz="1800"/>
              <a:t>Fires at end of Topic 1, after the Adaptive Card renders</a:t>
            </a:r>
          </a:p>
          <a:p>
            <a:pPr/>
            <a:r>
              <a:rPr sz="1800"/>
              <a:t>Connection authorized in advance, no live OAuth dance</a:t>
            </a:r>
          </a:p>
          <a:p>
            <a:pPr/>
            <a:r>
              <a:rPr sz="1800"/>
              <a:t>Why not Teams Post message: bot framework channel registration is a stage trap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ORCHESTRATION GOTCHA</a:t>
            </a:r>
          </a:p>
          <a:p>
            <a:r>
              <a:rPr sz="3200" b="1"/>
              <a:t>The one thing that breaks in week 2</a:t>
            </a:r>
          </a:p>
        </p:txBody>
      </p:sp>
      <p:sp>
        <p:nvSpPr>
          <p:cNvPr id="3" name="Content Placeholder 2"/>
          <p:cNvSpPr>
            <a:spLocks noGrp="1"/>
          </p:cNvSpPr>
          <p:nvPr>
            <p:ph idx="1"/>
          </p:nvPr>
        </p:nvSpPr>
        <p:spPr/>
        <p:txBody>
          <a:bodyPr/>
          <a:lstStyle/>
          <a:p>
            <a:r>
              <a:rPr sz="1800"/>
              <a:t>Generative orchestration picks topics by phrase similarity + modelDescription</a:t>
            </a:r>
          </a:p>
          <a:p>
            <a:pPr/>
            <a:r>
              <a:rPr sz="1800"/>
              <a:t>Overlapping phrases (review this) can route to the wrong topic</a:t>
            </a:r>
          </a:p>
          <a:p>
            <a:pPr/>
            <a:r>
              <a:rPr sz="1800"/>
              <a:t>Fix: tight modelDescription per topic, semantic not syntactic</a:t>
            </a:r>
          </a:p>
          <a:p>
            <a:pPr/>
            <a:r>
              <a:rPr sz="1800"/>
              <a:t>Test routing in the test pane BEFORE you publish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PUBLISH TO TEAMS</a:t>
            </a:r>
          </a:p>
          <a:p>
            <a:r>
              <a:rPr sz="3200" b="1"/>
              <a:t>Step 8: publish and run end-to-end</a:t>
            </a:r>
          </a:p>
        </p:txBody>
      </p:sp>
      <p:sp>
        <p:nvSpPr>
          <p:cNvPr id="3" name="Content Placeholder 2"/>
          <p:cNvSpPr>
            <a:spLocks noGrp="1"/>
          </p:cNvSpPr>
          <p:nvPr>
            <p:ph idx="1"/>
          </p:nvPr>
        </p:nvSpPr>
        <p:spPr/>
        <p:txBody>
          <a:bodyPr/>
          <a:lstStyle/>
          <a:p>
            <a:r>
              <a:rPr sz="1800"/>
              <a:t>Channels, Microsoft Teams, Turn on</a:t>
            </a:r>
          </a:p>
          <a:p>
            <a:pPr/>
            <a:r>
              <a:rPr sz="1800"/>
              <a:t>Approval flow if your tenant requires admin consent</a:t>
            </a:r>
          </a:p>
          <a:p>
            <a:pPr/>
            <a:r>
              <a:rPr sz="1800"/>
              <a:t>Publish, Get sharing link, Install in a channel</a:t>
            </a:r>
          </a:p>
          <a:p>
            <a:pPr/>
            <a:r>
              <a:rPr sz="1800"/>
              <a:t>End-to-end: resume eval in Teams, Adaptive Card, email lands in inbox</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DEBUG . WHEN IT DOES NOT WORK</a:t>
            </a:r>
          </a:p>
          <a:p>
            <a:r>
              <a:rPr sz="3200" b="1"/>
              <a:t>Where to look first</a:t>
            </a:r>
          </a:p>
        </p:txBody>
      </p:sp>
      <p:sp>
        <p:nvSpPr>
          <p:cNvPr id="3" name="Content Placeholder 2"/>
          <p:cNvSpPr>
            <a:spLocks noGrp="1"/>
          </p:cNvSpPr>
          <p:nvPr>
            <p:ph idx="1"/>
          </p:nvPr>
        </p:nvSpPr>
        <p:spPr/>
        <p:txBody>
          <a:bodyPr/>
          <a:lstStyle/>
          <a:p>
            <a:r>
              <a:rPr sz="1800"/>
              <a:t>Test pane = your friend. Watch the transcript and variable values live.</a:t>
            </a:r>
          </a:p>
          <a:p>
            <a:pPr/>
            <a:r>
              <a:rPr sz="1800"/>
              <a:t>Topic did not trigger, check trigger phrases + modelDescription</a:t>
            </a:r>
          </a:p>
          <a:p>
            <a:pPr/>
            <a:r>
              <a:rPr sz="1800"/>
              <a:t>Generative answer empty, knowledge source not indexed yet (wait, or re-add)</a:t>
            </a:r>
          </a:p>
          <a:p>
            <a:pPr/>
            <a:r>
              <a:rPr sz="1800"/>
              <a:t>Action failed, check connector run history in Power Automate</a:t>
            </a:r>
          </a:p>
          <a:p>
            <a:pPr/>
            <a:r>
              <a:rPr sz="1800"/>
              <a:t>Adaptive Card blank, JSON syntax (validate in Adaptive Cards Designer)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LOW-CODE VS. CODE-FIRST</a:t>
            </a:r>
          </a:p>
          <a:p>
            <a:r>
              <a:rPr sz="3200" b="1"/>
              <a:t>Pick the right tool, both are valid</a:t>
            </a:r>
          </a:p>
        </p:txBody>
      </p:sp>
      <p:sp>
        <p:nvSpPr>
          <p:cNvPr id="3" name="Content Placeholder 2"/>
          <p:cNvSpPr>
            <a:spLocks noGrp="1"/>
          </p:cNvSpPr>
          <p:nvPr>
            <p:ph idx="1"/>
          </p:nvPr>
        </p:nvSpPr>
        <p:spPr/>
        <p:txBody>
          <a:bodyPr/>
          <a:lstStyle/>
          <a:p>
            <a:r>
              <a:rPr sz="1800"/>
              <a:t>Stay in Copilot Studio when: M365-first audience, business-user authors, standard connectors, conversational UI, fast iteration</a:t>
            </a:r>
          </a:p>
          <a:p>
            <a:pPr/>
            <a:r>
              <a:rPr sz="1800"/>
              <a:t>Move to code-first when: custom orchestration, non-M365 ecosystems, custom RAG with embedded ranking, deep observability, CI/CD for the agent itself</a:t>
            </a:r>
          </a:p>
          <a:p>
            <a:pPr/>
            <a:r>
              <a:rPr sz="1800"/>
              <a:t>Most production landscapes have both</a:t>
            </a:r>
          </a:p>
          <a:p>
            <a:pPr/>
            <a:r>
              <a:rPr sz="1800"/>
              <a:t>Wrong question: which one. Right question: which one for this agent.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WHAT WE BUILT IN COPILOT STUDIO</a:t>
            </a:r>
          </a:p>
          <a:p>
            <a:r>
              <a:rPr sz="3200" b="1"/>
              <a:t>The Contoso HR Agent, low-code edition</a:t>
            </a:r>
          </a:p>
        </p:txBody>
      </p:sp>
      <p:sp>
        <p:nvSpPr>
          <p:cNvPr id="3" name="Content Placeholder 2"/>
          <p:cNvSpPr>
            <a:spLocks noGrp="1"/>
          </p:cNvSpPr>
          <p:nvPr>
            <p:ph idx="1"/>
          </p:nvPr>
        </p:nvSpPr>
        <p:spPr/>
        <p:txBody>
          <a:bodyPr/>
          <a:lstStyle/>
          <a:p>
            <a:r>
              <a:rPr sz="1800"/>
              <a:t>3 topics / 1 connector action / 1 Adaptive Card / 1 global variable</a:t>
            </a:r>
          </a:p>
          <a:p>
            <a:pPr/>
            <a:r>
              <a:rPr sz="1800"/>
              <a:t>Knowledge-grounded, state-aware</a:t>
            </a:r>
          </a:p>
          <a:p>
            <a:pPr/>
            <a:r>
              <a:rPr sz="1800"/>
              <a:t>Published to Microsoft Teams</a:t>
            </a:r>
          </a:p>
          <a:p>
            <a:pPr/>
            <a:r>
              <a:rPr sz="1800"/>
              <a:t>Email on decision</a:t>
            </a:r>
          </a:p>
          <a:p>
            <a:pPr/>
            <a:r>
              <a:rPr sz="1800"/>
              <a:t>Build time: about 30 minutes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767676"/>
                </a:solidFill>
              </a:rPr>
              <a:t>HOUR 2 . THE BRIDGE</a:t>
            </a:r>
          </a:p>
          <a:p>
            <a:r>
              <a:rPr sz="3200" b="1"/>
              <a:t>Same agent, two runtimes</a:t>
            </a:r>
          </a:p>
        </p:txBody>
      </p:sp>
      <p:sp>
        <p:nvSpPr>
          <p:cNvPr id="3" name="Content Placeholder 2"/>
          <p:cNvSpPr>
            <a:spLocks noGrp="1"/>
          </p:cNvSpPr>
          <p:nvPr>
            <p:ph idx="1"/>
          </p:nvPr>
        </p:nvSpPr>
        <p:spPr/>
        <p:txBody>
          <a:bodyPr/>
          <a:lstStyle/>
          <a:p>
            <a:r>
              <a:rPr sz="1800"/>
              <a:t>What you just saw: Copilot Studio (no code, M365-native)</a:t>
            </a:r>
          </a:p>
          <a:p>
            <a:pPr/>
            <a:r>
              <a:rPr sz="1800"/>
              <a:t>What you will see next: LangGraph + CrewAI + ChromaDB + FastMCP</a:t>
            </a:r>
          </a:p>
          <a:p>
            <a:pPr/>
            <a:r>
              <a:rPr sz="1800"/>
              <a:t>Same domain (HR resume screening), same dispositions, much more control</a:t>
            </a:r>
          </a:p>
          <a:p>
            <a:pPr/>
            <a:r>
              <a:rPr sz="1800"/>
              <a:t>Why both: production landscapes blend low-code and code-first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t>Questions on the low-code build?</a:t>
            </a:r>
          </a:p>
        </p:txBody>
      </p:sp>
      <p:sp>
        <p:nvSpPr>
          <p:cNvPr id="3" name="Content Placeholder 2"/>
          <p:cNvSpPr>
            <a:spLocks noGrp="1"/>
          </p:cNvSpPr>
          <p:nvPr>
            <p:ph idx="1"/>
          </p:nvPr>
        </p:nvSpPr>
        <p:spPr/>
        <p:txBody>
          <a:bodyPr/>
          <a:lstStyle/>
          <a:p>
            <a:r>
              <a:rPr sz="1800"/>
              <a:t>Quick check before we open the code</a:t>
            </a:r>
          </a:p>
          <a:p>
            <a:pPr/>
            <a:r>
              <a:rPr sz="1800"/>
              <a:t>techtrainertim.com   /   @TechTrainerTim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THE APP</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Meet the Contoso HR Agent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100"/>
              </a:spcAft>
              <a:buChar char="•"/>
            </a:pPr>
            <a:r>
              <a:rPr sz="1500" b="1">
                <a:solidFill>
                  <a:srgbClr val="0B1B3F"/>
                </a:solidFill>
                <a:latin typeface="Calibri"/>
              </a:rPr>
              <a:t>The use case</a:t>
            </a:r>
            <a:r>
              <a:rPr sz="1500">
                <a:solidFill>
                  <a:srgbClr val="0F172A"/>
                </a:solidFill>
                <a:latin typeface="Calibri"/>
              </a:rPr>
              <a:t>  Automated MCT trainer screening + interactive HR policy chat for hiring managers.</a:t>
            </a:r>
          </a:p>
          <a:p>
            <a:pPr algn="l" indent="-228600" marL="228600">
              <a:spcAft>
                <a:spcPts val="1100"/>
              </a:spcAft>
              <a:buChar char="•"/>
            </a:pPr>
            <a:r>
              <a:rPr sz="1500" b="1">
                <a:solidFill>
                  <a:srgbClr val="0B1B3F"/>
                </a:solidFill>
                <a:latin typeface="Calibri"/>
              </a:rPr>
              <a:t>The flow</a:t>
            </a:r>
            <a:r>
              <a:rPr sz="1500">
                <a:solidFill>
                  <a:srgbClr val="0F172A"/>
                </a:solidFill>
                <a:latin typeface="Calibri"/>
              </a:rPr>
              <a:t>  Drop a resume in data/incoming/ → 4-agent pipeline runs → disposition + reasoning.</a:t>
            </a:r>
          </a:p>
          <a:p>
            <a:pPr algn="l" indent="-228600" marL="228600">
              <a:spcAft>
                <a:spcPts val="1100"/>
              </a:spcAft>
              <a:buChar char="•"/>
            </a:pPr>
            <a:r>
              <a:rPr sz="1500" b="1">
                <a:solidFill>
                  <a:srgbClr val="0B1B3F"/>
                </a:solidFill>
                <a:latin typeface="Calibri"/>
              </a:rPr>
              <a:t>The dispositions</a:t>
            </a:r>
            <a:r>
              <a:rPr sz="1500">
                <a:solidFill>
                  <a:srgbClr val="0F172A"/>
                </a:solidFill>
                <a:latin typeface="Calibri"/>
              </a:rPr>
              <a:t>  Strong Match · Possible Match · Needs Review · Not Qualified.</a:t>
            </a:r>
          </a:p>
          <a:p>
            <a:pPr algn="l" indent="-228600" marL="228600">
              <a:spcAft>
                <a:spcPts val="1100"/>
              </a:spcAft>
              <a:buChar char="•"/>
            </a:pPr>
            <a:r>
              <a:rPr sz="1500" b="1">
                <a:solidFill>
                  <a:srgbClr val="0B1B3F"/>
                </a:solidFill>
                <a:latin typeface="Calibri"/>
              </a:rPr>
              <a:t>The chat side</a:t>
            </a:r>
            <a:r>
              <a:rPr sz="1500">
                <a:solidFill>
                  <a:srgbClr val="0F172A"/>
                </a:solidFill>
                <a:latin typeface="Calibri"/>
              </a:rPr>
              <a:t>  Alex (ChatConcierge) answers policy Q&amp;A grounded in ChromaDB.</a:t>
            </a:r>
          </a:p>
          <a:p>
            <a:pPr algn="l" indent="-228600" marL="228600">
              <a:spcAft>
                <a:spcPts val="1100"/>
              </a:spcAft>
              <a:buChar char="•"/>
            </a:pPr>
            <a:r>
              <a:rPr sz="1500" b="1">
                <a:solidFill>
                  <a:srgbClr val="0B1B3F"/>
                </a:solidFill>
                <a:latin typeface="Calibri"/>
              </a:rPr>
              <a:t>Why it matters</a:t>
            </a:r>
            <a:r>
              <a:rPr sz="1500">
                <a:solidFill>
                  <a:srgbClr val="0F172A"/>
                </a:solidFill>
                <a:latin typeface="Calibri"/>
              </a:rPr>
              <a:t>  Every pillar of production agentic AI in one ~3,000-line repo.</a:t>
            </a:r>
          </a:p>
        </p:txBody>
      </p:sp>
      <p:sp>
        <p:nvSpPr>
          <p:cNvPr id="9" name="Rectangle 8"/>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What's in the repo</a:t>
            </a:r>
          </a:p>
        </p:txBody>
      </p:sp>
      <p:sp>
        <p:nvSpPr>
          <p:cNvPr id="11" name="TextBox 10"/>
          <p:cNvSpPr txBox="1"/>
          <p:nvPr/>
        </p:nvSpPr>
        <p:spPr>
          <a:xfrm>
            <a:off x="7909560" y="2286000"/>
            <a:ext cx="3657600" cy="3657600"/>
          </a:xfrm>
          <a:prstGeom prst="rect">
            <a:avLst/>
          </a:prstGeom>
          <a:noFill/>
        </p:spPr>
        <p:txBody>
          <a:bodyPr wrap="square" lIns="0" rIns="0" tIns="0" bIns="0">
            <a:spAutoFit/>
          </a:bodyPr>
          <a:lstStyle/>
          <a:p>
            <a:pPr algn="l" indent="-228600" marL="228600">
              <a:spcAft>
                <a:spcPts val="700"/>
              </a:spcAft>
              <a:buChar char="•"/>
            </a:pPr>
            <a:r>
              <a:rPr sz="1200">
                <a:solidFill>
                  <a:srgbClr val="FFFFFF"/>
                </a:solidFill>
                <a:latin typeface="Calibri"/>
              </a:rPr>
              <a:t>13 sample resumes (3 quality tiers)</a:t>
            </a:r>
          </a:p>
          <a:p>
            <a:pPr algn="l" indent="-228600" marL="228600">
              <a:spcAft>
                <a:spcPts val="700"/>
              </a:spcAft>
              <a:buChar char="•"/>
            </a:pPr>
            <a:r>
              <a:rPr sz="1200">
                <a:solidFill>
                  <a:srgbClr val="FFFFFF"/>
                </a:solidFill>
                <a:latin typeface="Calibri"/>
              </a:rPr>
              <a:t>8 HR policy docs · 146 ChromaDB chunks</a:t>
            </a:r>
          </a:p>
          <a:p>
            <a:pPr algn="l" indent="-228600" marL="228600">
              <a:spcAft>
                <a:spcPts val="700"/>
              </a:spcAft>
              <a:buChar char="•"/>
            </a:pPr>
            <a:r>
              <a:rPr sz="1200">
                <a:solidFill>
                  <a:srgbClr val="FFFFFF"/>
                </a:solidFill>
                <a:latin typeface="Calibri"/>
              </a:rPr>
              <a:t>FastAPI engine + 3 web pages</a:t>
            </a:r>
          </a:p>
          <a:p>
            <a:pPr algn="l" indent="-228600" marL="228600">
              <a:spcAft>
                <a:spcPts val="700"/>
              </a:spcAft>
              <a:buChar char="•"/>
            </a:pPr>
            <a:r>
              <a:rPr sz="1200">
                <a:solidFill>
                  <a:srgbClr val="FFFFFF"/>
                </a:solidFill>
                <a:latin typeface="Calibri"/>
              </a:rPr>
              <a:t>FastMCP 2 server (5 primitives)</a:t>
            </a:r>
          </a:p>
          <a:p>
            <a:pPr algn="l" indent="-228600" marL="228600">
              <a:spcAft>
                <a:spcPts val="700"/>
              </a:spcAft>
              <a:buChar char="•"/>
            </a:pPr>
            <a:r>
              <a:rPr sz="1200">
                <a:solidFill>
                  <a:srgbClr val="FFFFFF"/>
                </a:solidFill>
                <a:latin typeface="Calibri"/>
              </a:rPr>
              <a:t>VS Code launch configs · pytest suite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ARCHITECTURE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System architecture — the full picture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2194560" cy="365760"/>
          </a:xfrm>
          <a:prstGeom prst="rect">
            <a:avLst/>
          </a:prstGeom>
          <a:noFill/>
        </p:spPr>
        <p:txBody>
          <a:bodyPr wrap="square" lIns="0" rIns="0" tIns="0" bIns="0" anchor="t">
            <a:spAutoFit/>
          </a:bodyPr>
          <a:lstStyle/>
          <a:p>
            <a:pPr algn="l"/>
            <a:r>
              <a:rPr sz="1100" b="1" i="0">
                <a:solidFill>
                  <a:srgbClr val="FFB703"/>
                </a:solidFill>
                <a:latin typeface="Calibri"/>
              </a:rPr>
              <a:t>BROWSER</a:t>
            </a:r>
          </a:p>
        </p:txBody>
      </p:sp>
      <p:sp>
        <p:nvSpPr>
          <p:cNvPr id="9" name="Rectangle 8"/>
          <p:cNvSpPr/>
          <p:nvPr/>
        </p:nvSpPr>
        <p:spPr>
          <a:xfrm>
            <a:off x="548640" y="1691640"/>
            <a:ext cx="2194560" cy="6400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91640"/>
            <a:ext cx="2194560" cy="640080"/>
          </a:xfrm>
          <a:prstGeom prst="rect">
            <a:avLst/>
          </a:prstGeom>
          <a:noFill/>
        </p:spPr>
        <p:txBody>
          <a:bodyPr wrap="square" lIns="0" rIns="0" tIns="0" bIns="0" anchor="ctr">
            <a:spAutoFit/>
          </a:bodyPr>
          <a:lstStyle/>
          <a:p>
            <a:pPr algn="ctr"/>
            <a:r>
              <a:rPr sz="1200" b="1" i="0">
                <a:solidFill>
                  <a:srgbClr val="07122C"/>
                </a:solidFill>
                <a:latin typeface="Calibri"/>
              </a:rPr>
              <a:t>chat.html</a:t>
            </a:r>
          </a:p>
        </p:txBody>
      </p:sp>
      <p:sp>
        <p:nvSpPr>
          <p:cNvPr id="11" name="Rectangle 10"/>
          <p:cNvSpPr/>
          <p:nvPr/>
        </p:nvSpPr>
        <p:spPr>
          <a:xfrm>
            <a:off x="548640" y="2468880"/>
            <a:ext cx="2194560" cy="6400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468880"/>
            <a:ext cx="2194560" cy="640080"/>
          </a:xfrm>
          <a:prstGeom prst="rect">
            <a:avLst/>
          </a:prstGeom>
          <a:noFill/>
        </p:spPr>
        <p:txBody>
          <a:bodyPr wrap="square" lIns="0" rIns="0" tIns="0" bIns="0" anchor="ctr">
            <a:spAutoFit/>
          </a:bodyPr>
          <a:lstStyle/>
          <a:p>
            <a:pPr algn="ctr"/>
            <a:r>
              <a:rPr sz="1200" b="1" i="0">
                <a:solidFill>
                  <a:srgbClr val="07122C"/>
                </a:solidFill>
                <a:latin typeface="Calibri"/>
              </a:rPr>
              <a:t>candidates.html</a:t>
            </a:r>
          </a:p>
        </p:txBody>
      </p:sp>
      <p:sp>
        <p:nvSpPr>
          <p:cNvPr id="13" name="Rectangle 12"/>
          <p:cNvSpPr/>
          <p:nvPr/>
        </p:nvSpPr>
        <p:spPr>
          <a:xfrm>
            <a:off x="548640" y="3246120"/>
            <a:ext cx="2194560" cy="6400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246120"/>
            <a:ext cx="2194560" cy="640080"/>
          </a:xfrm>
          <a:prstGeom prst="rect">
            <a:avLst/>
          </a:prstGeom>
          <a:noFill/>
        </p:spPr>
        <p:txBody>
          <a:bodyPr wrap="square" lIns="0" rIns="0" tIns="0" bIns="0" anchor="ctr">
            <a:spAutoFit/>
          </a:bodyPr>
          <a:lstStyle/>
          <a:p>
            <a:pPr algn="ctr"/>
            <a:r>
              <a:rPr sz="1200" b="1" i="0">
                <a:solidFill>
                  <a:srgbClr val="07122C"/>
                </a:solidFill>
                <a:latin typeface="Calibri"/>
              </a:rPr>
              <a:t>runs.html</a:t>
            </a:r>
          </a:p>
        </p:txBody>
      </p:sp>
      <p:sp>
        <p:nvSpPr>
          <p:cNvPr id="15" name="Rectangle 14"/>
          <p:cNvSpPr/>
          <p:nvPr/>
        </p:nvSpPr>
        <p:spPr>
          <a:xfrm>
            <a:off x="548640" y="4023360"/>
            <a:ext cx="2194560" cy="6400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23360"/>
            <a:ext cx="2194560" cy="640080"/>
          </a:xfrm>
          <a:prstGeom prst="rect">
            <a:avLst/>
          </a:prstGeom>
          <a:noFill/>
        </p:spPr>
        <p:txBody>
          <a:bodyPr wrap="square" lIns="0" rIns="0" tIns="0" bIns="0" anchor="ctr">
            <a:spAutoFit/>
          </a:bodyPr>
          <a:lstStyle/>
          <a:p>
            <a:pPr algn="ctr"/>
            <a:r>
              <a:rPr sz="1200" b="1" i="0">
                <a:solidFill>
                  <a:srgbClr val="07122C"/>
                </a:solidFill>
                <a:latin typeface="Calibri"/>
              </a:rPr>
              <a:t>data/incoming/</a:t>
            </a:r>
          </a:p>
        </p:txBody>
      </p:sp>
      <p:sp>
        <p:nvSpPr>
          <p:cNvPr id="17" name="TextBox 16"/>
          <p:cNvSpPr txBox="1"/>
          <p:nvPr/>
        </p:nvSpPr>
        <p:spPr>
          <a:xfrm>
            <a:off x="3108960" y="1325880"/>
            <a:ext cx="2743200" cy="365760"/>
          </a:xfrm>
          <a:prstGeom prst="rect">
            <a:avLst/>
          </a:prstGeom>
          <a:noFill/>
        </p:spPr>
        <p:txBody>
          <a:bodyPr wrap="square" lIns="0" rIns="0" tIns="0" bIns="0" anchor="t">
            <a:spAutoFit/>
          </a:bodyPr>
          <a:lstStyle/>
          <a:p>
            <a:pPr algn="l"/>
            <a:r>
              <a:rPr sz="1100" b="1" i="0">
                <a:solidFill>
                  <a:srgbClr val="FFB703"/>
                </a:solidFill>
                <a:latin typeface="Calibri"/>
              </a:rPr>
              <a:t>FASTAPI :8090</a:t>
            </a:r>
          </a:p>
        </p:txBody>
      </p:sp>
      <p:sp>
        <p:nvSpPr>
          <p:cNvPr id="18" name="Rectangle 17"/>
          <p:cNvSpPr/>
          <p:nvPr/>
        </p:nvSpPr>
        <p:spPr>
          <a:xfrm>
            <a:off x="3108960" y="1691640"/>
            <a:ext cx="274320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691640"/>
            <a:ext cx="2743200" cy="640080"/>
          </a:xfrm>
          <a:prstGeom prst="rect">
            <a:avLst/>
          </a:prstGeom>
          <a:noFill/>
        </p:spPr>
        <p:txBody>
          <a:bodyPr wrap="square" lIns="0" rIns="0" tIns="0" bIns="0" anchor="ctr">
            <a:spAutoFit/>
          </a:bodyPr>
          <a:lstStyle/>
          <a:p>
            <a:pPr algn="ctr"/>
            <a:r>
              <a:rPr sz="1200" b="1" i="0">
                <a:solidFill>
                  <a:srgbClr val="FFFFFF"/>
                </a:solidFill>
                <a:latin typeface="Consolas"/>
              </a:rPr>
              <a:t>/api/chat</a:t>
            </a:r>
          </a:p>
        </p:txBody>
      </p:sp>
      <p:sp>
        <p:nvSpPr>
          <p:cNvPr id="20" name="Rectangle 19"/>
          <p:cNvSpPr/>
          <p:nvPr/>
        </p:nvSpPr>
        <p:spPr>
          <a:xfrm>
            <a:off x="3108960" y="2468880"/>
            <a:ext cx="274320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0" y="2468880"/>
            <a:ext cx="2743200" cy="640080"/>
          </a:xfrm>
          <a:prstGeom prst="rect">
            <a:avLst/>
          </a:prstGeom>
          <a:noFill/>
        </p:spPr>
        <p:txBody>
          <a:bodyPr wrap="square" lIns="0" rIns="0" tIns="0" bIns="0" anchor="ctr">
            <a:spAutoFit/>
          </a:bodyPr>
          <a:lstStyle/>
          <a:p>
            <a:pPr algn="ctr"/>
            <a:r>
              <a:rPr sz="1200" b="1" i="0">
                <a:solidFill>
                  <a:srgbClr val="FFFFFF"/>
                </a:solidFill>
                <a:latin typeface="Consolas"/>
              </a:rPr>
              <a:t>/api/candidates</a:t>
            </a:r>
          </a:p>
        </p:txBody>
      </p:sp>
      <p:sp>
        <p:nvSpPr>
          <p:cNvPr id="22" name="Rectangle 21"/>
          <p:cNvSpPr/>
          <p:nvPr/>
        </p:nvSpPr>
        <p:spPr>
          <a:xfrm>
            <a:off x="3108960" y="3246120"/>
            <a:ext cx="274320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08960" y="3246120"/>
            <a:ext cx="2743200" cy="640080"/>
          </a:xfrm>
          <a:prstGeom prst="rect">
            <a:avLst/>
          </a:prstGeom>
          <a:noFill/>
        </p:spPr>
        <p:txBody>
          <a:bodyPr wrap="square" lIns="0" rIns="0" tIns="0" bIns="0" anchor="ctr">
            <a:spAutoFit/>
          </a:bodyPr>
          <a:lstStyle/>
          <a:p>
            <a:pPr algn="ctr"/>
            <a:r>
              <a:rPr sz="1200" b="1" i="0">
                <a:solidFill>
                  <a:srgbClr val="FFFFFF"/>
                </a:solidFill>
                <a:latin typeface="Consolas"/>
              </a:rPr>
              <a:t>/api/upload</a:t>
            </a:r>
          </a:p>
        </p:txBody>
      </p:sp>
      <p:sp>
        <p:nvSpPr>
          <p:cNvPr id="24" name="Rectangle 23"/>
          <p:cNvSpPr/>
          <p:nvPr/>
        </p:nvSpPr>
        <p:spPr>
          <a:xfrm>
            <a:off x="3108960" y="4023360"/>
            <a:ext cx="2743200" cy="6400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0" y="4023360"/>
            <a:ext cx="2743200" cy="640080"/>
          </a:xfrm>
          <a:prstGeom prst="rect">
            <a:avLst/>
          </a:prstGeom>
          <a:noFill/>
        </p:spPr>
        <p:txBody>
          <a:bodyPr wrap="square" lIns="0" rIns="0" tIns="0" bIns="0" anchor="ctr">
            <a:spAutoFit/>
          </a:bodyPr>
          <a:lstStyle/>
          <a:p>
            <a:pPr algn="ctr"/>
            <a:r>
              <a:rPr sz="1200" b="1" i="0">
                <a:solidFill>
                  <a:srgbClr val="FFFFFF"/>
                </a:solidFill>
                <a:latin typeface="Calibri"/>
              </a:rPr>
              <a:t>ResumeWatcher</a:t>
            </a:r>
          </a:p>
        </p:txBody>
      </p:sp>
      <p:sp>
        <p:nvSpPr>
          <p:cNvPr id="26" name="TextBox 25"/>
          <p:cNvSpPr txBox="1"/>
          <p:nvPr/>
        </p:nvSpPr>
        <p:spPr>
          <a:xfrm>
            <a:off x="6217920" y="1325880"/>
            <a:ext cx="2743200" cy="365760"/>
          </a:xfrm>
          <a:prstGeom prst="rect">
            <a:avLst/>
          </a:prstGeom>
          <a:noFill/>
        </p:spPr>
        <p:txBody>
          <a:bodyPr wrap="square" lIns="0" rIns="0" tIns="0" bIns="0" anchor="t">
            <a:spAutoFit/>
          </a:bodyPr>
          <a:lstStyle/>
          <a:p>
            <a:pPr algn="l"/>
            <a:r>
              <a:rPr sz="1100" b="1" i="0">
                <a:solidFill>
                  <a:srgbClr val="FFB703"/>
                </a:solidFill>
                <a:latin typeface="Calibri"/>
              </a:rPr>
              <a:t>LANGGRAPH PIPELINE</a:t>
            </a:r>
          </a:p>
        </p:txBody>
      </p:sp>
      <p:sp>
        <p:nvSpPr>
          <p:cNvPr id="27" name="Rectangle 26"/>
          <p:cNvSpPr/>
          <p:nvPr/>
        </p:nvSpPr>
        <p:spPr>
          <a:xfrm>
            <a:off x="6217920" y="1691640"/>
            <a:ext cx="2743200" cy="2971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1783080"/>
            <a:ext cx="2560320" cy="365760"/>
          </a:xfrm>
          <a:prstGeom prst="rect">
            <a:avLst/>
          </a:prstGeom>
          <a:noFill/>
        </p:spPr>
        <p:txBody>
          <a:bodyPr wrap="square" lIns="0" rIns="0" tIns="0" bIns="0" anchor="t">
            <a:spAutoFit/>
          </a:bodyPr>
          <a:lstStyle/>
          <a:p>
            <a:pPr algn="l"/>
            <a:r>
              <a:rPr sz="1100" b="1" i="0">
                <a:solidFill>
                  <a:srgbClr val="07122C"/>
                </a:solidFill>
                <a:latin typeface="Calibri"/>
              </a:rPr>
              <a:t>5 nodes:</a:t>
            </a:r>
          </a:p>
        </p:txBody>
      </p:sp>
      <p:sp>
        <p:nvSpPr>
          <p:cNvPr id="29" name="TextBox 28"/>
          <p:cNvSpPr txBox="1"/>
          <p:nvPr/>
        </p:nvSpPr>
        <p:spPr>
          <a:xfrm>
            <a:off x="6309360" y="2148840"/>
            <a:ext cx="2560320" cy="2377440"/>
          </a:xfrm>
          <a:prstGeom prst="rect">
            <a:avLst/>
          </a:prstGeom>
          <a:noFill/>
        </p:spPr>
        <p:txBody>
          <a:bodyPr wrap="square" lIns="0" rIns="0" tIns="0" bIns="0">
            <a:spAutoFit/>
          </a:bodyPr>
          <a:lstStyle/>
          <a:p>
            <a:pPr algn="l">
              <a:spcAft>
                <a:spcPts val="200"/>
              </a:spcAft>
            </a:pPr>
            <a:r>
              <a:rPr sz="1100">
                <a:solidFill>
                  <a:srgbClr val="07122C"/>
                </a:solidFill>
                <a:latin typeface="Consolas"/>
              </a:rPr>
              <a:t>intake</a:t>
            </a:r>
          </a:p>
          <a:p>
            <a:pPr algn="l">
              <a:spcAft>
                <a:spcPts val="200"/>
              </a:spcAft>
            </a:pPr>
            <a:r>
              <a:rPr sz="1100">
                <a:solidFill>
                  <a:srgbClr val="07122C"/>
                </a:solidFill>
                <a:latin typeface="Consolas"/>
              </a:rPr>
              <a:t>│</a:t>
            </a:r>
          </a:p>
          <a:p>
            <a:pPr algn="l">
              <a:spcAft>
                <a:spcPts val="200"/>
              </a:spcAft>
            </a:pPr>
            <a:r>
              <a:rPr sz="1100">
                <a:solidFill>
                  <a:srgbClr val="07122C"/>
                </a:solidFill>
                <a:latin typeface="Consolas"/>
              </a:rPr>
              <a:t>├ policy_expert</a:t>
            </a:r>
          </a:p>
          <a:p>
            <a:pPr algn="l">
              <a:spcAft>
                <a:spcPts val="200"/>
              </a:spcAft>
            </a:pPr>
            <a:r>
              <a:rPr sz="1100">
                <a:solidFill>
                  <a:srgbClr val="07122C"/>
                </a:solidFill>
                <a:latin typeface="Consolas"/>
              </a:rPr>
              <a:t>├ resume_analyst</a:t>
            </a:r>
          </a:p>
          <a:p>
            <a:pPr algn="l">
              <a:spcAft>
                <a:spcPts val="200"/>
              </a:spcAft>
            </a:pPr>
            <a:r>
              <a:rPr sz="1100">
                <a:solidFill>
                  <a:srgbClr val="07122C"/>
                </a:solidFill>
                <a:latin typeface="Consolas"/>
              </a:rPr>
              <a:t>│</a:t>
            </a:r>
          </a:p>
          <a:p>
            <a:pPr algn="l">
              <a:spcAft>
                <a:spcPts val="200"/>
              </a:spcAft>
            </a:pPr>
            <a:r>
              <a:rPr sz="1100">
                <a:solidFill>
                  <a:srgbClr val="07122C"/>
                </a:solidFill>
                <a:latin typeface="Consolas"/>
              </a:rPr>
              <a:t>decision_maker</a:t>
            </a:r>
          </a:p>
          <a:p>
            <a:pPr algn="l">
              <a:spcAft>
                <a:spcPts val="200"/>
              </a:spcAft>
            </a:pPr>
            <a:r>
              <a:rPr sz="1100">
                <a:solidFill>
                  <a:srgbClr val="07122C"/>
                </a:solidFill>
                <a:latin typeface="Consolas"/>
              </a:rPr>
              <a:t>│</a:t>
            </a:r>
          </a:p>
          <a:p>
            <a:pPr algn="l">
              <a:spcAft>
                <a:spcPts val="200"/>
              </a:spcAft>
            </a:pPr>
            <a:r>
              <a:rPr sz="1100">
                <a:solidFill>
                  <a:srgbClr val="07122C"/>
                </a:solidFill>
                <a:latin typeface="Consolas"/>
              </a:rPr>
              <a:t>notify</a:t>
            </a:r>
          </a:p>
        </p:txBody>
      </p:sp>
      <p:sp>
        <p:nvSpPr>
          <p:cNvPr id="30" name="TextBox 29"/>
          <p:cNvSpPr txBox="1"/>
          <p:nvPr/>
        </p:nvSpPr>
        <p:spPr>
          <a:xfrm>
            <a:off x="9326880" y="1325880"/>
            <a:ext cx="2377440" cy="365760"/>
          </a:xfrm>
          <a:prstGeom prst="rect">
            <a:avLst/>
          </a:prstGeom>
          <a:noFill/>
        </p:spPr>
        <p:txBody>
          <a:bodyPr wrap="square" lIns="0" rIns="0" tIns="0" bIns="0" anchor="t">
            <a:spAutoFit/>
          </a:bodyPr>
          <a:lstStyle/>
          <a:p>
            <a:pPr algn="l"/>
            <a:r>
              <a:rPr sz="1100" b="1" i="0">
                <a:solidFill>
                  <a:srgbClr val="FFB703"/>
                </a:solidFill>
                <a:latin typeface="Calibri"/>
              </a:rPr>
              <a:t>DATA STORES</a:t>
            </a:r>
          </a:p>
        </p:txBody>
      </p:sp>
      <p:sp>
        <p:nvSpPr>
          <p:cNvPr id="31" name="Rectangle 30"/>
          <p:cNvSpPr/>
          <p:nvPr/>
        </p:nvSpPr>
        <p:spPr>
          <a:xfrm>
            <a:off x="9326880" y="1691640"/>
            <a:ext cx="23774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1691640"/>
            <a:ext cx="2377440" cy="640080"/>
          </a:xfrm>
          <a:prstGeom prst="rect">
            <a:avLst/>
          </a:prstGeom>
          <a:noFill/>
        </p:spPr>
        <p:txBody>
          <a:bodyPr wrap="square" lIns="0" rIns="0" tIns="0" bIns="0" anchor="ctr">
            <a:spAutoFit/>
          </a:bodyPr>
          <a:lstStyle/>
          <a:p>
            <a:pPr algn="ctr"/>
            <a:r>
              <a:rPr sz="1200" b="1" i="0">
                <a:solidFill>
                  <a:srgbClr val="FFFFFF"/>
                </a:solidFill>
                <a:latin typeface="Calibri"/>
              </a:rPr>
              <a:t>ChromaDB</a:t>
            </a:r>
          </a:p>
        </p:txBody>
      </p:sp>
      <p:sp>
        <p:nvSpPr>
          <p:cNvPr id="33" name="Rectangle 32"/>
          <p:cNvSpPr/>
          <p:nvPr/>
        </p:nvSpPr>
        <p:spPr>
          <a:xfrm>
            <a:off x="9326880" y="2468880"/>
            <a:ext cx="23774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0" y="2468880"/>
            <a:ext cx="2377440" cy="640080"/>
          </a:xfrm>
          <a:prstGeom prst="rect">
            <a:avLst/>
          </a:prstGeom>
          <a:noFill/>
        </p:spPr>
        <p:txBody>
          <a:bodyPr wrap="square" lIns="0" rIns="0" tIns="0" bIns="0" anchor="ctr">
            <a:spAutoFit/>
          </a:bodyPr>
          <a:lstStyle/>
          <a:p>
            <a:pPr algn="ctr"/>
            <a:r>
              <a:rPr sz="1200" b="1" i="0">
                <a:solidFill>
                  <a:srgbClr val="FFFFFF"/>
                </a:solidFill>
                <a:latin typeface="Calibri"/>
              </a:rPr>
              <a:t>hr.db</a:t>
            </a:r>
          </a:p>
        </p:txBody>
      </p:sp>
      <p:sp>
        <p:nvSpPr>
          <p:cNvPr id="35" name="Rectangle 34"/>
          <p:cNvSpPr/>
          <p:nvPr/>
        </p:nvSpPr>
        <p:spPr>
          <a:xfrm>
            <a:off x="9326880" y="3246120"/>
            <a:ext cx="23774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6880" y="3246120"/>
            <a:ext cx="2377440" cy="640080"/>
          </a:xfrm>
          <a:prstGeom prst="rect">
            <a:avLst/>
          </a:prstGeom>
          <a:noFill/>
        </p:spPr>
        <p:txBody>
          <a:bodyPr wrap="square" lIns="0" rIns="0" tIns="0" bIns="0" anchor="ctr">
            <a:spAutoFit/>
          </a:bodyPr>
          <a:lstStyle/>
          <a:p>
            <a:pPr algn="ctr"/>
            <a:r>
              <a:rPr sz="1200" b="1" i="0">
                <a:solidFill>
                  <a:srgbClr val="FFFFFF"/>
                </a:solidFill>
                <a:latin typeface="Calibri"/>
              </a:rPr>
              <a:t>checkpoints.db</a:t>
            </a:r>
          </a:p>
        </p:txBody>
      </p:sp>
      <p:sp>
        <p:nvSpPr>
          <p:cNvPr id="37" name="Rectangle 36"/>
          <p:cNvSpPr/>
          <p:nvPr/>
        </p:nvSpPr>
        <p:spPr>
          <a:xfrm>
            <a:off x="9326880" y="4023360"/>
            <a:ext cx="23774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26880" y="4023360"/>
            <a:ext cx="2377440" cy="640080"/>
          </a:xfrm>
          <a:prstGeom prst="rect">
            <a:avLst/>
          </a:prstGeom>
          <a:noFill/>
        </p:spPr>
        <p:txBody>
          <a:bodyPr wrap="square" lIns="0" rIns="0" tIns="0" bIns="0" anchor="ctr">
            <a:spAutoFit/>
          </a:bodyPr>
          <a:lstStyle/>
          <a:p>
            <a:pPr algn="ctr"/>
            <a:r>
              <a:rPr sz="1200" b="1" i="0">
                <a:solidFill>
                  <a:srgbClr val="FFFFFF"/>
                </a:solidFill>
                <a:latin typeface="Calibri"/>
              </a:rPr>
              <a:t>chat_sessions/</a:t>
            </a:r>
          </a:p>
        </p:txBody>
      </p:sp>
      <p:sp>
        <p:nvSpPr>
          <p:cNvPr id="39" name="Rectangle 38"/>
          <p:cNvSpPr/>
          <p:nvPr/>
        </p:nvSpPr>
        <p:spPr>
          <a:xfrm>
            <a:off x="9326880" y="4800600"/>
            <a:ext cx="237744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0" y="4800600"/>
            <a:ext cx="2377440" cy="640080"/>
          </a:xfrm>
          <a:prstGeom prst="rect">
            <a:avLst/>
          </a:prstGeom>
          <a:noFill/>
        </p:spPr>
        <p:txBody>
          <a:bodyPr wrap="square" lIns="0" rIns="0" tIns="0" bIns="0" anchor="ctr">
            <a:spAutoFit/>
          </a:bodyPr>
          <a:lstStyle/>
          <a:p>
            <a:pPr algn="ctr"/>
            <a:r>
              <a:rPr sz="1200" b="1" i="0">
                <a:solidFill>
                  <a:srgbClr val="FFFFFF"/>
                </a:solidFill>
                <a:latin typeface="Calibri"/>
              </a:rPr>
              <a:t>Azure AI Foundry</a:t>
            </a:r>
          </a:p>
        </p:txBody>
      </p:sp>
      <p:sp>
        <p:nvSpPr>
          <p:cNvPr id="41" name="TextBox 40"/>
          <p:cNvSpPr txBox="1"/>
          <p:nvPr/>
        </p:nvSpPr>
        <p:spPr>
          <a:xfrm>
            <a:off x="640080" y="5943600"/>
            <a:ext cx="10972800" cy="365760"/>
          </a:xfrm>
          <a:prstGeom prst="rect">
            <a:avLst/>
          </a:prstGeom>
          <a:noFill/>
        </p:spPr>
        <p:txBody>
          <a:bodyPr wrap="square" lIns="0" rIns="0" tIns="0" bIns="0" anchor="t">
            <a:spAutoFit/>
          </a:bodyPr>
          <a:lstStyle/>
          <a:p>
            <a:pPr algn="ctr"/>
            <a:r>
              <a:rPr sz="1200" b="0" i="1">
                <a:solidFill>
                  <a:srgbClr val="475569"/>
                </a:solidFill>
                <a:latin typeface="Calibri"/>
              </a:rPr>
              <a:t>Browser → FastAPI → LangGraph (4 CrewAI agents) → SQLite + ChromaDB · Azure AI Foundry powers all LLM + embedding calls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ARCHITECTURE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stack — five layers, one pipeline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164592"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 y="141732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08760"/>
            <a:ext cx="3200400" cy="457200"/>
          </a:xfrm>
          <a:prstGeom prst="rect">
            <a:avLst/>
          </a:prstGeom>
          <a:noFill/>
        </p:spPr>
        <p:txBody>
          <a:bodyPr wrap="square" lIns="0" rIns="0" tIns="0" bIns="0" anchor="t">
            <a:spAutoFit/>
          </a:bodyPr>
          <a:lstStyle/>
          <a:p>
            <a:pPr algn="l"/>
            <a:r>
              <a:rPr sz="1800" b="1" i="0">
                <a:solidFill>
                  <a:srgbClr val="0B1B3F"/>
                </a:solidFill>
                <a:latin typeface="Calibri"/>
              </a:rPr>
              <a:t>LangGraph</a:t>
            </a:r>
          </a:p>
        </p:txBody>
      </p:sp>
      <p:sp>
        <p:nvSpPr>
          <p:cNvPr id="11" name="TextBox 10"/>
          <p:cNvSpPr txBox="1"/>
          <p:nvPr/>
        </p:nvSpPr>
        <p:spPr>
          <a:xfrm>
            <a:off x="4114800" y="1508760"/>
            <a:ext cx="7315200" cy="685800"/>
          </a:xfrm>
          <a:prstGeom prst="rect">
            <a:avLst/>
          </a:prstGeom>
          <a:noFill/>
        </p:spPr>
        <p:txBody>
          <a:bodyPr wrap="square" lIns="0" rIns="0" tIns="0" bIns="0" anchor="ctr">
            <a:spAutoFit/>
          </a:bodyPr>
          <a:lstStyle/>
          <a:p>
            <a:pPr algn="l"/>
            <a:r>
              <a:rPr sz="1400" b="0" i="0">
                <a:solidFill>
                  <a:srgbClr val="0F172A"/>
                </a:solidFill>
                <a:latin typeface="Calibri"/>
              </a:rPr>
              <a:t>Stateful orchestration: nodes, edges, parallel branches, checkpoints.</a:t>
            </a:r>
          </a:p>
        </p:txBody>
      </p:sp>
      <p:sp>
        <p:nvSpPr>
          <p:cNvPr id="12" name="Rectangle 11"/>
          <p:cNvSpPr/>
          <p:nvPr/>
        </p:nvSpPr>
        <p:spPr>
          <a:xfrm>
            <a:off x="548640" y="237744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37744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468880"/>
            <a:ext cx="3200400" cy="457200"/>
          </a:xfrm>
          <a:prstGeom prst="rect">
            <a:avLst/>
          </a:prstGeom>
          <a:noFill/>
        </p:spPr>
        <p:txBody>
          <a:bodyPr wrap="square" lIns="0" rIns="0" tIns="0" bIns="0" anchor="t">
            <a:spAutoFit/>
          </a:bodyPr>
          <a:lstStyle/>
          <a:p>
            <a:pPr algn="l"/>
            <a:r>
              <a:rPr sz="1800" b="1" i="0">
                <a:solidFill>
                  <a:srgbClr val="0B1B3F"/>
                </a:solidFill>
                <a:latin typeface="Calibri"/>
              </a:rPr>
              <a:t>CrewAI</a:t>
            </a:r>
          </a:p>
        </p:txBody>
      </p:sp>
      <p:sp>
        <p:nvSpPr>
          <p:cNvPr id="15" name="TextBox 14"/>
          <p:cNvSpPr txBox="1"/>
          <p:nvPr/>
        </p:nvSpPr>
        <p:spPr>
          <a:xfrm>
            <a:off x="4114800" y="2468880"/>
            <a:ext cx="7315200" cy="685800"/>
          </a:xfrm>
          <a:prstGeom prst="rect">
            <a:avLst/>
          </a:prstGeom>
          <a:noFill/>
        </p:spPr>
        <p:txBody>
          <a:bodyPr wrap="square" lIns="0" rIns="0" tIns="0" bIns="0" anchor="ctr">
            <a:spAutoFit/>
          </a:bodyPr>
          <a:lstStyle/>
          <a:p>
            <a:pPr algn="l"/>
            <a:r>
              <a:rPr sz="1400" b="0" i="0">
                <a:solidFill>
                  <a:srgbClr val="0F172A"/>
                </a:solidFill>
                <a:latin typeface="Calibri"/>
              </a:rPr>
              <a:t>Persona execution: Agent + Task + Crew. One kickoff() per LangGraph node.</a:t>
            </a:r>
          </a:p>
        </p:txBody>
      </p:sp>
      <p:sp>
        <p:nvSpPr>
          <p:cNvPr id="16" name="Rectangle 15"/>
          <p:cNvSpPr/>
          <p:nvPr/>
        </p:nvSpPr>
        <p:spPr>
          <a:xfrm>
            <a:off x="548640" y="3337560"/>
            <a:ext cx="164592"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333756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429000"/>
            <a:ext cx="3200400" cy="457200"/>
          </a:xfrm>
          <a:prstGeom prst="rect">
            <a:avLst/>
          </a:prstGeom>
          <a:noFill/>
        </p:spPr>
        <p:txBody>
          <a:bodyPr wrap="square" lIns="0" rIns="0" tIns="0" bIns="0" anchor="t">
            <a:spAutoFit/>
          </a:bodyPr>
          <a:lstStyle/>
          <a:p>
            <a:pPr algn="l"/>
            <a:r>
              <a:rPr sz="1800" b="1" i="0">
                <a:solidFill>
                  <a:srgbClr val="0B1B3F"/>
                </a:solidFill>
                <a:latin typeface="Calibri"/>
              </a:rPr>
              <a:t>ChromaDB + Azure embeddings</a:t>
            </a:r>
          </a:p>
        </p:txBody>
      </p:sp>
      <p:sp>
        <p:nvSpPr>
          <p:cNvPr id="19" name="TextBox 18"/>
          <p:cNvSpPr txBox="1"/>
          <p:nvPr/>
        </p:nvSpPr>
        <p:spPr>
          <a:xfrm>
            <a:off x="4114800" y="3429000"/>
            <a:ext cx="7315200" cy="685800"/>
          </a:xfrm>
          <a:prstGeom prst="rect">
            <a:avLst/>
          </a:prstGeom>
          <a:noFill/>
        </p:spPr>
        <p:txBody>
          <a:bodyPr wrap="square" lIns="0" rIns="0" tIns="0" bIns="0" anchor="ctr">
            <a:spAutoFit/>
          </a:bodyPr>
          <a:lstStyle/>
          <a:p>
            <a:pPr algn="l"/>
            <a:r>
              <a:rPr sz="1400" b="0" i="0">
                <a:solidFill>
                  <a:srgbClr val="0F172A"/>
                </a:solidFill>
                <a:latin typeface="Calibri"/>
              </a:rPr>
              <a:t>Vector knowledge base for HR policy retrieval (RAG).</a:t>
            </a:r>
          </a:p>
        </p:txBody>
      </p:sp>
      <p:sp>
        <p:nvSpPr>
          <p:cNvPr id="20" name="Rectangle 19"/>
          <p:cNvSpPr/>
          <p:nvPr/>
        </p:nvSpPr>
        <p:spPr>
          <a:xfrm>
            <a:off x="548640" y="429768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 y="429768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89120"/>
            <a:ext cx="3200400" cy="457200"/>
          </a:xfrm>
          <a:prstGeom prst="rect">
            <a:avLst/>
          </a:prstGeom>
          <a:noFill/>
        </p:spPr>
        <p:txBody>
          <a:bodyPr wrap="square" lIns="0" rIns="0" tIns="0" bIns="0" anchor="t">
            <a:spAutoFit/>
          </a:bodyPr>
          <a:lstStyle/>
          <a:p>
            <a:pPr algn="l"/>
            <a:r>
              <a:rPr sz="1800" b="1" i="0">
                <a:solidFill>
                  <a:srgbClr val="0B1B3F"/>
                </a:solidFill>
                <a:latin typeface="Calibri"/>
              </a:rPr>
              <a:t>Azure AI Foundry</a:t>
            </a:r>
          </a:p>
        </p:txBody>
      </p:sp>
      <p:sp>
        <p:nvSpPr>
          <p:cNvPr id="23" name="TextBox 22"/>
          <p:cNvSpPr txBox="1"/>
          <p:nvPr/>
        </p:nvSpPr>
        <p:spPr>
          <a:xfrm>
            <a:off x="4114800" y="4389120"/>
            <a:ext cx="7315200" cy="685800"/>
          </a:xfrm>
          <a:prstGeom prst="rect">
            <a:avLst/>
          </a:prstGeom>
          <a:noFill/>
        </p:spPr>
        <p:txBody>
          <a:bodyPr wrap="square" lIns="0" rIns="0" tIns="0" bIns="0" anchor="ctr">
            <a:spAutoFit/>
          </a:bodyPr>
          <a:lstStyle/>
          <a:p>
            <a:pPr algn="l"/>
            <a:r>
              <a:rPr sz="1400" b="0" i="0">
                <a:solidFill>
                  <a:srgbClr val="0F172A"/>
                </a:solidFill>
                <a:latin typeface="Calibri"/>
              </a:rPr>
              <a:t>Hosted LLM + embeddings (gpt-5.4 + text-embedding-ada-002).</a:t>
            </a:r>
          </a:p>
        </p:txBody>
      </p:sp>
      <p:sp>
        <p:nvSpPr>
          <p:cNvPr id="24" name="Rectangle 23"/>
          <p:cNvSpPr/>
          <p:nvPr/>
        </p:nvSpPr>
        <p:spPr>
          <a:xfrm>
            <a:off x="548640" y="5257800"/>
            <a:ext cx="164592"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3232" y="525780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349240"/>
            <a:ext cx="3200400" cy="457200"/>
          </a:xfrm>
          <a:prstGeom prst="rect">
            <a:avLst/>
          </a:prstGeom>
          <a:noFill/>
        </p:spPr>
        <p:txBody>
          <a:bodyPr wrap="square" lIns="0" rIns="0" tIns="0" bIns="0" anchor="t">
            <a:spAutoFit/>
          </a:bodyPr>
          <a:lstStyle/>
          <a:p>
            <a:pPr algn="l"/>
            <a:r>
              <a:rPr sz="1800" b="1" i="0">
                <a:solidFill>
                  <a:srgbClr val="0B1B3F"/>
                </a:solidFill>
                <a:latin typeface="Calibri"/>
              </a:rPr>
              <a:t>FastMCP 2</a:t>
            </a:r>
          </a:p>
        </p:txBody>
      </p:sp>
      <p:sp>
        <p:nvSpPr>
          <p:cNvPr id="27" name="TextBox 26"/>
          <p:cNvSpPr txBox="1"/>
          <p:nvPr/>
        </p:nvSpPr>
        <p:spPr>
          <a:xfrm>
            <a:off x="4114800" y="5349240"/>
            <a:ext cx="7315200" cy="685800"/>
          </a:xfrm>
          <a:prstGeom prst="rect">
            <a:avLst/>
          </a:prstGeom>
          <a:noFill/>
        </p:spPr>
        <p:txBody>
          <a:bodyPr wrap="square" lIns="0" rIns="0" tIns="0" bIns="0" anchor="ctr">
            <a:spAutoFit/>
          </a:bodyPr>
          <a:lstStyle/>
          <a:p>
            <a:pPr algn="l"/>
            <a:r>
              <a:rPr sz="1400" b="0" i="0">
                <a:solidFill>
                  <a:srgbClr val="0F172A"/>
                </a:solidFill>
                <a:latin typeface="Calibri"/>
              </a:rPr>
              <a:t>Exposes the pipeline to external clients via the MCP protocol.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Real code · CrewAI agent definition (PolicyExpertAgent)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src/contoso_hr/pipeline/agents.py — the actual agent we use in the pipeline.</a:t>
            </a:r>
          </a:p>
        </p:txBody>
      </p:sp>
      <p:sp>
        <p:nvSpPr>
          <p:cNvPr id="9" name="Rectangle 8"/>
          <p:cNvSpPr/>
          <p:nvPr/>
        </p:nvSpPr>
        <p:spPr>
          <a:xfrm>
            <a:off x="640080" y="1828800"/>
            <a:ext cx="768096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7406640" cy="4343400"/>
          </a:xfrm>
          <a:prstGeom prst="rect">
            <a:avLst/>
          </a:prstGeom>
          <a:noFill/>
        </p:spPr>
        <p:txBody>
          <a:bodyPr wrap="square" lIns="0" rIns="0" tIns="0" bIns="0">
            <a:spAutoFit/>
          </a:bodyPr>
          <a:lstStyle/>
          <a:p>
            <a:pPr>
              <a:spcAft>
                <a:spcPts val="0"/>
              </a:spcAft>
            </a:pPr>
            <a:r>
              <a:rPr sz="1100">
                <a:solidFill>
                  <a:srgbClr val="FFFFFF"/>
                </a:solidFill>
                <a:latin typeface="Consolas"/>
              </a:rPr>
              <a:t>class PolicyExpertAgent:</a:t>
            </a:r>
          </a:p>
          <a:p>
            <a:pPr>
              <a:spcAft>
                <a:spcPts val="0"/>
              </a:spcAft>
            </a:pPr>
            <a:r>
              <a:rPr sz="1100">
                <a:solidFill>
                  <a:srgbClr val="FFFFFF"/>
                </a:solidFill>
                <a:latin typeface="Consolas"/>
              </a:rPr>
              <a:t>    """HR Policy Expert who retrieves</a:t>
            </a:r>
          </a:p>
          <a:p>
            <a:pPr>
              <a:spcAft>
                <a:spcPts val="0"/>
              </a:spcAft>
            </a:pPr>
            <a:r>
              <a:rPr sz="1100">
                <a:solidFill>
                  <a:srgbClr val="FFFFFF"/>
                </a:solidFill>
                <a:latin typeface="Consolas"/>
              </a:rPr>
              <a:t>    and applies Contoso HR policies."""</a:t>
            </a:r>
          </a:p>
          <a:p>
            <a:pPr>
              <a:spcAft>
                <a:spcPts val="0"/>
              </a:spcAft>
            </a:pPr>
            <a:r>
              <a:rPr sz="1100">
                <a:solidFill>
                  <a:srgbClr val="FFFFFF"/>
                </a:solidFill>
                <a:latin typeface="Consolas"/>
              </a:rPr>
              <a:t> </a:t>
            </a:r>
          </a:p>
          <a:p>
            <a:pPr>
              <a:spcAft>
                <a:spcPts val="0"/>
              </a:spcAft>
            </a:pPr>
            <a:r>
              <a:rPr sz="1100">
                <a:solidFill>
                  <a:srgbClr val="FFFFFF"/>
                </a:solidFill>
                <a:latin typeface="Consolas"/>
              </a:rPr>
              <a:t>    ROLE = "Contoso HR Policy Expert"</a:t>
            </a:r>
          </a:p>
          <a:p>
            <a:pPr>
              <a:spcAft>
                <a:spcPts val="0"/>
              </a:spcAft>
            </a:pPr>
            <a:r>
              <a:rPr sz="1100">
                <a:solidFill>
                  <a:srgbClr val="FFFFFF"/>
                </a:solidFill>
                <a:latin typeface="Consolas"/>
              </a:rPr>
              <a:t>    GOAL = (</a:t>
            </a:r>
          </a:p>
          <a:p>
            <a:pPr>
              <a:spcAft>
                <a:spcPts val="0"/>
              </a:spcAft>
            </a:pPr>
            <a:r>
              <a:rPr sz="1100">
                <a:solidFill>
                  <a:srgbClr val="FFFFFF"/>
                </a:solidFill>
                <a:latin typeface="Consolas"/>
              </a:rPr>
              <a:t>        "Ensure all MCT hiring decisions "</a:t>
            </a:r>
          </a:p>
          <a:p>
            <a:pPr>
              <a:spcAft>
                <a:spcPts val="0"/>
              </a:spcAft>
            </a:pPr>
            <a:r>
              <a:rPr sz="1100">
                <a:solidFill>
                  <a:srgbClr val="FFFFFF"/>
                </a:solidFill>
                <a:latin typeface="Consolas"/>
              </a:rPr>
              <a:t>        "comply with Contoso HR policy, "</a:t>
            </a:r>
          </a:p>
          <a:p>
            <a:pPr>
              <a:spcAft>
                <a:spcPts val="0"/>
              </a:spcAft>
            </a:pPr>
            <a:r>
              <a:rPr sz="1100">
                <a:solidFill>
                  <a:srgbClr val="FFFFFF"/>
                </a:solidFill>
                <a:latin typeface="Consolas"/>
              </a:rPr>
              <a:t>        "EEO requirements, and compensation "</a:t>
            </a:r>
          </a:p>
          <a:p>
            <a:pPr>
              <a:spcAft>
                <a:spcPts val="0"/>
              </a:spcAft>
            </a:pPr>
            <a:r>
              <a:rPr sz="1100">
                <a:solidFill>
                  <a:srgbClr val="FFFFFF"/>
                </a:solidFill>
                <a:latin typeface="Consolas"/>
              </a:rPr>
              <a:t>        "guidelines."</a:t>
            </a:r>
          </a:p>
          <a:p>
            <a:pPr>
              <a:spcAft>
                <a:spcPts val="0"/>
              </a:spcAft>
            </a:pPr>
            <a:r>
              <a:rPr sz="1100">
                <a:solidFill>
                  <a:srgbClr val="FFFFFF"/>
                </a:solidFill>
                <a:latin typeface="Consolas"/>
              </a:rPr>
              <a:t>    )</a:t>
            </a:r>
          </a:p>
          <a:p>
            <a:pPr>
              <a:spcAft>
                <a:spcPts val="0"/>
              </a:spcAft>
            </a:pPr>
            <a:r>
              <a:rPr sz="1100">
                <a:solidFill>
                  <a:srgbClr val="FFFFFF"/>
                </a:solidFill>
                <a:latin typeface="Consolas"/>
              </a:rPr>
              <a:t>    BACKSTORY = POLICY_EXPERT_SYSTEM_PROMPT</a:t>
            </a:r>
          </a:p>
          <a:p>
            <a:pPr>
              <a:spcAft>
                <a:spcPts val="0"/>
              </a:spcAft>
            </a:pPr>
            <a:r>
              <a:rPr sz="1100">
                <a:solidFill>
                  <a:srgbClr val="FFFFFF"/>
                </a:solidFill>
                <a:latin typeface="Consolas"/>
              </a:rPr>
              <a:t> </a:t>
            </a:r>
          </a:p>
          <a:p>
            <a:pPr>
              <a:spcAft>
                <a:spcPts val="0"/>
              </a:spcAft>
            </a:pPr>
            <a:r>
              <a:rPr sz="1100">
                <a:solidFill>
                  <a:srgbClr val="FFFFFF"/>
                </a:solidFill>
                <a:latin typeface="Consolas"/>
              </a:rPr>
              <a:t>    @classmethod</a:t>
            </a:r>
          </a:p>
          <a:p>
            <a:pPr>
              <a:spcAft>
                <a:spcPts val="0"/>
              </a:spcAft>
            </a:pPr>
            <a:r>
              <a:rPr sz="1100">
                <a:solidFill>
                  <a:srgbClr val="FFFFFF"/>
                </a:solidFill>
                <a:latin typeface="Consolas"/>
              </a:rPr>
              <a:t>    def create(cls, llm: LLM) -&gt; Agent:</a:t>
            </a:r>
          </a:p>
          <a:p>
            <a:pPr>
              <a:spcAft>
                <a:spcPts val="0"/>
              </a:spcAft>
            </a:pPr>
            <a:r>
              <a:rPr sz="1100">
                <a:solidFill>
                  <a:srgbClr val="FFFFFF"/>
                </a:solidFill>
                <a:latin typeface="Consolas"/>
              </a:rPr>
              <a:t>        return Agent(</a:t>
            </a:r>
          </a:p>
          <a:p>
            <a:pPr>
              <a:spcAft>
                <a:spcPts val="0"/>
              </a:spcAft>
            </a:pPr>
            <a:r>
              <a:rPr sz="1100">
                <a:solidFill>
                  <a:srgbClr val="FFFFFF"/>
                </a:solidFill>
                <a:latin typeface="Consolas"/>
              </a:rPr>
              <a:t>            role=cls.ROLE,</a:t>
            </a:r>
          </a:p>
          <a:p>
            <a:pPr>
              <a:spcAft>
                <a:spcPts val="0"/>
              </a:spcAft>
            </a:pPr>
            <a:r>
              <a:rPr sz="1100">
                <a:solidFill>
                  <a:srgbClr val="FFFFFF"/>
                </a:solidFill>
                <a:latin typeface="Consolas"/>
              </a:rPr>
              <a:t>            goal=cls.GOAL,</a:t>
            </a:r>
          </a:p>
          <a:p>
            <a:pPr>
              <a:spcAft>
                <a:spcPts val="0"/>
              </a:spcAft>
            </a:pPr>
            <a:r>
              <a:rPr sz="1100">
                <a:solidFill>
                  <a:srgbClr val="FFFFFF"/>
                </a:solidFill>
                <a:latin typeface="Consolas"/>
              </a:rPr>
              <a:t>            backstory=cls.BACKSTORY,</a:t>
            </a:r>
          </a:p>
          <a:p>
            <a:pPr>
              <a:spcAft>
                <a:spcPts val="0"/>
              </a:spcAft>
            </a:pPr>
            <a:r>
              <a:rPr sz="1100">
                <a:solidFill>
                  <a:srgbClr val="FFFFFF"/>
                </a:solidFill>
                <a:latin typeface="Consolas"/>
              </a:rPr>
              <a:t>            llm=llm,</a:t>
            </a:r>
          </a:p>
          <a:p>
            <a:pPr>
              <a:spcAft>
                <a:spcPts val="0"/>
              </a:spcAft>
            </a:pPr>
            <a:r>
              <a:rPr sz="1100">
                <a:solidFill>
                  <a:srgbClr val="FFFFFF"/>
                </a:solidFill>
                <a:latin typeface="Consolas"/>
              </a:rPr>
              <a:t>            tools=get_policy_expert_tools(),</a:t>
            </a:r>
          </a:p>
          <a:p>
            <a:pPr>
              <a:spcAft>
                <a:spcPts val="0"/>
              </a:spcAft>
            </a:pPr>
            <a:r>
              <a:rPr sz="1100">
                <a:solidFill>
                  <a:srgbClr val="FFFFFF"/>
                </a:solidFill>
                <a:latin typeface="Consolas"/>
              </a:rPr>
              <a:t>            verbose=_VERBOSE,</a:t>
            </a:r>
          </a:p>
          <a:p>
            <a:pPr>
              <a:spcAft>
                <a:spcPts val="0"/>
              </a:spcAft>
            </a:pPr>
            <a:r>
              <a:rPr sz="1100">
                <a:solidFill>
                  <a:srgbClr val="FFFFFF"/>
                </a:solidFill>
                <a:latin typeface="Consolas"/>
              </a:rPr>
              <a:t>            allow_delegation=False,</a:t>
            </a:r>
          </a:p>
          <a:p>
            <a:pPr>
              <a:spcAft>
                <a:spcPts val="0"/>
              </a:spcAft>
            </a:pPr>
            <a:r>
              <a:rPr sz="1100">
                <a:solidFill>
                  <a:srgbClr val="FFFFFF"/>
                </a:solidFill>
                <a:latin typeface="Consolas"/>
              </a:rPr>
              <a:t>        )</a:t>
            </a:r>
          </a:p>
        </p:txBody>
      </p:sp>
      <p:sp>
        <p:nvSpPr>
          <p:cNvPr id="12" name="Rectangle 11"/>
          <p:cNvSpPr/>
          <p:nvPr/>
        </p:nvSpPr>
        <p:spPr>
          <a:xfrm>
            <a:off x="8503920" y="1828800"/>
            <a:ext cx="3108960" cy="45262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993392"/>
            <a:ext cx="2743200" cy="365760"/>
          </a:xfrm>
          <a:prstGeom prst="rect">
            <a:avLst/>
          </a:prstGeom>
          <a:noFill/>
        </p:spPr>
        <p:txBody>
          <a:bodyPr wrap="square" lIns="0" rIns="0" tIns="0" bIns="0" anchor="t">
            <a:spAutoFit/>
          </a:bodyPr>
          <a:lstStyle/>
          <a:p>
            <a:pPr algn="l"/>
            <a:r>
              <a:rPr sz="1400" b="1" i="0">
                <a:solidFill>
                  <a:srgbClr val="FFB703"/>
                </a:solidFill>
                <a:latin typeface="Calibri"/>
              </a:rPr>
              <a:t>Read this code</a:t>
            </a:r>
          </a:p>
        </p:txBody>
      </p:sp>
      <p:sp>
        <p:nvSpPr>
          <p:cNvPr id="14" name="TextBox 13"/>
          <p:cNvSpPr txBox="1"/>
          <p:nvPr/>
        </p:nvSpPr>
        <p:spPr>
          <a:xfrm>
            <a:off x="8686800" y="2423160"/>
            <a:ext cx="2743200" cy="3840480"/>
          </a:xfrm>
          <a:prstGeom prst="rect">
            <a:avLst/>
          </a:prstGeom>
          <a:noFill/>
        </p:spPr>
        <p:txBody>
          <a:bodyPr wrap="square" lIns="0" rIns="0" tIns="0" bIns="0">
            <a:spAutoFit/>
          </a:bodyPr>
          <a:lstStyle/>
          <a:p>
            <a:pPr algn="l" indent="-228600" marL="228600">
              <a:spcAft>
                <a:spcPts val="800"/>
              </a:spcAft>
              <a:buChar char="•"/>
            </a:pPr>
            <a:r>
              <a:rPr sz="1100" b="1">
                <a:solidFill>
                  <a:srgbClr val="FFB703"/>
                </a:solidFill>
                <a:latin typeface="Calibri"/>
              </a:rPr>
              <a:t>ROLE</a:t>
            </a:r>
            <a:r>
              <a:rPr sz="1100">
                <a:solidFill>
                  <a:srgbClr val="FFFFFF"/>
                </a:solidFill>
                <a:latin typeface="Calibri"/>
              </a:rPr>
              <a:t>  One-sentence persona.</a:t>
            </a:r>
          </a:p>
          <a:p>
            <a:pPr algn="l" indent="-228600" marL="228600">
              <a:spcAft>
                <a:spcPts val="800"/>
              </a:spcAft>
              <a:buChar char="•"/>
            </a:pPr>
            <a:r>
              <a:rPr sz="1100" b="1">
                <a:solidFill>
                  <a:srgbClr val="FFB703"/>
                </a:solidFill>
                <a:latin typeface="Calibri"/>
              </a:rPr>
              <a:t>GOAL</a:t>
            </a:r>
            <a:r>
              <a:rPr sz="1100">
                <a:solidFill>
                  <a:srgbClr val="FFFFFF"/>
                </a:solidFill>
                <a:latin typeface="Calibri"/>
              </a:rPr>
              <a:t>  Measurable success.</a:t>
            </a:r>
          </a:p>
          <a:p>
            <a:pPr algn="l" indent="-228600" marL="228600">
              <a:spcAft>
                <a:spcPts val="800"/>
              </a:spcAft>
              <a:buChar char="•"/>
            </a:pPr>
            <a:r>
              <a:rPr sz="1100" b="1">
                <a:solidFill>
                  <a:srgbClr val="FFB703"/>
                </a:solidFill>
                <a:latin typeface="Calibri"/>
              </a:rPr>
              <a:t>BACKSTORY</a:t>
            </a:r>
            <a:r>
              <a:rPr sz="1100">
                <a:solidFill>
                  <a:srgbClr val="FFFFFF"/>
                </a:solidFill>
                <a:latin typeface="Calibri"/>
              </a:rPr>
              <a:t>  Full system prompt.</a:t>
            </a:r>
          </a:p>
          <a:p>
            <a:pPr algn="l" indent="-228600" marL="228600">
              <a:spcAft>
                <a:spcPts val="800"/>
              </a:spcAft>
              <a:buChar char="•"/>
            </a:pPr>
            <a:r>
              <a:rPr sz="1100" b="1">
                <a:solidFill>
                  <a:srgbClr val="FFB703"/>
                </a:solidFill>
                <a:latin typeface="Calibri"/>
              </a:rPr>
              <a:t>tools=</a:t>
            </a:r>
            <a:r>
              <a:rPr sz="1100">
                <a:solidFill>
                  <a:srgbClr val="FFFFFF"/>
                </a:solidFill>
                <a:latin typeface="Calibri"/>
              </a:rPr>
              <a:t>  Only query_hr_policy.</a:t>
            </a:r>
          </a:p>
          <a:p>
            <a:pPr algn="l" indent="-228600" marL="228600">
              <a:spcAft>
                <a:spcPts val="800"/>
              </a:spcAft>
              <a:buChar char="•"/>
            </a:pPr>
            <a:r>
              <a:rPr sz="1100" b="1">
                <a:solidFill>
                  <a:srgbClr val="FFB703"/>
                </a:solidFill>
                <a:latin typeface="Calibri"/>
              </a:rPr>
              <a:t>allow_delegation=False</a:t>
            </a:r>
            <a:r>
              <a:rPr sz="1100">
                <a:solidFill>
                  <a:srgbClr val="FFFFFF"/>
                </a:solidFill>
                <a:latin typeface="Calibri"/>
              </a:rPr>
              <a:t>  No sub-agents. Predictable.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Real code · the @tool decorator (query_hr_policy)</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src/contoso_hr/pipeline/tools.py — what gives the agent the power to act.</a:t>
            </a:r>
          </a:p>
        </p:txBody>
      </p:sp>
      <p:sp>
        <p:nvSpPr>
          <p:cNvPr id="9" name="Rectangle 8"/>
          <p:cNvSpPr/>
          <p:nvPr/>
        </p:nvSpPr>
        <p:spPr>
          <a:xfrm>
            <a:off x="640080" y="1828800"/>
            <a:ext cx="768096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7406640" cy="4343400"/>
          </a:xfrm>
          <a:prstGeom prst="rect">
            <a:avLst/>
          </a:prstGeom>
          <a:noFill/>
        </p:spPr>
        <p:txBody>
          <a:bodyPr wrap="square" lIns="0" rIns="0" tIns="0" bIns="0">
            <a:spAutoFit/>
          </a:bodyPr>
          <a:lstStyle/>
          <a:p>
            <a:pPr>
              <a:spcAft>
                <a:spcPts val="0"/>
              </a:spcAft>
            </a:pPr>
            <a:r>
              <a:rPr sz="1000">
                <a:solidFill>
                  <a:srgbClr val="FFFFFF"/>
                </a:solidFill>
                <a:latin typeface="Consolas"/>
              </a:rPr>
              <a:t>@tool("query_hr_policy")</a:t>
            </a:r>
          </a:p>
          <a:p>
            <a:pPr>
              <a:spcAft>
                <a:spcPts val="0"/>
              </a:spcAft>
            </a:pPr>
            <a:r>
              <a:rPr sz="1000">
                <a:solidFill>
                  <a:srgbClr val="FFFFFF"/>
                </a:solidFill>
                <a:latin typeface="Consolas"/>
              </a:rPr>
              <a:t>def query_hr_policy(question: str) -&gt; str:</a:t>
            </a:r>
          </a:p>
          <a:p>
            <a:pPr>
              <a:spcAft>
                <a:spcPts val="0"/>
              </a:spcAft>
            </a:pPr>
            <a:r>
              <a:rPr sz="1000">
                <a:solidFill>
                  <a:srgbClr val="FFFFFF"/>
                </a:solidFill>
                <a:latin typeface="Consolas"/>
              </a:rPr>
              <a:t>    """Query the Contoso HR policy</a:t>
            </a:r>
          </a:p>
          <a:p>
            <a:pPr>
              <a:spcAft>
                <a:spcPts val="0"/>
              </a:spcAft>
            </a:pPr>
            <a:r>
              <a:rPr sz="1000">
                <a:solidFill>
                  <a:srgbClr val="FFFFFF"/>
                </a:solidFill>
                <a:latin typeface="Consolas"/>
              </a:rPr>
              <a:t>    knowledge base via semantic search.</a:t>
            </a:r>
          </a:p>
          <a:p>
            <a:pPr>
              <a:spcAft>
                <a:spcPts val="0"/>
              </a:spcAft>
            </a:pPr>
            <a:r>
              <a:rPr sz="1000">
                <a:solidFill>
                  <a:srgbClr val="FFFFFF"/>
                </a:solidFill>
                <a:latin typeface="Consolas"/>
              </a:rPr>
              <a:t> </a:t>
            </a:r>
          </a:p>
          <a:p>
            <a:pPr>
              <a:spcAft>
                <a:spcPts val="0"/>
              </a:spcAft>
            </a:pPr>
            <a:r>
              <a:rPr sz="1000">
                <a:solidFill>
                  <a:srgbClr val="FFFFFF"/>
                </a:solidFill>
                <a:latin typeface="Consolas"/>
              </a:rPr>
              <a:t>    Use this tool to look up policies</a:t>
            </a:r>
          </a:p>
          <a:p>
            <a:pPr>
              <a:spcAft>
                <a:spcPts val="0"/>
              </a:spcAft>
            </a:pPr>
            <a:r>
              <a:rPr sz="1000">
                <a:solidFill>
                  <a:srgbClr val="FFFFFF"/>
                </a:solidFill>
                <a:latin typeface="Consolas"/>
              </a:rPr>
              <a:t>    BEFORE making any policy assessment.</a:t>
            </a:r>
          </a:p>
          <a:p>
            <a:pPr>
              <a:spcAft>
                <a:spcPts val="0"/>
              </a:spcAft>
            </a:pPr>
            <a:r>
              <a:rPr sz="1000">
                <a:solidFill>
                  <a:srgbClr val="FFFFFF"/>
                </a:solidFill>
                <a:latin typeface="Consolas"/>
              </a:rPr>
              <a:t>    Never guess at policy details.</a:t>
            </a:r>
          </a:p>
          <a:p>
            <a:pPr>
              <a:spcAft>
                <a:spcPts val="0"/>
              </a:spcAft>
            </a:pPr>
            <a:r>
              <a:rPr sz="1000">
                <a:solidFill>
                  <a:srgbClr val="FFFFFF"/>
                </a:solidFill>
                <a:latin typeface="Consolas"/>
              </a:rPr>
              <a:t> </a:t>
            </a:r>
          </a:p>
          <a:p>
            <a:pPr>
              <a:spcAft>
                <a:spcPts val="0"/>
              </a:spcAft>
            </a:pPr>
            <a:r>
              <a:rPr sz="1000">
                <a:solidFill>
                  <a:srgbClr val="FFFFFF"/>
                </a:solidFill>
                <a:latin typeface="Consolas"/>
              </a:rPr>
              <a:t>    Args:</a:t>
            </a:r>
          </a:p>
          <a:p>
            <a:pPr>
              <a:spcAft>
                <a:spcPts val="0"/>
              </a:spcAft>
            </a:pPr>
            <a:r>
              <a:rPr sz="1000">
                <a:solidFill>
                  <a:srgbClr val="FFFFFF"/>
                </a:solidFill>
                <a:latin typeface="Consolas"/>
              </a:rPr>
              <a:t>        question: Natural language Q.</a:t>
            </a:r>
          </a:p>
          <a:p>
            <a:pPr>
              <a:spcAft>
                <a:spcPts val="0"/>
              </a:spcAft>
            </a:pPr>
            <a:r>
              <a:rPr sz="1000">
                <a:solidFill>
                  <a:srgbClr val="FFFFFF"/>
                </a:solidFill>
                <a:latin typeface="Consolas"/>
              </a:rPr>
              <a:t> </a:t>
            </a:r>
          </a:p>
          <a:p>
            <a:pPr>
              <a:spcAft>
                <a:spcPts val="0"/>
              </a:spcAft>
            </a:pPr>
            <a:r>
              <a:rPr sz="1000">
                <a:solidFill>
                  <a:srgbClr val="FFFFFF"/>
                </a:solidFill>
                <a:latin typeface="Consolas"/>
              </a:rPr>
              <a:t>    Returns:</a:t>
            </a:r>
          </a:p>
          <a:p>
            <a:pPr>
              <a:spcAft>
                <a:spcPts val="0"/>
              </a:spcAft>
            </a:pPr>
            <a:r>
              <a:rPr sz="1000">
                <a:solidFill>
                  <a:srgbClr val="FFFFFF"/>
                </a:solidFill>
                <a:latin typeface="Consolas"/>
              </a:rPr>
              <a:t>        Relevant policy text chunks.</a:t>
            </a:r>
          </a:p>
          <a:p>
            <a:pPr>
              <a:spcAft>
                <a:spcPts val="0"/>
              </a:spcAft>
            </a:pPr>
            <a:r>
              <a:rPr sz="1000">
                <a:solidFill>
                  <a:srgbClr val="FFFFFF"/>
                </a:solidFill>
                <a:latin typeface="Consolas"/>
              </a:rPr>
              <a:t>    """</a:t>
            </a:r>
          </a:p>
          <a:p>
            <a:pPr>
              <a:spcAft>
                <a:spcPts val="0"/>
              </a:spcAft>
            </a:pPr>
            <a:r>
              <a:rPr sz="1000">
                <a:solidFill>
                  <a:srgbClr val="FFFFFF"/>
                </a:solidFill>
                <a:latin typeface="Consolas"/>
              </a:rPr>
              <a:t>    try:</a:t>
            </a:r>
          </a:p>
          <a:p>
            <a:pPr>
              <a:spcAft>
                <a:spcPts val="0"/>
              </a:spcAft>
            </a:pPr>
            <a:r>
              <a:rPr sz="1000">
                <a:solidFill>
                  <a:srgbClr val="FFFFFF"/>
                </a:solidFill>
                <a:latin typeface="Consolas"/>
              </a:rPr>
              <a:t>        ctx = query_policy_knowledge(question, k=4)</a:t>
            </a:r>
          </a:p>
          <a:p>
            <a:pPr>
              <a:spcAft>
                <a:spcPts val="0"/>
              </a:spcAft>
            </a:pPr>
            <a:r>
              <a:rPr sz="1000">
                <a:solidFill>
                  <a:srgbClr val="FFFFFF"/>
                </a:solidFill>
                <a:latin typeface="Consolas"/>
              </a:rPr>
              <a:t>        if not ctx.chunks:</a:t>
            </a:r>
          </a:p>
          <a:p>
            <a:pPr>
              <a:spcAft>
                <a:spcPts val="0"/>
              </a:spcAft>
            </a:pPr>
            <a:r>
              <a:rPr sz="1000">
                <a:solidFill>
                  <a:srgbClr val="FFFFFF"/>
                </a:solidFill>
                <a:latin typeface="Consolas"/>
              </a:rPr>
              <a:t>            return "No relevant policy."</a:t>
            </a:r>
          </a:p>
          <a:p>
            <a:pPr>
              <a:spcAft>
                <a:spcPts val="0"/>
              </a:spcAft>
            </a:pPr>
            <a:r>
              <a:rPr sz="1000">
                <a:solidFill>
                  <a:srgbClr val="FFFFFF"/>
                </a:solidFill>
                <a:latin typeface="Consolas"/>
              </a:rPr>
              <a:t>        parts = [f"[Source: {s}]\n{c}"</a:t>
            </a:r>
          </a:p>
          <a:p>
            <a:pPr>
              <a:spcAft>
                <a:spcPts val="0"/>
              </a:spcAft>
            </a:pPr>
            <a:r>
              <a:rPr sz="1000">
                <a:solidFill>
                  <a:srgbClr val="FFFFFF"/>
                </a:solidFill>
                <a:latin typeface="Consolas"/>
              </a:rPr>
              <a:t>                 for c, s in zip(ctx.chunks,</a:t>
            </a:r>
          </a:p>
          <a:p>
            <a:pPr>
              <a:spcAft>
                <a:spcPts val="0"/>
              </a:spcAft>
            </a:pPr>
            <a:r>
              <a:rPr sz="1000">
                <a:solidFill>
                  <a:srgbClr val="FFFFFF"/>
                </a:solidFill>
                <a:latin typeface="Consolas"/>
              </a:rPr>
              <a:t>                                 ctx.sources)]</a:t>
            </a:r>
          </a:p>
          <a:p>
            <a:pPr>
              <a:spcAft>
                <a:spcPts val="0"/>
              </a:spcAft>
            </a:pPr>
            <a:r>
              <a:rPr sz="1000">
                <a:solidFill>
                  <a:srgbClr val="FFFFFF"/>
                </a:solidFill>
                <a:latin typeface="Consolas"/>
              </a:rPr>
              <a:t>        return "\n\n---\n\n".join(parts)</a:t>
            </a:r>
          </a:p>
          <a:p>
            <a:pPr>
              <a:spcAft>
                <a:spcPts val="0"/>
              </a:spcAft>
            </a:pPr>
            <a:r>
              <a:rPr sz="1000">
                <a:solidFill>
                  <a:srgbClr val="FFFFFF"/>
                </a:solidFill>
                <a:latin typeface="Consolas"/>
              </a:rPr>
              <a:t>    except Exception as e:</a:t>
            </a:r>
          </a:p>
          <a:p>
            <a:pPr>
              <a:spcAft>
                <a:spcPts val="0"/>
              </a:spcAft>
            </a:pPr>
            <a:r>
              <a:rPr sz="1000">
                <a:solidFill>
                  <a:srgbClr val="FFFFFF"/>
                </a:solidFill>
                <a:latin typeface="Consolas"/>
              </a:rPr>
              <a:t>        return f"Policy query failed: {e}."</a:t>
            </a:r>
          </a:p>
        </p:txBody>
      </p:sp>
      <p:sp>
        <p:nvSpPr>
          <p:cNvPr id="12" name="Rectangle 11"/>
          <p:cNvSpPr/>
          <p:nvPr/>
        </p:nvSpPr>
        <p:spPr>
          <a:xfrm>
            <a:off x="8503920" y="1828800"/>
            <a:ext cx="3108960" cy="45262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993392"/>
            <a:ext cx="2743200" cy="365760"/>
          </a:xfrm>
          <a:prstGeom prst="rect">
            <a:avLst/>
          </a:prstGeom>
          <a:noFill/>
        </p:spPr>
        <p:txBody>
          <a:bodyPr wrap="square" lIns="0" rIns="0" tIns="0" bIns="0" anchor="t">
            <a:spAutoFit/>
          </a:bodyPr>
          <a:lstStyle/>
          <a:p>
            <a:pPr algn="l"/>
            <a:r>
              <a:rPr sz="1400" b="1" i="0">
                <a:solidFill>
                  <a:srgbClr val="FFB703"/>
                </a:solidFill>
                <a:latin typeface="Calibri"/>
              </a:rPr>
              <a:t>What the agent sees</a:t>
            </a:r>
          </a:p>
        </p:txBody>
      </p:sp>
      <p:sp>
        <p:nvSpPr>
          <p:cNvPr id="14" name="TextBox 13"/>
          <p:cNvSpPr txBox="1"/>
          <p:nvPr/>
        </p:nvSpPr>
        <p:spPr>
          <a:xfrm>
            <a:off x="8686800" y="2423160"/>
            <a:ext cx="2743200" cy="3840480"/>
          </a:xfrm>
          <a:prstGeom prst="rect">
            <a:avLst/>
          </a:prstGeom>
          <a:noFill/>
        </p:spPr>
        <p:txBody>
          <a:bodyPr wrap="square" lIns="0" rIns="0" tIns="0" bIns="0">
            <a:spAutoFit/>
          </a:bodyPr>
          <a:lstStyle/>
          <a:p>
            <a:pPr algn="l" indent="-228600" marL="228600">
              <a:spcAft>
                <a:spcPts val="800"/>
              </a:spcAft>
              <a:buChar char="•"/>
            </a:pPr>
            <a:r>
              <a:rPr sz="1100" b="1">
                <a:solidFill>
                  <a:srgbClr val="FFB703"/>
                </a:solidFill>
                <a:latin typeface="Calibri"/>
              </a:rPr>
              <a:t>Tool name</a:t>
            </a:r>
            <a:r>
              <a:rPr sz="1100">
                <a:solidFill>
                  <a:srgbClr val="FFFFFF"/>
                </a:solidFill>
                <a:latin typeface="Calibri"/>
              </a:rPr>
              <a:t>  @tool('query_hr_policy')</a:t>
            </a:r>
          </a:p>
          <a:p>
            <a:pPr algn="l" indent="-228600" marL="228600">
              <a:spcAft>
                <a:spcPts val="800"/>
              </a:spcAft>
              <a:buChar char="•"/>
            </a:pPr>
            <a:r>
              <a:rPr sz="1100" b="1">
                <a:solidFill>
                  <a:srgbClr val="FFB703"/>
                </a:solidFill>
                <a:latin typeface="Calibri"/>
              </a:rPr>
              <a:t>Schema</a:t>
            </a:r>
            <a:r>
              <a:rPr sz="1100">
                <a:solidFill>
                  <a:srgbClr val="FFFFFF"/>
                </a:solidFill>
                <a:latin typeface="Calibri"/>
              </a:rPr>
              <a:t>  From type hints — auto.</a:t>
            </a:r>
          </a:p>
          <a:p>
            <a:pPr algn="l" indent="-228600" marL="228600">
              <a:spcAft>
                <a:spcPts val="800"/>
              </a:spcAft>
              <a:buChar char="•"/>
            </a:pPr>
            <a:r>
              <a:rPr sz="1100" b="1">
                <a:solidFill>
                  <a:srgbClr val="FFB703"/>
                </a:solidFill>
                <a:latin typeface="Calibri"/>
              </a:rPr>
              <a:t>Docstring</a:t>
            </a:r>
            <a:r>
              <a:rPr sz="1100">
                <a:solidFill>
                  <a:srgbClr val="FFFFFF"/>
                </a:solidFill>
                <a:latin typeface="Calibri"/>
              </a:rPr>
              <a:t>  The LLM reads this. Write it well.</a:t>
            </a:r>
          </a:p>
          <a:p>
            <a:pPr algn="l" indent="-228600" marL="228600">
              <a:spcAft>
                <a:spcPts val="800"/>
              </a:spcAft>
              <a:buChar char="•"/>
            </a:pPr>
            <a:r>
              <a:rPr sz="1100" b="1">
                <a:solidFill>
                  <a:srgbClr val="FFB703"/>
                </a:solidFill>
                <a:latin typeface="Calibri"/>
              </a:rPr>
              <a:t>Source citations</a:t>
            </a:r>
            <a:r>
              <a:rPr sz="1100">
                <a:solidFill>
                  <a:srgbClr val="FFFFFF"/>
                </a:solidFill>
                <a:latin typeface="Calibri"/>
              </a:rPr>
              <a:t>  Every chunk prefixed — grounding.</a:t>
            </a:r>
          </a:p>
          <a:p>
            <a:pPr algn="l" indent="-228600" marL="228600">
              <a:spcAft>
                <a:spcPts val="800"/>
              </a:spcAft>
              <a:buChar char="•"/>
            </a:pPr>
            <a:r>
              <a:rPr sz="1100" b="1">
                <a:solidFill>
                  <a:srgbClr val="FFB703"/>
                </a:solidFill>
                <a:latin typeface="Calibri"/>
              </a:rPr>
              <a:t>Failure mode</a:t>
            </a:r>
            <a:r>
              <a:rPr sz="1100">
                <a:solidFill>
                  <a:srgbClr val="FFFFFF"/>
                </a:solidFill>
                <a:latin typeface="Calibri"/>
              </a:rPr>
              <a:t>  Returns string, never raises.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AGENTS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four CrewAI agents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graphicFrame>
        <p:nvGraphicFramePr>
          <p:cNvPr id="8" name="Table 7"/>
          <p:cNvGraphicFramePr>
            <a:graphicFrameLocks noGrp="1"/>
          </p:cNvGraphicFramePr>
          <p:nvPr/>
        </p:nvGraphicFramePr>
        <p:xfrm>
          <a:off x="548640" y="1417320"/>
          <a:ext cx="11064240" cy="2514600"/>
        </p:xfrm>
        <a:graphic>
          <a:graphicData uri="http://schemas.openxmlformats.org/drawingml/2006/table">
            <a:tbl>
              <a:tblPr firstRow="1" bandRow="1">
                <a:tableStyleId>{5C22544A-7EE6-4342-B048-85BDC9FD1C3A}</a:tableStyleId>
              </a:tblPr>
              <a:tblGrid>
                <a:gridCol w="2766060"/>
                <a:gridCol w="2766060"/>
                <a:gridCol w="2766060"/>
                <a:gridCol w="2766060"/>
              </a:tblGrid>
              <a:tr h="502920">
                <a:tc>
                  <a:txBody>
                    <a:bodyPr/>
                    <a:lstStyle/>
                    <a:p>
                      <a:pPr algn="l"/>
                      <a:r>
                        <a:rPr sz="1300" b="1">
                          <a:solidFill>
                            <a:srgbClr val="FFFFFF"/>
                          </a:solidFill>
                          <a:latin typeface="Calibri"/>
                        </a:rPr>
                        <a:t>Agent</a:t>
                      </a:r>
                    </a:p>
                  </a:txBody>
                  <a:tcPr>
                    <a:solidFill>
                      <a:srgbClr val="0B1B3F"/>
                    </a:solidFill>
                  </a:tcPr>
                </a:tc>
                <a:tc>
                  <a:txBody>
                    <a:bodyPr/>
                    <a:lstStyle/>
                    <a:p>
                      <a:pPr algn="l"/>
                      <a:r>
                        <a:rPr sz="1300" b="1">
                          <a:solidFill>
                            <a:srgbClr val="FFFFFF"/>
                          </a:solidFill>
                          <a:latin typeface="Calibri"/>
                        </a:rPr>
                        <a:t>Pipeline node</a:t>
                      </a:r>
                    </a:p>
                  </a:txBody>
                  <a:tcPr>
                    <a:solidFill>
                      <a:srgbClr val="0B1B3F"/>
                    </a:solidFill>
                  </a:tcPr>
                </a:tc>
                <a:tc>
                  <a:txBody>
                    <a:bodyPr/>
                    <a:lstStyle/>
                    <a:p>
                      <a:pPr algn="l"/>
                      <a:r>
                        <a:rPr sz="1300" b="1">
                          <a:solidFill>
                            <a:srgbClr val="FFFFFF"/>
                          </a:solidFill>
                          <a:latin typeface="Calibri"/>
                        </a:rPr>
                        <a:t>Tools</a:t>
                      </a:r>
                    </a:p>
                  </a:txBody>
                  <a:tcPr>
                    <a:solidFill>
                      <a:srgbClr val="0B1B3F"/>
                    </a:solidFill>
                  </a:tcPr>
                </a:tc>
                <a:tc>
                  <a:txBody>
                    <a:bodyPr/>
                    <a:lstStyle/>
                    <a:p>
                      <a:pPr algn="l"/>
                      <a:r>
                        <a:rPr sz="1300" b="1">
                          <a:solidFill>
                            <a:srgbClr val="FFFFFF"/>
                          </a:solidFill>
                          <a:latin typeface="Calibri"/>
                        </a:rPr>
                        <a:t>Job</a:t>
                      </a:r>
                    </a:p>
                  </a:txBody>
                  <a:tcPr>
                    <a:solidFill>
                      <a:srgbClr val="0B1B3F"/>
                    </a:solidFill>
                  </a:tcPr>
                </a:tc>
              </a:tr>
              <a:tr h="502920">
                <a:tc>
                  <a:txBody>
                    <a:bodyPr/>
                    <a:lstStyle/>
                    <a:p>
                      <a:pPr algn="l"/>
                      <a:r>
                        <a:rPr sz="1100" b="1">
                          <a:solidFill>
                            <a:srgbClr val="0B1B3F"/>
                          </a:solidFill>
                          <a:latin typeface="Calibri"/>
                        </a:rPr>
                        <a:t>Alex (ChatConcierge)</a:t>
                      </a:r>
                    </a:p>
                  </a:txBody>
                  <a:tcPr>
                    <a:solidFill>
                      <a:srgbClr val="F8FAFC"/>
                    </a:solidFill>
                  </a:tcPr>
                </a:tc>
                <a:tc>
                  <a:txBody>
                    <a:bodyPr/>
                    <a:lstStyle/>
                    <a:p>
                      <a:pPr algn="l"/>
                      <a:r>
                        <a:rPr sz="1100">
                          <a:solidFill>
                            <a:srgbClr val="0F172A"/>
                          </a:solidFill>
                          <a:latin typeface="Calibri"/>
                        </a:rPr>
                        <a:t>/api/chat</a:t>
                      </a:r>
                    </a:p>
                  </a:txBody>
                  <a:tcPr>
                    <a:solidFill>
                      <a:srgbClr val="F8FAFC"/>
                    </a:solidFill>
                  </a:tcPr>
                </a:tc>
                <a:tc>
                  <a:txBody>
                    <a:bodyPr/>
                    <a:lstStyle/>
                    <a:p>
                      <a:pPr algn="l"/>
                      <a:r>
                        <a:rPr sz="1100">
                          <a:solidFill>
                            <a:srgbClr val="0F172A"/>
                          </a:solidFill>
                          <a:latin typeface="Calibri"/>
                        </a:rPr>
                        <a:t>query_hr_policy</a:t>
                      </a:r>
                    </a:p>
                  </a:txBody>
                  <a:tcPr>
                    <a:solidFill>
                      <a:srgbClr val="F8FAFC"/>
                    </a:solidFill>
                  </a:tcPr>
                </a:tc>
                <a:tc>
                  <a:txBody>
                    <a:bodyPr/>
                    <a:lstStyle/>
                    <a:p>
                      <a:pPr algn="l"/>
                      <a:r>
                        <a:rPr sz="1100">
                          <a:solidFill>
                            <a:srgbClr val="0F172A"/>
                          </a:solidFill>
                          <a:latin typeface="Calibri"/>
                        </a:rPr>
                        <a:t>Interactive HR Q&amp;A grounded in ChromaDB.</a:t>
                      </a:r>
                    </a:p>
                  </a:txBody>
                  <a:tcPr>
                    <a:solidFill>
                      <a:srgbClr val="F8FAFC"/>
                    </a:solidFill>
                  </a:tcPr>
                </a:tc>
              </a:tr>
              <a:tr h="502920">
                <a:tc>
                  <a:txBody>
                    <a:bodyPr/>
                    <a:lstStyle/>
                    <a:p>
                      <a:pPr algn="l"/>
                      <a:r>
                        <a:rPr sz="1100" b="1">
                          <a:solidFill>
                            <a:srgbClr val="0B1B3F"/>
                          </a:solidFill>
                          <a:latin typeface="Calibri"/>
                        </a:rPr>
                        <a:t>PolicyExpertAgent</a:t>
                      </a:r>
                    </a:p>
                  </a:txBody>
                  <a:tcPr>
                    <a:solidFill>
                      <a:srgbClr val="EEF2F7"/>
                    </a:solidFill>
                  </a:tcPr>
                </a:tc>
                <a:tc>
                  <a:txBody>
                    <a:bodyPr/>
                    <a:lstStyle/>
                    <a:p>
                      <a:pPr algn="l"/>
                      <a:r>
                        <a:rPr sz="1100">
                          <a:solidFill>
                            <a:srgbClr val="0F172A"/>
                          </a:solidFill>
                          <a:latin typeface="Calibri"/>
                        </a:rPr>
                        <a:t>policy_expert (parallel)</a:t>
                      </a:r>
                    </a:p>
                  </a:txBody>
                  <a:tcPr>
                    <a:solidFill>
                      <a:srgbClr val="EEF2F7"/>
                    </a:solidFill>
                  </a:tcPr>
                </a:tc>
                <a:tc>
                  <a:txBody>
                    <a:bodyPr/>
                    <a:lstStyle/>
                    <a:p>
                      <a:pPr algn="l"/>
                      <a:r>
                        <a:rPr sz="1100">
                          <a:solidFill>
                            <a:srgbClr val="0F172A"/>
                          </a:solidFill>
                          <a:latin typeface="Calibri"/>
                        </a:rPr>
                        <a:t>query_hr_policy</a:t>
                      </a:r>
                    </a:p>
                  </a:txBody>
                  <a:tcPr>
                    <a:solidFill>
                      <a:srgbClr val="EEF2F7"/>
                    </a:solidFill>
                  </a:tcPr>
                </a:tc>
                <a:tc>
                  <a:txBody>
                    <a:bodyPr/>
                    <a:lstStyle/>
                    <a:p>
                      <a:pPr algn="l"/>
                      <a:r>
                        <a:rPr sz="1100">
                          <a:solidFill>
                            <a:srgbClr val="0F172A"/>
                          </a:solidFill>
                          <a:latin typeface="Calibri"/>
                        </a:rPr>
                        <a:t>Assess resume against policy; recommend level + comp band.</a:t>
                      </a:r>
                    </a:p>
                  </a:txBody>
                  <a:tcPr>
                    <a:solidFill>
                      <a:srgbClr val="EEF2F7"/>
                    </a:solidFill>
                  </a:tcPr>
                </a:tc>
              </a:tr>
              <a:tr h="502920">
                <a:tc>
                  <a:txBody>
                    <a:bodyPr/>
                    <a:lstStyle/>
                    <a:p>
                      <a:pPr algn="l"/>
                      <a:r>
                        <a:rPr sz="1100" b="1">
                          <a:solidFill>
                            <a:srgbClr val="0B1B3F"/>
                          </a:solidFill>
                          <a:latin typeface="Calibri"/>
                        </a:rPr>
                        <a:t>ResumeAnalystAgent</a:t>
                      </a:r>
                    </a:p>
                  </a:txBody>
                  <a:tcPr>
                    <a:solidFill>
                      <a:srgbClr val="F8FAFC"/>
                    </a:solidFill>
                  </a:tcPr>
                </a:tc>
                <a:tc>
                  <a:txBody>
                    <a:bodyPr/>
                    <a:lstStyle/>
                    <a:p>
                      <a:pPr algn="l"/>
                      <a:r>
                        <a:rPr sz="1100">
                          <a:solidFill>
                            <a:srgbClr val="0F172A"/>
                          </a:solidFill>
                          <a:latin typeface="Calibri"/>
                        </a:rPr>
                        <a:t>resume_analyst (parallel)</a:t>
                      </a:r>
                    </a:p>
                  </a:txBody>
                  <a:tcPr>
                    <a:solidFill>
                      <a:srgbClr val="F8FAFC"/>
                    </a:solidFill>
                  </a:tcPr>
                </a:tc>
                <a:tc>
                  <a:txBody>
                    <a:bodyPr/>
                    <a:lstStyle/>
                    <a:p>
                      <a:pPr algn="l"/>
                      <a:r>
                        <a:rPr sz="1100">
                          <a:solidFill>
                            <a:srgbClr val="0F172A"/>
                          </a:solidFill>
                          <a:latin typeface="Calibri"/>
                        </a:rPr>
                        <a:t>brave_web_search</a:t>
                      </a:r>
                    </a:p>
                  </a:txBody>
                  <a:tcPr>
                    <a:solidFill>
                      <a:srgbClr val="F8FAFC"/>
                    </a:solidFill>
                  </a:tcPr>
                </a:tc>
                <a:tc>
                  <a:txBody>
                    <a:bodyPr/>
                    <a:lstStyle/>
                    <a:p>
                      <a:pPr algn="l"/>
                      <a:r>
                        <a:rPr sz="1100">
                          <a:solidFill>
                            <a:srgbClr val="0F172A"/>
                          </a:solidFill>
                          <a:latin typeface="Calibri"/>
                        </a:rPr>
                        <a:t>Score skills + experience; verify creds via web.</a:t>
                      </a:r>
                    </a:p>
                  </a:txBody>
                  <a:tcPr>
                    <a:solidFill>
                      <a:srgbClr val="F8FAFC"/>
                    </a:solidFill>
                  </a:tcPr>
                </a:tc>
              </a:tr>
              <a:tr h="502920">
                <a:tc>
                  <a:txBody>
                    <a:bodyPr/>
                    <a:lstStyle/>
                    <a:p>
                      <a:pPr algn="l"/>
                      <a:r>
                        <a:rPr sz="1100" b="1">
                          <a:solidFill>
                            <a:srgbClr val="0B1B3F"/>
                          </a:solidFill>
                          <a:latin typeface="Calibri"/>
                        </a:rPr>
                        <a:t>DecisionMakerAgent</a:t>
                      </a:r>
                    </a:p>
                  </a:txBody>
                  <a:tcPr>
                    <a:solidFill>
                      <a:srgbClr val="EEF2F7"/>
                    </a:solidFill>
                  </a:tcPr>
                </a:tc>
                <a:tc>
                  <a:txBody>
                    <a:bodyPr/>
                    <a:lstStyle/>
                    <a:p>
                      <a:pPr algn="l"/>
                      <a:r>
                        <a:rPr sz="1100">
                          <a:solidFill>
                            <a:srgbClr val="0F172A"/>
                          </a:solidFill>
                          <a:latin typeface="Calibri"/>
                        </a:rPr>
                        <a:t>decision_maker (fan-in)</a:t>
                      </a:r>
                    </a:p>
                  </a:txBody>
                  <a:tcPr>
                    <a:solidFill>
                      <a:srgbClr val="EEF2F7"/>
                    </a:solidFill>
                  </a:tcPr>
                </a:tc>
                <a:tc>
                  <a:txBody>
                    <a:bodyPr/>
                    <a:lstStyle/>
                    <a:p>
                      <a:pPr algn="l"/>
                      <a:r>
                        <a:rPr sz="1100">
                          <a:solidFill>
                            <a:srgbClr val="0F172A"/>
                          </a:solidFill>
                          <a:latin typeface="Calibri"/>
                        </a:rPr>
                        <a:t>none — pure reasoning</a:t>
                      </a:r>
                    </a:p>
                  </a:txBody>
                  <a:tcPr>
                    <a:solidFill>
                      <a:srgbClr val="EEF2F7"/>
                    </a:solidFill>
                  </a:tcPr>
                </a:tc>
                <a:tc>
                  <a:txBody>
                    <a:bodyPr/>
                    <a:lstStyle/>
                    <a:p>
                      <a:pPr algn="l"/>
                      <a:r>
                        <a:rPr sz="1100">
                          <a:solidFill>
                            <a:srgbClr val="0F172A"/>
                          </a:solidFill>
                          <a:latin typeface="Calibri"/>
                        </a:rPr>
                        <a:t>Render the final disposition with next steps.</a:t>
                      </a:r>
                    </a:p>
                  </a:txBody>
                  <a:tcPr>
                    <a:solidFill>
                      <a:srgbClr val="EEF2F7"/>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KEY CONCEPT</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parallel pipeline — fan-out &amp; fan-in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2743200"/>
            <a:ext cx="1828800" cy="9144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834640"/>
            <a:ext cx="1828800" cy="411480"/>
          </a:xfrm>
          <a:prstGeom prst="rect">
            <a:avLst/>
          </a:prstGeom>
          <a:noFill/>
        </p:spPr>
        <p:txBody>
          <a:bodyPr wrap="square" lIns="0" rIns="0" tIns="0" bIns="0" anchor="ctr">
            <a:spAutoFit/>
          </a:bodyPr>
          <a:lstStyle/>
          <a:p>
            <a:pPr algn="ctr"/>
            <a:r>
              <a:rPr sz="1600" b="1" i="0">
                <a:solidFill>
                  <a:srgbClr val="FFFFFF"/>
                </a:solidFill>
                <a:latin typeface="Calibri"/>
              </a:rPr>
              <a:t>intake</a:t>
            </a:r>
          </a:p>
        </p:txBody>
      </p:sp>
      <p:sp>
        <p:nvSpPr>
          <p:cNvPr id="10" name="TextBox 9"/>
          <p:cNvSpPr txBox="1"/>
          <p:nvPr/>
        </p:nvSpPr>
        <p:spPr>
          <a:xfrm>
            <a:off x="548640" y="3246120"/>
            <a:ext cx="1828800" cy="365760"/>
          </a:xfrm>
          <a:prstGeom prst="rect">
            <a:avLst/>
          </a:prstGeom>
          <a:noFill/>
        </p:spPr>
        <p:txBody>
          <a:bodyPr wrap="square" lIns="0" rIns="0" tIns="0" bIns="0" anchor="ctr">
            <a:spAutoFit/>
          </a:bodyPr>
          <a:lstStyle/>
          <a:p>
            <a:pPr algn="ctr"/>
            <a:r>
              <a:rPr sz="1100" b="0" i="1">
                <a:solidFill>
                  <a:srgbClr val="FFFFFF"/>
                </a:solidFill>
                <a:latin typeface="Calibri"/>
              </a:rPr>
              <a:t>validate</a:t>
            </a:r>
          </a:p>
        </p:txBody>
      </p:sp>
      <p:sp>
        <p:nvSpPr>
          <p:cNvPr id="11" name="Right Arrow 10"/>
          <p:cNvSpPr/>
          <p:nvPr/>
        </p:nvSpPr>
        <p:spPr>
          <a:xfrm>
            <a:off x="2468880" y="2971800"/>
            <a:ext cx="731520" cy="41148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417320"/>
            <a:ext cx="5669280" cy="365760"/>
          </a:xfrm>
          <a:prstGeom prst="rect">
            <a:avLst/>
          </a:prstGeom>
          <a:noFill/>
        </p:spPr>
        <p:txBody>
          <a:bodyPr wrap="square" lIns="0" rIns="0" tIns="0" bIns="0" anchor="t">
            <a:spAutoFit/>
          </a:bodyPr>
          <a:lstStyle/>
          <a:p>
            <a:pPr algn="ctr"/>
            <a:r>
              <a:rPr sz="1400" b="1" i="0">
                <a:solidFill>
                  <a:srgbClr val="FFB703"/>
                </a:solidFill>
                <a:latin typeface="Calibri"/>
              </a:rPr>
              <a:t>PARALLEL FAN-OUT  →  FAN-IN</a:t>
            </a:r>
          </a:p>
        </p:txBody>
      </p:sp>
      <p:sp>
        <p:nvSpPr>
          <p:cNvPr id="13" name="Rectangle 12"/>
          <p:cNvSpPr/>
          <p:nvPr/>
        </p:nvSpPr>
        <p:spPr>
          <a:xfrm>
            <a:off x="3291840" y="1874519"/>
            <a:ext cx="5669280" cy="91440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1965959"/>
            <a:ext cx="5669280" cy="411480"/>
          </a:xfrm>
          <a:prstGeom prst="rect">
            <a:avLst/>
          </a:prstGeom>
          <a:noFill/>
        </p:spPr>
        <p:txBody>
          <a:bodyPr wrap="square" lIns="0" rIns="0" tIns="0" bIns="0" anchor="ctr">
            <a:spAutoFit/>
          </a:bodyPr>
          <a:lstStyle/>
          <a:p>
            <a:pPr algn="ctr"/>
            <a:r>
              <a:rPr sz="1600" b="1" i="0">
                <a:solidFill>
                  <a:srgbClr val="FFFFFF"/>
                </a:solidFill>
                <a:latin typeface="Calibri"/>
              </a:rPr>
              <a:t>policy_expert</a:t>
            </a:r>
          </a:p>
        </p:txBody>
      </p:sp>
      <p:sp>
        <p:nvSpPr>
          <p:cNvPr id="15" name="TextBox 14"/>
          <p:cNvSpPr txBox="1"/>
          <p:nvPr/>
        </p:nvSpPr>
        <p:spPr>
          <a:xfrm>
            <a:off x="3291840" y="2377439"/>
            <a:ext cx="5669280" cy="365760"/>
          </a:xfrm>
          <a:prstGeom prst="rect">
            <a:avLst/>
          </a:prstGeom>
          <a:noFill/>
        </p:spPr>
        <p:txBody>
          <a:bodyPr wrap="square" lIns="0" rIns="0" tIns="0" bIns="0" anchor="ctr">
            <a:spAutoFit/>
          </a:bodyPr>
          <a:lstStyle/>
          <a:p>
            <a:pPr algn="ctr"/>
            <a:r>
              <a:rPr sz="1100" b="0" i="1">
                <a:solidFill>
                  <a:srgbClr val="FFFFFF"/>
                </a:solidFill>
                <a:latin typeface="Calibri"/>
              </a:rPr>
              <a:t>ChromaDB · query_hr_policy</a:t>
            </a:r>
          </a:p>
        </p:txBody>
      </p:sp>
      <p:sp>
        <p:nvSpPr>
          <p:cNvPr id="16" name="Rectangle 15"/>
          <p:cNvSpPr/>
          <p:nvPr/>
        </p:nvSpPr>
        <p:spPr>
          <a:xfrm>
            <a:off x="3291840" y="3611880"/>
            <a:ext cx="5669280" cy="91440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3703320"/>
            <a:ext cx="5669280" cy="411480"/>
          </a:xfrm>
          <a:prstGeom prst="rect">
            <a:avLst/>
          </a:prstGeom>
          <a:noFill/>
        </p:spPr>
        <p:txBody>
          <a:bodyPr wrap="square" lIns="0" rIns="0" tIns="0" bIns="0" anchor="ctr">
            <a:spAutoFit/>
          </a:bodyPr>
          <a:lstStyle/>
          <a:p>
            <a:pPr algn="ctr"/>
            <a:r>
              <a:rPr sz="1600" b="1" i="0">
                <a:solidFill>
                  <a:srgbClr val="FFFFFF"/>
                </a:solidFill>
                <a:latin typeface="Calibri"/>
              </a:rPr>
              <a:t>resume_analyst</a:t>
            </a:r>
          </a:p>
        </p:txBody>
      </p:sp>
      <p:sp>
        <p:nvSpPr>
          <p:cNvPr id="18" name="TextBox 17"/>
          <p:cNvSpPr txBox="1"/>
          <p:nvPr/>
        </p:nvSpPr>
        <p:spPr>
          <a:xfrm>
            <a:off x="3291840" y="4114800"/>
            <a:ext cx="5669280" cy="365760"/>
          </a:xfrm>
          <a:prstGeom prst="rect">
            <a:avLst/>
          </a:prstGeom>
          <a:noFill/>
        </p:spPr>
        <p:txBody>
          <a:bodyPr wrap="square" lIns="0" rIns="0" tIns="0" bIns="0" anchor="ctr">
            <a:spAutoFit/>
          </a:bodyPr>
          <a:lstStyle/>
          <a:p>
            <a:pPr algn="ctr"/>
            <a:r>
              <a:rPr sz="1100" b="0" i="1">
                <a:solidFill>
                  <a:srgbClr val="FFFFFF"/>
                </a:solidFill>
                <a:latin typeface="Calibri"/>
              </a:rPr>
              <a:t>Brave Search · brave_web_search</a:t>
            </a:r>
          </a:p>
        </p:txBody>
      </p:sp>
      <p:sp>
        <p:nvSpPr>
          <p:cNvPr id="19" name="Rectangle 18"/>
          <p:cNvSpPr/>
          <p:nvPr/>
        </p:nvSpPr>
        <p:spPr>
          <a:xfrm>
            <a:off x="3200400" y="2240280"/>
            <a:ext cx="91440" cy="219456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9006840" y="2103120"/>
            <a:ext cx="548640" cy="41148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9006840" y="3840480"/>
            <a:ext cx="548640" cy="41148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46920" y="2743200"/>
            <a:ext cx="2011680" cy="9144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6920" y="2834640"/>
            <a:ext cx="2011680" cy="411480"/>
          </a:xfrm>
          <a:prstGeom prst="rect">
            <a:avLst/>
          </a:prstGeom>
          <a:noFill/>
        </p:spPr>
        <p:txBody>
          <a:bodyPr wrap="square" lIns="0" rIns="0" tIns="0" bIns="0" anchor="ctr">
            <a:spAutoFit/>
          </a:bodyPr>
          <a:lstStyle/>
          <a:p>
            <a:pPr algn="ctr"/>
            <a:r>
              <a:rPr sz="1600" b="1" i="0">
                <a:solidFill>
                  <a:srgbClr val="FFFFFF"/>
                </a:solidFill>
                <a:latin typeface="Calibri"/>
              </a:rPr>
              <a:t>decision_maker</a:t>
            </a:r>
          </a:p>
        </p:txBody>
      </p:sp>
      <p:sp>
        <p:nvSpPr>
          <p:cNvPr id="24" name="TextBox 23"/>
          <p:cNvSpPr txBox="1"/>
          <p:nvPr/>
        </p:nvSpPr>
        <p:spPr>
          <a:xfrm>
            <a:off x="9646920" y="3246120"/>
            <a:ext cx="2011680" cy="365760"/>
          </a:xfrm>
          <a:prstGeom prst="rect">
            <a:avLst/>
          </a:prstGeom>
          <a:noFill/>
        </p:spPr>
        <p:txBody>
          <a:bodyPr wrap="square" lIns="0" rIns="0" tIns="0" bIns="0" anchor="ctr">
            <a:spAutoFit/>
          </a:bodyPr>
          <a:lstStyle/>
          <a:p>
            <a:pPr algn="ctr"/>
            <a:r>
              <a:rPr sz="1100" b="0" i="1">
                <a:solidFill>
                  <a:srgbClr val="FFFFFF"/>
                </a:solidFill>
                <a:latin typeface="Calibri"/>
              </a:rPr>
              <a:t>pure reasoning</a:t>
            </a:r>
          </a:p>
        </p:txBody>
      </p:sp>
      <p:sp>
        <p:nvSpPr>
          <p:cNvPr id="25" name="Rectangle 24"/>
          <p:cNvSpPr/>
          <p:nvPr/>
        </p:nvSpPr>
        <p:spPr>
          <a:xfrm>
            <a:off x="5029200" y="5120640"/>
            <a:ext cx="2194560" cy="9144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0" y="5212080"/>
            <a:ext cx="2194560" cy="411480"/>
          </a:xfrm>
          <a:prstGeom prst="rect">
            <a:avLst/>
          </a:prstGeom>
          <a:noFill/>
        </p:spPr>
        <p:txBody>
          <a:bodyPr wrap="square" lIns="0" rIns="0" tIns="0" bIns="0" anchor="ctr">
            <a:spAutoFit/>
          </a:bodyPr>
          <a:lstStyle/>
          <a:p>
            <a:pPr algn="ctr"/>
            <a:r>
              <a:rPr sz="1600" b="1" i="0">
                <a:solidFill>
                  <a:srgbClr val="FFFFFF"/>
                </a:solidFill>
                <a:latin typeface="Calibri"/>
              </a:rPr>
              <a:t>notify</a:t>
            </a:r>
          </a:p>
        </p:txBody>
      </p:sp>
      <p:sp>
        <p:nvSpPr>
          <p:cNvPr id="27" name="TextBox 26"/>
          <p:cNvSpPr txBox="1"/>
          <p:nvPr/>
        </p:nvSpPr>
        <p:spPr>
          <a:xfrm>
            <a:off x="5029200" y="5623560"/>
            <a:ext cx="2194560" cy="365760"/>
          </a:xfrm>
          <a:prstGeom prst="rect">
            <a:avLst/>
          </a:prstGeom>
          <a:noFill/>
        </p:spPr>
        <p:txBody>
          <a:bodyPr wrap="square" lIns="0" rIns="0" tIns="0" bIns="0" anchor="ctr">
            <a:spAutoFit/>
          </a:bodyPr>
          <a:lstStyle/>
          <a:p>
            <a:pPr algn="ctr"/>
            <a:r>
              <a:rPr sz="1100" b="0" i="1">
                <a:solidFill>
                  <a:srgbClr val="FFFFFF"/>
                </a:solidFill>
                <a:latin typeface="Calibri"/>
              </a:rPr>
              <a:t>EvaluationResult → SQLite</a:t>
            </a:r>
          </a:p>
        </p:txBody>
      </p:sp>
      <p:sp>
        <p:nvSpPr>
          <p:cNvPr id="28" name="TextBox 27"/>
          <p:cNvSpPr txBox="1"/>
          <p:nvPr/>
        </p:nvSpPr>
        <p:spPr>
          <a:xfrm>
            <a:off x="640080" y="6126480"/>
            <a:ext cx="10972800" cy="365760"/>
          </a:xfrm>
          <a:prstGeom prst="rect">
            <a:avLst/>
          </a:prstGeom>
          <a:noFill/>
        </p:spPr>
        <p:txBody>
          <a:bodyPr wrap="square" lIns="0" rIns="0" tIns="0" bIns="0" anchor="t">
            <a:spAutoFit/>
          </a:bodyPr>
          <a:lstStyle/>
          <a:p>
            <a:pPr algn="ctr"/>
            <a:r>
              <a:rPr sz="1200" b="0" i="1">
                <a:solidFill>
                  <a:srgbClr val="475569"/>
                </a:solidFill>
                <a:latin typeface="Calibri"/>
              </a:rPr>
              <a:t>LangGraph owns routing &amp; state · CrewAI owns the persona inside each node · one Crew.kickoff() per node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How fan-out / fan-in is wired in LangGraph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src/contoso_hr/pipeline/graph.py — the actual graph builder. Two add_edge() from intake = fan-out.</a:t>
            </a:r>
          </a:p>
        </p:txBody>
      </p:sp>
      <p:sp>
        <p:nvSpPr>
          <p:cNvPr id="9" name="Rectangle 8"/>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38528"/>
            <a:ext cx="10698480" cy="3986784"/>
          </a:xfrm>
          <a:prstGeom prst="rect">
            <a:avLst/>
          </a:prstGeom>
          <a:noFill/>
        </p:spPr>
        <p:txBody>
          <a:bodyPr wrap="square" lIns="0" rIns="0" tIns="0" bIns="0">
            <a:spAutoFit/>
          </a:bodyPr>
          <a:lstStyle/>
          <a:p>
            <a:pPr>
              <a:spcAft>
                <a:spcPts val="0"/>
              </a:spcAft>
            </a:pPr>
            <a:r>
              <a:rPr sz="1200">
                <a:solidFill>
                  <a:srgbClr val="FFFFFF"/>
                </a:solidFill>
                <a:latin typeface="Consolas"/>
              </a:rPr>
              <a:t>def create_hr_graph(data_dir: Path):</a:t>
            </a:r>
          </a:p>
          <a:p>
            <a:pPr>
              <a:spcAft>
                <a:spcPts val="0"/>
              </a:spcAft>
            </a:pPr>
            <a:r>
              <a:rPr sz="1200">
                <a:solidFill>
                  <a:srgbClr val="FFFFFF"/>
                </a:solidFill>
                <a:latin typeface="Consolas"/>
              </a:rPr>
              <a:t>    conn = sqlite3.connect(str(data_dir / "checkpoints.db"))</a:t>
            </a:r>
          </a:p>
          <a:p>
            <a:pPr>
              <a:spcAft>
                <a:spcPts val="0"/>
              </a:spcAft>
            </a:pPr>
            <a:r>
              <a:rPr sz="1200">
                <a:solidFill>
                  <a:srgbClr val="FFFFFF"/>
                </a:solidFill>
                <a:latin typeface="Consolas"/>
              </a:rPr>
              <a:t>    checkpointer = SqliteSaver(conn)</a:t>
            </a:r>
          </a:p>
          <a:p>
            <a:pPr>
              <a:spcAft>
                <a:spcPts val="0"/>
              </a:spcAft>
            </a:pPr>
            <a:r>
              <a:rPr sz="1200">
                <a:solidFill>
                  <a:srgbClr val="FFFFFF"/>
                </a:solidFill>
                <a:latin typeface="Consolas"/>
              </a:rPr>
              <a:t> </a:t>
            </a:r>
          </a:p>
          <a:p>
            <a:pPr>
              <a:spcAft>
                <a:spcPts val="0"/>
              </a:spcAft>
            </a:pPr>
            <a:r>
              <a:rPr sz="1200">
                <a:solidFill>
                  <a:srgbClr val="FFFFFF"/>
                </a:solidFill>
                <a:latin typeface="Consolas"/>
              </a:rPr>
              <a:t>    builder = StateGraph(HRState)</a:t>
            </a:r>
          </a:p>
          <a:p>
            <a:pPr>
              <a:spcAft>
                <a:spcPts val="0"/>
              </a:spcAft>
            </a:pPr>
            <a:r>
              <a:rPr sz="1200">
                <a:solidFill>
                  <a:srgbClr val="FFFFFF"/>
                </a:solidFill>
                <a:latin typeface="Consolas"/>
              </a:rPr>
              <a:t>    builder.add_node("intake", intake_node)</a:t>
            </a:r>
          </a:p>
          <a:p>
            <a:pPr>
              <a:spcAft>
                <a:spcPts val="0"/>
              </a:spcAft>
            </a:pPr>
            <a:r>
              <a:rPr sz="1200">
                <a:solidFill>
                  <a:srgbClr val="FFFFFF"/>
                </a:solidFill>
                <a:latin typeface="Consolas"/>
              </a:rPr>
              <a:t>    builder.add_node("policy_expert", policy_expert_crew_node)</a:t>
            </a:r>
          </a:p>
          <a:p>
            <a:pPr>
              <a:spcAft>
                <a:spcPts val="0"/>
              </a:spcAft>
            </a:pPr>
            <a:r>
              <a:rPr sz="1200">
                <a:solidFill>
                  <a:srgbClr val="FFFFFF"/>
                </a:solidFill>
                <a:latin typeface="Consolas"/>
              </a:rPr>
              <a:t>    builder.add_node("resume_analyst", resume_analyst_crew_node)</a:t>
            </a:r>
          </a:p>
          <a:p>
            <a:pPr>
              <a:spcAft>
                <a:spcPts val="0"/>
              </a:spcAft>
            </a:pPr>
            <a:r>
              <a:rPr sz="1200">
                <a:solidFill>
                  <a:srgbClr val="FFFFFF"/>
                </a:solidFill>
                <a:latin typeface="Consolas"/>
              </a:rPr>
              <a:t>    builder.add_node("decision_maker", decision_maker_crew_node)</a:t>
            </a:r>
          </a:p>
          <a:p>
            <a:pPr>
              <a:spcAft>
                <a:spcPts val="0"/>
              </a:spcAft>
            </a:pPr>
            <a:r>
              <a:rPr sz="1200">
                <a:solidFill>
                  <a:srgbClr val="FFFFFF"/>
                </a:solidFill>
                <a:latin typeface="Consolas"/>
              </a:rPr>
              <a:t>    builder.add_node("notify", notify_node)</a:t>
            </a:r>
          </a:p>
          <a:p>
            <a:pPr>
              <a:spcAft>
                <a:spcPts val="0"/>
              </a:spcAft>
            </a:pPr>
            <a:r>
              <a:rPr sz="1200">
                <a:solidFill>
                  <a:srgbClr val="FFFFFF"/>
                </a:solidFill>
                <a:latin typeface="Consolas"/>
              </a:rPr>
              <a:t> </a:t>
            </a:r>
          </a:p>
          <a:p>
            <a:pPr>
              <a:spcAft>
                <a:spcPts val="0"/>
              </a:spcAft>
            </a:pPr>
            <a:r>
              <a:rPr sz="1200">
                <a:solidFill>
                  <a:srgbClr val="FFFFFF"/>
                </a:solidFill>
                <a:latin typeface="Consolas"/>
              </a:rPr>
              <a:t>    # Fan-out: intake spawns both specialist agents concurrently</a:t>
            </a:r>
          </a:p>
          <a:p>
            <a:pPr>
              <a:spcAft>
                <a:spcPts val="0"/>
              </a:spcAft>
            </a:pPr>
            <a:r>
              <a:rPr sz="1200">
                <a:solidFill>
                  <a:srgbClr val="FFFFFF"/>
                </a:solidFill>
                <a:latin typeface="Consolas"/>
              </a:rPr>
              <a:t>    builder.set_entry_point("intake")</a:t>
            </a:r>
          </a:p>
          <a:p>
            <a:pPr>
              <a:spcAft>
                <a:spcPts val="0"/>
              </a:spcAft>
            </a:pPr>
            <a:r>
              <a:rPr sz="1200">
                <a:solidFill>
                  <a:srgbClr val="FFFFFF"/>
                </a:solidFill>
                <a:latin typeface="Consolas"/>
              </a:rPr>
              <a:t>    builder.add_edge("intake", "policy_expert")</a:t>
            </a:r>
          </a:p>
          <a:p>
            <a:pPr>
              <a:spcAft>
                <a:spcPts val="0"/>
              </a:spcAft>
            </a:pPr>
            <a:r>
              <a:rPr sz="1200">
                <a:solidFill>
                  <a:srgbClr val="FFFFFF"/>
                </a:solidFill>
                <a:latin typeface="Consolas"/>
              </a:rPr>
              <a:t>    builder.add_edge("intake", "resume_analyst")</a:t>
            </a:r>
          </a:p>
          <a:p>
            <a:pPr>
              <a:spcAft>
                <a:spcPts val="0"/>
              </a:spcAft>
            </a:pPr>
            <a:r>
              <a:rPr sz="1200">
                <a:solidFill>
                  <a:srgbClr val="FFFFFF"/>
                </a:solidFill>
                <a:latin typeface="Consolas"/>
              </a:rPr>
              <a:t> </a:t>
            </a:r>
          </a:p>
          <a:p>
            <a:pPr>
              <a:spcAft>
                <a:spcPts val="0"/>
              </a:spcAft>
            </a:pPr>
            <a:r>
              <a:rPr sz="1200">
                <a:solidFill>
                  <a:srgbClr val="FFFFFF"/>
                </a:solidFill>
                <a:latin typeface="Consolas"/>
              </a:rPr>
              <a:t>    # Fan-in: decision_maker waits for BOTH branches to complete</a:t>
            </a:r>
          </a:p>
          <a:p>
            <a:pPr>
              <a:spcAft>
                <a:spcPts val="0"/>
              </a:spcAft>
            </a:pPr>
            <a:r>
              <a:rPr sz="1200">
                <a:solidFill>
                  <a:srgbClr val="FFFFFF"/>
                </a:solidFill>
                <a:latin typeface="Consolas"/>
              </a:rPr>
              <a:t>    builder.add_edge("policy_expert", "decision_maker")</a:t>
            </a:r>
          </a:p>
          <a:p>
            <a:pPr>
              <a:spcAft>
                <a:spcPts val="0"/>
              </a:spcAft>
            </a:pPr>
            <a:r>
              <a:rPr sz="1200">
                <a:solidFill>
                  <a:srgbClr val="FFFFFF"/>
                </a:solidFill>
                <a:latin typeface="Consolas"/>
              </a:rPr>
              <a:t>    builder.add_edge("resume_analyst", "decision_maker")</a:t>
            </a:r>
          </a:p>
          <a:p>
            <a:pPr>
              <a:spcAft>
                <a:spcPts val="0"/>
              </a:spcAft>
            </a:pPr>
            <a:r>
              <a:rPr sz="1200">
                <a:solidFill>
                  <a:srgbClr val="FFFFFF"/>
                </a:solidFill>
                <a:latin typeface="Consolas"/>
              </a:rPr>
              <a:t> </a:t>
            </a:r>
          </a:p>
          <a:p>
            <a:pPr>
              <a:spcAft>
                <a:spcPts val="0"/>
              </a:spcAft>
            </a:pPr>
            <a:r>
              <a:rPr sz="1200">
                <a:solidFill>
                  <a:srgbClr val="FFFFFF"/>
                </a:solidFill>
                <a:latin typeface="Consolas"/>
              </a:rPr>
              <a:t>    builder.add_edge("decision_maker", "notify")</a:t>
            </a:r>
          </a:p>
          <a:p>
            <a:pPr>
              <a:spcAft>
                <a:spcPts val="0"/>
              </a:spcAft>
            </a:pPr>
            <a:r>
              <a:rPr sz="1200">
                <a:solidFill>
                  <a:srgbClr val="FFFFFF"/>
                </a:solidFill>
                <a:latin typeface="Consolas"/>
              </a:rPr>
              <a:t>    builder.add_edge("notify", END)</a:t>
            </a:r>
          </a:p>
          <a:p>
            <a:pPr>
              <a:spcAft>
                <a:spcPts val="0"/>
              </a:spcAft>
            </a:pPr>
            <a:r>
              <a:rPr sz="1200">
                <a:solidFill>
                  <a:srgbClr val="FFFFFF"/>
                </a:solidFill>
                <a:latin typeface="Consolas"/>
              </a:rPr>
              <a:t> </a:t>
            </a:r>
          </a:p>
          <a:p>
            <a:pPr>
              <a:spcAft>
                <a:spcPts val="0"/>
              </a:spcAft>
            </a:pPr>
            <a:r>
              <a:rPr sz="1200">
                <a:solidFill>
                  <a:srgbClr val="FFFFFF"/>
                </a:solidFill>
                <a:latin typeface="Consolas"/>
              </a:rPr>
              <a:t>    return builder.compile(checkpointer=checkpointer)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TIMING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Pipeline sequence — what runs when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280160"/>
            <a:ext cx="10972800" cy="411480"/>
          </a:xfrm>
          <a:prstGeom prst="rect">
            <a:avLst/>
          </a:prstGeom>
          <a:noFill/>
        </p:spPr>
        <p:txBody>
          <a:bodyPr wrap="square" lIns="0" rIns="0" tIns="0" bIns="0" anchor="t">
            <a:spAutoFit/>
          </a:bodyPr>
          <a:lstStyle/>
          <a:p>
            <a:pPr algn="l"/>
            <a:r>
              <a:rPr sz="1300" b="0" i="1">
                <a:solidFill>
                  <a:srgbClr val="475569"/>
                </a:solidFill>
                <a:latin typeface="Calibri"/>
              </a:rPr>
              <a:t>Each row is a node. Bars show start→end. Watch the overlap on the parallel lanes (4–18s).</a:t>
            </a:r>
          </a:p>
        </p:txBody>
      </p:sp>
      <p:sp>
        <p:nvSpPr>
          <p:cNvPr id="9" name="Rectangle 8"/>
          <p:cNvSpPr/>
          <p:nvPr/>
        </p:nvSpPr>
        <p:spPr>
          <a:xfrm>
            <a:off x="548640" y="5852160"/>
            <a:ext cx="11064240" cy="36576"/>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59"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0s</a:t>
            </a:r>
          </a:p>
        </p:txBody>
      </p:sp>
      <p:sp>
        <p:nvSpPr>
          <p:cNvPr id="11" name="Rectangle 10"/>
          <p:cNvSpPr/>
          <p:nvPr/>
        </p:nvSpPr>
        <p:spPr>
          <a:xfrm>
            <a:off x="54864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3s</a:t>
            </a:r>
          </a:p>
        </p:txBody>
      </p:sp>
      <p:sp>
        <p:nvSpPr>
          <p:cNvPr id="13" name="Rectangle 12"/>
          <p:cNvSpPr/>
          <p:nvPr/>
        </p:nvSpPr>
        <p:spPr>
          <a:xfrm>
            <a:off x="246888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8s</a:t>
            </a:r>
          </a:p>
        </p:txBody>
      </p:sp>
      <p:sp>
        <p:nvSpPr>
          <p:cNvPr id="15" name="Rectangle 14"/>
          <p:cNvSpPr/>
          <p:nvPr/>
        </p:nvSpPr>
        <p:spPr>
          <a:xfrm>
            <a:off x="457200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18s</a:t>
            </a:r>
          </a:p>
        </p:txBody>
      </p:sp>
      <p:sp>
        <p:nvSpPr>
          <p:cNvPr id="17" name="Rectangle 16"/>
          <p:cNvSpPr/>
          <p:nvPr/>
        </p:nvSpPr>
        <p:spPr>
          <a:xfrm>
            <a:off x="731520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0"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21s</a:t>
            </a:r>
          </a:p>
        </p:txBody>
      </p:sp>
      <p:sp>
        <p:nvSpPr>
          <p:cNvPr id="19" name="Rectangle 18"/>
          <p:cNvSpPr/>
          <p:nvPr/>
        </p:nvSpPr>
        <p:spPr>
          <a:xfrm>
            <a:off x="960120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55680"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23s</a:t>
            </a:r>
          </a:p>
        </p:txBody>
      </p:sp>
      <p:sp>
        <p:nvSpPr>
          <p:cNvPr id="21" name="Rectangle 20"/>
          <p:cNvSpPr/>
          <p:nvPr/>
        </p:nvSpPr>
        <p:spPr>
          <a:xfrm>
            <a:off x="1133856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1874519"/>
            <a:ext cx="1463040" cy="457200"/>
          </a:xfrm>
          <a:prstGeom prst="rect">
            <a:avLst/>
          </a:prstGeom>
          <a:noFill/>
        </p:spPr>
        <p:txBody>
          <a:bodyPr wrap="square" lIns="0" rIns="0" tIns="0" bIns="0" anchor="ctr">
            <a:spAutoFit/>
          </a:bodyPr>
          <a:lstStyle/>
          <a:p>
            <a:pPr algn="l"/>
            <a:r>
              <a:rPr sz="1200" b="1" i="0">
                <a:solidFill>
                  <a:srgbClr val="0B1B3F"/>
                </a:solidFill>
                <a:latin typeface="Consolas"/>
              </a:rPr>
              <a:t>watcher</a:t>
            </a:r>
          </a:p>
        </p:txBody>
      </p:sp>
      <p:sp>
        <p:nvSpPr>
          <p:cNvPr id="23" name="Rectangle 22"/>
          <p:cNvSpPr/>
          <p:nvPr/>
        </p:nvSpPr>
        <p:spPr>
          <a:xfrm>
            <a:off x="2103120" y="205740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423160"/>
            <a:ext cx="1463040" cy="457200"/>
          </a:xfrm>
          <a:prstGeom prst="rect">
            <a:avLst/>
          </a:prstGeom>
          <a:noFill/>
        </p:spPr>
        <p:txBody>
          <a:bodyPr wrap="square" lIns="0" rIns="0" tIns="0" bIns="0" anchor="ctr">
            <a:spAutoFit/>
          </a:bodyPr>
          <a:lstStyle/>
          <a:p>
            <a:pPr algn="l"/>
            <a:r>
              <a:rPr sz="1200" b="1" i="0">
                <a:solidFill>
                  <a:srgbClr val="0B1B3F"/>
                </a:solidFill>
                <a:latin typeface="Consolas"/>
              </a:rPr>
              <a:t>intake</a:t>
            </a:r>
          </a:p>
        </p:txBody>
      </p:sp>
      <p:sp>
        <p:nvSpPr>
          <p:cNvPr id="25" name="Rectangle 24"/>
          <p:cNvSpPr/>
          <p:nvPr/>
        </p:nvSpPr>
        <p:spPr>
          <a:xfrm>
            <a:off x="2103120" y="260604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2971800"/>
            <a:ext cx="1463040" cy="457200"/>
          </a:xfrm>
          <a:prstGeom prst="rect">
            <a:avLst/>
          </a:prstGeom>
          <a:noFill/>
        </p:spPr>
        <p:txBody>
          <a:bodyPr wrap="square" lIns="0" rIns="0" tIns="0" bIns="0" anchor="ctr">
            <a:spAutoFit/>
          </a:bodyPr>
          <a:lstStyle/>
          <a:p>
            <a:pPr algn="l"/>
            <a:r>
              <a:rPr sz="1200" b="1" i="0">
                <a:solidFill>
                  <a:srgbClr val="0B1B3F"/>
                </a:solidFill>
                <a:latin typeface="Consolas"/>
              </a:rPr>
              <a:t>policy_expert</a:t>
            </a:r>
          </a:p>
        </p:txBody>
      </p:sp>
      <p:sp>
        <p:nvSpPr>
          <p:cNvPr id="27" name="Rectangle 26"/>
          <p:cNvSpPr/>
          <p:nvPr/>
        </p:nvSpPr>
        <p:spPr>
          <a:xfrm>
            <a:off x="2103120" y="315468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069080"/>
            <a:ext cx="1463040" cy="457200"/>
          </a:xfrm>
          <a:prstGeom prst="rect">
            <a:avLst/>
          </a:prstGeom>
          <a:noFill/>
        </p:spPr>
        <p:txBody>
          <a:bodyPr wrap="square" lIns="0" rIns="0" tIns="0" bIns="0" anchor="ctr">
            <a:spAutoFit/>
          </a:bodyPr>
          <a:lstStyle/>
          <a:p>
            <a:pPr algn="l"/>
            <a:r>
              <a:rPr sz="1200" b="1" i="0">
                <a:solidFill>
                  <a:srgbClr val="0B1B3F"/>
                </a:solidFill>
                <a:latin typeface="Consolas"/>
              </a:rPr>
              <a:t>resume_analyst</a:t>
            </a:r>
          </a:p>
        </p:txBody>
      </p:sp>
      <p:sp>
        <p:nvSpPr>
          <p:cNvPr id="29" name="Rectangle 28"/>
          <p:cNvSpPr/>
          <p:nvPr/>
        </p:nvSpPr>
        <p:spPr>
          <a:xfrm>
            <a:off x="2103120" y="425196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617720"/>
            <a:ext cx="1463040" cy="457200"/>
          </a:xfrm>
          <a:prstGeom prst="rect">
            <a:avLst/>
          </a:prstGeom>
          <a:noFill/>
        </p:spPr>
        <p:txBody>
          <a:bodyPr wrap="square" lIns="0" rIns="0" tIns="0" bIns="0" anchor="ctr">
            <a:spAutoFit/>
          </a:bodyPr>
          <a:lstStyle/>
          <a:p>
            <a:pPr algn="l"/>
            <a:r>
              <a:rPr sz="1200" b="1" i="0">
                <a:solidFill>
                  <a:srgbClr val="0B1B3F"/>
                </a:solidFill>
                <a:latin typeface="Consolas"/>
              </a:rPr>
              <a:t>decision_maker</a:t>
            </a:r>
          </a:p>
        </p:txBody>
      </p:sp>
      <p:sp>
        <p:nvSpPr>
          <p:cNvPr id="31" name="Rectangle 30"/>
          <p:cNvSpPr/>
          <p:nvPr/>
        </p:nvSpPr>
        <p:spPr>
          <a:xfrm>
            <a:off x="2103120" y="480060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166360"/>
            <a:ext cx="1463040" cy="457200"/>
          </a:xfrm>
          <a:prstGeom prst="rect">
            <a:avLst/>
          </a:prstGeom>
          <a:noFill/>
        </p:spPr>
        <p:txBody>
          <a:bodyPr wrap="square" lIns="0" rIns="0" tIns="0" bIns="0" anchor="ctr">
            <a:spAutoFit/>
          </a:bodyPr>
          <a:lstStyle/>
          <a:p>
            <a:pPr algn="l"/>
            <a:r>
              <a:rPr sz="1200" b="1" i="0">
                <a:solidFill>
                  <a:srgbClr val="0B1B3F"/>
                </a:solidFill>
                <a:latin typeface="Consolas"/>
              </a:rPr>
              <a:t>notify</a:t>
            </a:r>
          </a:p>
        </p:txBody>
      </p:sp>
      <p:sp>
        <p:nvSpPr>
          <p:cNvPr id="33" name="Rectangle 32"/>
          <p:cNvSpPr/>
          <p:nvPr/>
        </p:nvSpPr>
        <p:spPr>
          <a:xfrm>
            <a:off x="2103120" y="534924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103120" y="1874519"/>
            <a:ext cx="1204622" cy="41148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03120" y="1874519"/>
            <a:ext cx="1204622" cy="411480"/>
          </a:xfrm>
          <a:prstGeom prst="rect">
            <a:avLst/>
          </a:prstGeom>
          <a:noFill/>
        </p:spPr>
        <p:txBody>
          <a:bodyPr wrap="square" lIns="0" rIns="0" tIns="0" bIns="0" anchor="ctr">
            <a:spAutoFit/>
          </a:bodyPr>
          <a:lstStyle/>
          <a:p>
            <a:pPr algn="ctr"/>
            <a:r>
              <a:rPr sz="1000" b="1" i="0">
                <a:solidFill>
                  <a:srgbClr val="FFFFFF"/>
                </a:solidFill>
                <a:latin typeface="Calibri"/>
              </a:rPr>
              <a:t>poll + dispatch</a:t>
            </a:r>
          </a:p>
        </p:txBody>
      </p:sp>
      <p:sp>
        <p:nvSpPr>
          <p:cNvPr id="36" name="Rounded Rectangle 35"/>
          <p:cNvSpPr/>
          <p:nvPr/>
        </p:nvSpPr>
        <p:spPr>
          <a:xfrm>
            <a:off x="3307742" y="2423160"/>
            <a:ext cx="401540" cy="411480"/>
          </a:xfrm>
          <a:prstGeom prst="round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07742" y="2423160"/>
            <a:ext cx="401540" cy="411480"/>
          </a:xfrm>
          <a:prstGeom prst="rect">
            <a:avLst/>
          </a:prstGeom>
          <a:noFill/>
        </p:spPr>
        <p:txBody>
          <a:bodyPr wrap="square" lIns="0" rIns="0" tIns="0" bIns="0" anchor="ctr">
            <a:spAutoFit/>
          </a:bodyPr>
          <a:lstStyle/>
          <a:p>
            <a:pPr algn="ctr"/>
            <a:r>
              <a:rPr sz="1000" b="1" i="0">
                <a:solidFill>
                  <a:srgbClr val="FFFFFF"/>
                </a:solidFill>
                <a:latin typeface="Calibri"/>
              </a:rPr>
              <a:t>validate</a:t>
            </a:r>
          </a:p>
        </p:txBody>
      </p:sp>
      <p:sp>
        <p:nvSpPr>
          <p:cNvPr id="38" name="Rounded Rectangle 37"/>
          <p:cNvSpPr/>
          <p:nvPr/>
        </p:nvSpPr>
        <p:spPr>
          <a:xfrm>
            <a:off x="3709283" y="2971800"/>
            <a:ext cx="5621572" cy="411480"/>
          </a:xfrm>
          <a:prstGeom prst="round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09283" y="2971800"/>
            <a:ext cx="5621572" cy="411480"/>
          </a:xfrm>
          <a:prstGeom prst="rect">
            <a:avLst/>
          </a:prstGeom>
          <a:noFill/>
        </p:spPr>
        <p:txBody>
          <a:bodyPr wrap="square" lIns="0" rIns="0" tIns="0" bIns="0" anchor="ctr">
            <a:spAutoFit/>
          </a:bodyPr>
          <a:lstStyle/>
          <a:p>
            <a:pPr algn="ctr"/>
            <a:r>
              <a:rPr sz="1000" b="1" i="0">
                <a:solidFill>
                  <a:srgbClr val="FFFFFF"/>
                </a:solidFill>
                <a:latin typeface="Calibri"/>
              </a:rPr>
              <a:t>ChromaDB query → policy_meta JSON</a:t>
            </a:r>
          </a:p>
        </p:txBody>
      </p:sp>
      <p:sp>
        <p:nvSpPr>
          <p:cNvPr id="40" name="Rounded Rectangle 39"/>
          <p:cNvSpPr/>
          <p:nvPr/>
        </p:nvSpPr>
        <p:spPr>
          <a:xfrm>
            <a:off x="3709283" y="4069080"/>
            <a:ext cx="5621572" cy="411480"/>
          </a:xfrm>
          <a:prstGeom prst="round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09283" y="4069080"/>
            <a:ext cx="5621572" cy="411480"/>
          </a:xfrm>
          <a:prstGeom prst="rect">
            <a:avLst/>
          </a:prstGeom>
          <a:noFill/>
        </p:spPr>
        <p:txBody>
          <a:bodyPr wrap="square" lIns="0" rIns="0" tIns="0" bIns="0" anchor="ctr">
            <a:spAutoFit/>
          </a:bodyPr>
          <a:lstStyle/>
          <a:p>
            <a:pPr algn="ctr"/>
            <a:r>
              <a:rPr sz="1000" b="1" i="0">
                <a:solidFill>
                  <a:srgbClr val="FFFFFF"/>
                </a:solidFill>
                <a:latin typeface="Calibri"/>
              </a:rPr>
              <a:t>Brave search → CandidateEval JSON</a:t>
            </a:r>
          </a:p>
        </p:txBody>
      </p:sp>
      <p:sp>
        <p:nvSpPr>
          <p:cNvPr id="42" name="Rounded Rectangle 41"/>
          <p:cNvSpPr/>
          <p:nvPr/>
        </p:nvSpPr>
        <p:spPr>
          <a:xfrm>
            <a:off x="9330855" y="4617720"/>
            <a:ext cx="1204622" cy="411480"/>
          </a:xfrm>
          <a:prstGeom prst="round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30855" y="4617720"/>
            <a:ext cx="1204622" cy="411480"/>
          </a:xfrm>
          <a:prstGeom prst="rect">
            <a:avLst/>
          </a:prstGeom>
          <a:noFill/>
        </p:spPr>
        <p:txBody>
          <a:bodyPr wrap="square" lIns="0" rIns="0" tIns="0" bIns="0" anchor="ctr">
            <a:spAutoFit/>
          </a:bodyPr>
          <a:lstStyle/>
          <a:p>
            <a:pPr algn="ctr"/>
            <a:r>
              <a:rPr sz="1000" b="1" i="0">
                <a:solidFill>
                  <a:srgbClr val="FFFFFF"/>
                </a:solidFill>
                <a:latin typeface="Calibri"/>
              </a:rPr>
              <a:t>merge + render disposition</a:t>
            </a:r>
          </a:p>
        </p:txBody>
      </p:sp>
      <p:sp>
        <p:nvSpPr>
          <p:cNvPr id="44" name="Rounded Rectangle 43"/>
          <p:cNvSpPr/>
          <p:nvPr/>
        </p:nvSpPr>
        <p:spPr>
          <a:xfrm>
            <a:off x="10535478" y="5166360"/>
            <a:ext cx="803081" cy="41148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35478" y="5166360"/>
            <a:ext cx="803081" cy="411480"/>
          </a:xfrm>
          <a:prstGeom prst="rect">
            <a:avLst/>
          </a:prstGeom>
          <a:noFill/>
        </p:spPr>
        <p:txBody>
          <a:bodyPr wrap="square" lIns="0" rIns="0" tIns="0" bIns="0" anchor="ctr">
            <a:spAutoFit/>
          </a:bodyPr>
          <a:lstStyle/>
          <a:p>
            <a:pPr algn="ctr"/>
            <a:r>
              <a:rPr sz="1000" b="1" i="0">
                <a:solidFill>
                  <a:srgbClr val="FFFFFF"/>
                </a:solidFill>
                <a:latin typeface="Calibri"/>
              </a:rPr>
              <a:t>EvaluationResult → SQLite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STATE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HRState — the bucket that flows through the graph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325880"/>
            <a:ext cx="6858000" cy="49834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25880"/>
            <a:ext cx="73152" cy="49834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417320"/>
            <a:ext cx="6583680" cy="4800600"/>
          </a:xfrm>
          <a:prstGeom prst="rect">
            <a:avLst/>
          </a:prstGeom>
          <a:noFill/>
        </p:spPr>
        <p:txBody>
          <a:bodyPr wrap="square" lIns="0" rIns="0" tIns="0" bIns="0">
            <a:spAutoFit/>
          </a:bodyPr>
          <a:lstStyle/>
          <a:p>
            <a:pPr>
              <a:spcAft>
                <a:spcPts val="0"/>
              </a:spcAft>
            </a:pPr>
            <a:r>
              <a:rPr sz="1000">
                <a:solidFill>
                  <a:srgbClr val="FFFFFF"/>
                </a:solidFill>
                <a:latin typeface="Consolas"/>
              </a:rPr>
              <a:t>class HRState(TypedDict, total=False):</a:t>
            </a:r>
          </a:p>
          <a:p>
            <a:pPr>
              <a:spcAft>
                <a:spcPts val="0"/>
              </a:spcAft>
            </a:pPr>
            <a:r>
              <a:rPr sz="1000">
                <a:solidFill>
                  <a:srgbClr val="FFFFFF"/>
                </a:solidFill>
                <a:latin typeface="Consolas"/>
              </a:rPr>
              <a:t>    """State passed through every LangGraph node."""</a:t>
            </a:r>
          </a:p>
          <a:p>
            <a:pPr>
              <a:spcAft>
                <a:spcPts val="0"/>
              </a:spcAft>
            </a:pPr>
            <a:r>
              <a:rPr sz="1000">
                <a:solidFill>
                  <a:srgbClr val="FFFFFF"/>
                </a:solidFill>
                <a:latin typeface="Consolas"/>
              </a:rPr>
              <a:t> </a:t>
            </a:r>
          </a:p>
          <a:p>
            <a:pPr>
              <a:spcAft>
                <a:spcPts val="0"/>
              </a:spcAft>
            </a:pPr>
            <a:r>
              <a:rPr sz="1000">
                <a:solidFill>
                  <a:srgbClr val="FFFFFF"/>
                </a:solidFill>
                <a:latin typeface="Consolas"/>
              </a:rPr>
              <a:t>    session_id: str</a:t>
            </a:r>
          </a:p>
          <a:p>
            <a:pPr>
              <a:spcAft>
                <a:spcPts val="0"/>
              </a:spcAft>
            </a:pPr>
            <a:r>
              <a:rPr sz="1000">
                <a:solidFill>
                  <a:srgbClr val="FFFFFF"/>
                </a:solidFill>
                <a:latin typeface="Consolas"/>
              </a:rPr>
              <a:t>    run_id: str</a:t>
            </a:r>
          </a:p>
          <a:p>
            <a:pPr>
              <a:spcAft>
                <a:spcPts val="0"/>
              </a:spcAft>
            </a:pPr>
            <a:r>
              <a:rPr sz="1000">
                <a:solidFill>
                  <a:srgbClr val="FFFFFF"/>
                </a:solidFill>
                <a:latin typeface="Consolas"/>
              </a:rPr>
              <a:t>    start_time: float</a:t>
            </a:r>
          </a:p>
          <a:p>
            <a:pPr>
              <a:spcAft>
                <a:spcPts val="0"/>
              </a:spcAft>
            </a:pPr>
            <a:r>
              <a:rPr sz="1000">
                <a:solidFill>
                  <a:srgbClr val="FFFFFF"/>
                </a:solidFill>
                <a:latin typeface="Consolas"/>
              </a:rPr>
              <a:t> </a:t>
            </a:r>
          </a:p>
          <a:p>
            <a:pPr>
              <a:spcAft>
                <a:spcPts val="0"/>
              </a:spcAft>
            </a:pPr>
            <a:r>
              <a:rPr sz="1000">
                <a:solidFill>
                  <a:srgbClr val="FFFFFF"/>
                </a:solidFill>
                <a:latin typeface="Consolas"/>
              </a:rPr>
              <a:t>    # Input</a:t>
            </a:r>
          </a:p>
          <a:p>
            <a:pPr>
              <a:spcAft>
                <a:spcPts val="0"/>
              </a:spcAft>
            </a:pPr>
            <a:r>
              <a:rPr sz="1000">
                <a:solidFill>
                  <a:srgbClr val="FFFFFF"/>
                </a:solidFill>
                <a:latin typeface="Consolas"/>
              </a:rPr>
              <a:t>    resume: Optional[dict]</a:t>
            </a:r>
          </a:p>
          <a:p>
            <a:pPr>
              <a:spcAft>
                <a:spcPts val="0"/>
              </a:spcAft>
            </a:pPr>
            <a:r>
              <a:rPr sz="1000">
                <a:solidFill>
                  <a:srgbClr val="FFFFFF"/>
                </a:solidFill>
                <a:latin typeface="Consolas"/>
              </a:rPr>
              <a:t>    # ↑ serialized ResumeSubmission</a:t>
            </a:r>
          </a:p>
          <a:p>
            <a:pPr>
              <a:spcAft>
                <a:spcPts val="0"/>
              </a:spcAft>
            </a:pPr>
            <a:r>
              <a:rPr sz="1000">
                <a:solidFill>
                  <a:srgbClr val="FFFFFF"/>
                </a:solidFill>
                <a:latin typeface="Consolas"/>
              </a:rPr>
              <a:t> </a:t>
            </a:r>
          </a:p>
          <a:p>
            <a:pPr>
              <a:spcAft>
                <a:spcPts val="0"/>
              </a:spcAft>
            </a:pPr>
            <a:r>
              <a:rPr sz="1000">
                <a:solidFill>
                  <a:srgbClr val="FFFFFF"/>
                </a:solidFill>
                <a:latin typeface="Consolas"/>
              </a:rPr>
              <a:t>    # Agent outputs</a:t>
            </a:r>
          </a:p>
          <a:p>
            <a:pPr>
              <a:spcAft>
                <a:spcPts val="0"/>
              </a:spcAft>
            </a:pPr>
            <a:r>
              <a:rPr sz="1000">
                <a:solidFill>
                  <a:srgbClr val="FFFFFF"/>
                </a:solidFill>
                <a:latin typeface="Consolas"/>
              </a:rPr>
              <a:t>    policy_context: Optional[dict]</a:t>
            </a:r>
          </a:p>
          <a:p>
            <a:pPr>
              <a:spcAft>
                <a:spcPts val="0"/>
              </a:spcAft>
            </a:pPr>
            <a:r>
              <a:rPr sz="1000">
                <a:solidFill>
                  <a:srgbClr val="FFFFFF"/>
                </a:solidFill>
                <a:latin typeface="Consolas"/>
              </a:rPr>
              <a:t>    # ↑ serialized PolicyContext</a:t>
            </a:r>
          </a:p>
          <a:p>
            <a:pPr>
              <a:spcAft>
                <a:spcPts val="0"/>
              </a:spcAft>
            </a:pPr>
            <a:r>
              <a:rPr sz="1000">
                <a:solidFill>
                  <a:srgbClr val="FFFFFF"/>
                </a:solidFill>
                <a:latin typeface="Consolas"/>
              </a:rPr>
              <a:t> </a:t>
            </a:r>
          </a:p>
          <a:p>
            <a:pPr>
              <a:spcAft>
                <a:spcPts val="0"/>
              </a:spcAft>
            </a:pPr>
            <a:r>
              <a:rPr sz="1000">
                <a:solidFill>
                  <a:srgbClr val="FFFFFF"/>
                </a:solidFill>
                <a:latin typeface="Consolas"/>
              </a:rPr>
              <a:t>    policy_meta: Optional[dict]</a:t>
            </a:r>
          </a:p>
          <a:p>
            <a:pPr>
              <a:spcAft>
                <a:spcPts val="0"/>
              </a:spcAft>
            </a:pPr>
            <a:r>
              <a:rPr sz="1000">
                <a:solidFill>
                  <a:srgbClr val="FFFFFF"/>
                </a:solidFill>
                <a:latin typeface="Consolas"/>
              </a:rPr>
              <a:t>    # ↑ raw dict from PolicyExpert crew</a:t>
            </a:r>
          </a:p>
          <a:p>
            <a:pPr>
              <a:spcAft>
                <a:spcPts val="0"/>
              </a:spcAft>
            </a:pPr>
            <a:r>
              <a:rPr sz="1000">
                <a:solidFill>
                  <a:srgbClr val="FFFFFF"/>
                </a:solidFill>
                <a:latin typeface="Consolas"/>
              </a:rPr>
              <a:t> </a:t>
            </a:r>
          </a:p>
          <a:p>
            <a:pPr>
              <a:spcAft>
                <a:spcPts val="0"/>
              </a:spcAft>
            </a:pPr>
            <a:r>
              <a:rPr sz="1000">
                <a:solidFill>
                  <a:srgbClr val="FFFFFF"/>
                </a:solidFill>
                <a:latin typeface="Consolas"/>
              </a:rPr>
              <a:t>    candidate_eval: Optional[dict]</a:t>
            </a:r>
          </a:p>
          <a:p>
            <a:pPr>
              <a:spcAft>
                <a:spcPts val="0"/>
              </a:spcAft>
            </a:pPr>
            <a:r>
              <a:rPr sz="1000">
                <a:solidFill>
                  <a:srgbClr val="FFFFFF"/>
                </a:solidFill>
                <a:latin typeface="Consolas"/>
              </a:rPr>
              <a:t>    # ↑ serialized CandidateEval</a:t>
            </a:r>
          </a:p>
          <a:p>
            <a:pPr>
              <a:spcAft>
                <a:spcPts val="0"/>
              </a:spcAft>
            </a:pPr>
            <a:r>
              <a:rPr sz="1000">
                <a:solidFill>
                  <a:srgbClr val="FFFFFF"/>
                </a:solidFill>
                <a:latin typeface="Consolas"/>
              </a:rPr>
              <a:t> </a:t>
            </a:r>
          </a:p>
          <a:p>
            <a:pPr>
              <a:spcAft>
                <a:spcPts val="0"/>
              </a:spcAft>
            </a:pPr>
            <a:r>
              <a:rPr sz="1000">
                <a:solidFill>
                  <a:srgbClr val="FFFFFF"/>
                </a:solidFill>
                <a:latin typeface="Consolas"/>
              </a:rPr>
              <a:t>    hr_decision: Optional[dict]</a:t>
            </a:r>
          </a:p>
          <a:p>
            <a:pPr>
              <a:spcAft>
                <a:spcPts val="0"/>
              </a:spcAft>
            </a:pPr>
            <a:r>
              <a:rPr sz="1000">
                <a:solidFill>
                  <a:srgbClr val="FFFFFF"/>
                </a:solidFill>
                <a:latin typeface="Consolas"/>
              </a:rPr>
              <a:t>    # ↑ serialized HRDecision</a:t>
            </a:r>
          </a:p>
          <a:p>
            <a:pPr>
              <a:spcAft>
                <a:spcPts val="0"/>
              </a:spcAft>
            </a:pPr>
            <a:r>
              <a:rPr sz="1000">
                <a:solidFill>
                  <a:srgbClr val="FFFFFF"/>
                </a:solidFill>
                <a:latin typeface="Consolas"/>
              </a:rPr>
              <a:t> </a:t>
            </a:r>
          </a:p>
          <a:p>
            <a:pPr>
              <a:spcAft>
                <a:spcPts val="0"/>
              </a:spcAft>
            </a:pPr>
            <a:r>
              <a:rPr sz="1000">
                <a:solidFill>
                  <a:srgbClr val="FFFFFF"/>
                </a:solidFill>
                <a:latin typeface="Consolas"/>
              </a:rPr>
              <a:t>    # Final</a:t>
            </a:r>
          </a:p>
          <a:p>
            <a:pPr>
              <a:spcAft>
                <a:spcPts val="0"/>
              </a:spcAft>
            </a:pPr>
            <a:r>
              <a:rPr sz="1000">
                <a:solidFill>
                  <a:srgbClr val="FFFFFF"/>
                </a:solidFill>
                <a:latin typeface="Consolas"/>
              </a:rPr>
              <a:t>    result: Optional[dict]</a:t>
            </a:r>
          </a:p>
          <a:p>
            <a:pPr>
              <a:spcAft>
                <a:spcPts val="0"/>
              </a:spcAft>
            </a:pPr>
            <a:r>
              <a:rPr sz="1000">
                <a:solidFill>
                  <a:srgbClr val="FFFFFF"/>
                </a:solidFill>
                <a:latin typeface="Consolas"/>
              </a:rPr>
              <a:t>    # ↑ serialized EvaluationResult</a:t>
            </a:r>
          </a:p>
          <a:p>
            <a:pPr>
              <a:spcAft>
                <a:spcPts val="0"/>
              </a:spcAft>
            </a:pPr>
            <a:r>
              <a:rPr sz="1000">
                <a:solidFill>
                  <a:srgbClr val="FFFFFF"/>
                </a:solidFill>
                <a:latin typeface="Consolas"/>
              </a:rPr>
              <a:t>    error: Optional[str]</a:t>
            </a:r>
          </a:p>
        </p:txBody>
      </p:sp>
      <p:sp>
        <p:nvSpPr>
          <p:cNvPr id="11" name="Rectangle 10"/>
          <p:cNvSpPr/>
          <p:nvPr/>
        </p:nvSpPr>
        <p:spPr>
          <a:xfrm>
            <a:off x="7680960" y="1325880"/>
            <a:ext cx="4023360" cy="49834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9560" y="1600200"/>
            <a:ext cx="3657600" cy="457200"/>
          </a:xfrm>
          <a:prstGeom prst="rect">
            <a:avLst/>
          </a:prstGeom>
          <a:noFill/>
        </p:spPr>
        <p:txBody>
          <a:bodyPr wrap="square" lIns="0" rIns="0" tIns="0" bIns="0" anchor="t">
            <a:spAutoFit/>
          </a:bodyPr>
          <a:lstStyle/>
          <a:p>
            <a:pPr algn="l"/>
            <a:r>
              <a:rPr sz="1600" b="1" i="0">
                <a:solidFill>
                  <a:srgbClr val="FFB703"/>
                </a:solidFill>
                <a:latin typeface="Calibri"/>
              </a:rPr>
              <a:t>Why TypedDict?</a:t>
            </a:r>
          </a:p>
        </p:txBody>
      </p:sp>
      <p:sp>
        <p:nvSpPr>
          <p:cNvPr id="13" name="TextBox 12"/>
          <p:cNvSpPr txBox="1"/>
          <p:nvPr/>
        </p:nvSpPr>
        <p:spPr>
          <a:xfrm>
            <a:off x="7909560" y="2148840"/>
            <a:ext cx="3657600" cy="4114800"/>
          </a:xfrm>
          <a:prstGeom prst="rect">
            <a:avLst/>
          </a:prstGeom>
          <a:noFill/>
        </p:spPr>
        <p:txBody>
          <a:bodyPr wrap="square" lIns="0" rIns="0" tIns="0" bIns="0">
            <a:spAutoFit/>
          </a:bodyPr>
          <a:lstStyle/>
          <a:p>
            <a:pPr algn="l" indent="-228600" marL="228600">
              <a:spcAft>
                <a:spcPts val="800"/>
              </a:spcAft>
              <a:buChar char="•"/>
            </a:pPr>
            <a:r>
              <a:rPr sz="1200" b="1">
                <a:solidFill>
                  <a:srgbClr val="FFB703"/>
                </a:solidFill>
                <a:latin typeface="Calibri"/>
              </a:rPr>
              <a:t>Serializable</a:t>
            </a:r>
            <a:r>
              <a:rPr sz="1200">
                <a:solidFill>
                  <a:srgbClr val="FFFFFF"/>
                </a:solidFill>
                <a:latin typeface="Calibri"/>
              </a:rPr>
              <a:t>  Plain dicts → easy checkpoint.</a:t>
            </a:r>
          </a:p>
          <a:p>
            <a:pPr algn="l" indent="-228600" marL="228600">
              <a:spcAft>
                <a:spcPts val="800"/>
              </a:spcAft>
              <a:buChar char="•"/>
            </a:pPr>
            <a:r>
              <a:rPr sz="1200" b="1">
                <a:solidFill>
                  <a:srgbClr val="FFB703"/>
                </a:solidFill>
                <a:latin typeface="Calibri"/>
              </a:rPr>
              <a:t>Type-checked</a:t>
            </a:r>
            <a:r>
              <a:rPr sz="1200">
                <a:solidFill>
                  <a:srgbClr val="FFFFFF"/>
                </a:solidFill>
                <a:latin typeface="Calibri"/>
              </a:rPr>
              <a:t>  mypy / pyright catch typos.</a:t>
            </a:r>
          </a:p>
          <a:p>
            <a:pPr algn="l" indent="-228600" marL="228600">
              <a:spcAft>
                <a:spcPts val="800"/>
              </a:spcAft>
              <a:buChar char="•"/>
            </a:pPr>
            <a:r>
              <a:rPr sz="1200" b="1">
                <a:solidFill>
                  <a:srgbClr val="FFB703"/>
                </a:solidFill>
                <a:latin typeface="Calibri"/>
              </a:rPr>
              <a:t>Partial updates</a:t>
            </a:r>
            <a:r>
              <a:rPr sz="1200">
                <a:solidFill>
                  <a:srgbClr val="FFFFFF"/>
                </a:solidFill>
                <a:latin typeface="Calibri"/>
              </a:rPr>
              <a:t>  total=False → fan-out merge.</a:t>
            </a:r>
          </a:p>
          <a:p>
            <a:pPr algn="l" indent="-228600" marL="228600">
              <a:spcAft>
                <a:spcPts val="800"/>
              </a:spcAft>
              <a:buChar char="•"/>
            </a:pPr>
            <a:r>
              <a:rPr sz="1200" b="1">
                <a:solidFill>
                  <a:srgbClr val="FFB703"/>
                </a:solidFill>
                <a:latin typeface="Calibri"/>
              </a:rPr>
              <a:t>Pydantic-friendly</a:t>
            </a:r>
            <a:r>
              <a:rPr sz="1200">
                <a:solidFill>
                  <a:srgbClr val="FFFFFF"/>
                </a:solidFill>
                <a:latin typeface="Calibri"/>
              </a:rPr>
              <a:t>  Each value is a model_dump() dict.</a:t>
            </a:r>
          </a:p>
          <a:p>
            <a:pPr algn="l" indent="-228600" marL="228600">
              <a:spcAft>
                <a:spcPts val="800"/>
              </a:spcAft>
              <a:buChar char="•"/>
            </a:pPr>
            <a:r>
              <a:rPr sz="1200" b="1">
                <a:solidFill>
                  <a:srgbClr val="FFB703"/>
                </a:solidFill>
                <a:latin typeface="Calibri"/>
              </a:rPr>
              <a:t>Inspectable</a:t>
            </a:r>
            <a:r>
              <a:rPr sz="1200">
                <a:solidFill>
                  <a:srgbClr val="FFFFFF"/>
                </a:solidFill>
                <a:latin typeface="Calibri"/>
              </a:rPr>
              <a:t>  state.keys() in a debugger = obvious.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STATE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Pydantic v2 data chain — every node passes a typed model</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9144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417320"/>
            <a:ext cx="10835640" cy="91440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08760"/>
            <a:ext cx="3200400" cy="411480"/>
          </a:xfrm>
          <a:prstGeom prst="rect">
            <a:avLst/>
          </a:prstGeom>
          <a:noFill/>
        </p:spPr>
        <p:txBody>
          <a:bodyPr wrap="square" lIns="0" rIns="0" tIns="0" bIns="0" anchor="t">
            <a:spAutoFit/>
          </a:bodyPr>
          <a:lstStyle/>
          <a:p>
            <a:pPr algn="l"/>
            <a:r>
              <a:rPr sz="1500" b="1" i="0">
                <a:solidFill>
                  <a:srgbClr val="0B1B3F"/>
                </a:solidFill>
                <a:latin typeface="Consolas"/>
              </a:rPr>
              <a:t>ResumeSubmission</a:t>
            </a:r>
          </a:p>
        </p:txBody>
      </p:sp>
      <p:sp>
        <p:nvSpPr>
          <p:cNvPr id="11" name="TextBox 10"/>
          <p:cNvSpPr txBox="1"/>
          <p:nvPr/>
        </p:nvSpPr>
        <p:spPr>
          <a:xfrm>
            <a:off x="960120" y="1920240"/>
            <a:ext cx="10515600" cy="411480"/>
          </a:xfrm>
          <a:prstGeom prst="rect">
            <a:avLst/>
          </a:prstGeom>
          <a:noFill/>
        </p:spPr>
        <p:txBody>
          <a:bodyPr wrap="square" lIns="0" rIns="0" tIns="0" bIns="0" anchor="t">
            <a:spAutoFit/>
          </a:bodyPr>
          <a:lstStyle/>
          <a:p>
            <a:pPr algn="l"/>
            <a:r>
              <a:rPr sz="1100" b="0" i="0">
                <a:solidFill>
                  <a:srgbClr val="0F172A"/>
                </a:solidFill>
                <a:latin typeface="Consolas"/>
              </a:rPr>
              <a:t>candidate_id · filename · raw_text · source · session_id</a:t>
            </a:r>
          </a:p>
        </p:txBody>
      </p:sp>
      <p:sp>
        <p:nvSpPr>
          <p:cNvPr id="12" name="Rectangle 11"/>
          <p:cNvSpPr/>
          <p:nvPr/>
        </p:nvSpPr>
        <p:spPr>
          <a:xfrm>
            <a:off x="640080" y="2377440"/>
            <a:ext cx="9144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377440"/>
            <a:ext cx="10835640" cy="91440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468880"/>
            <a:ext cx="3200400" cy="411480"/>
          </a:xfrm>
          <a:prstGeom prst="rect">
            <a:avLst/>
          </a:prstGeom>
          <a:noFill/>
        </p:spPr>
        <p:txBody>
          <a:bodyPr wrap="square" lIns="0" rIns="0" tIns="0" bIns="0" anchor="t">
            <a:spAutoFit/>
          </a:bodyPr>
          <a:lstStyle/>
          <a:p>
            <a:pPr algn="l"/>
            <a:r>
              <a:rPr sz="1500" b="1" i="0">
                <a:solidFill>
                  <a:srgbClr val="0B1B3F"/>
                </a:solidFill>
                <a:latin typeface="Consolas"/>
              </a:rPr>
              <a:t>PolicyContext</a:t>
            </a:r>
          </a:p>
        </p:txBody>
      </p:sp>
      <p:sp>
        <p:nvSpPr>
          <p:cNvPr id="15" name="TextBox 14"/>
          <p:cNvSpPr txBox="1"/>
          <p:nvPr/>
        </p:nvSpPr>
        <p:spPr>
          <a:xfrm>
            <a:off x="960120" y="2880360"/>
            <a:ext cx="10515600" cy="411480"/>
          </a:xfrm>
          <a:prstGeom prst="rect">
            <a:avLst/>
          </a:prstGeom>
          <a:noFill/>
        </p:spPr>
        <p:txBody>
          <a:bodyPr wrap="square" lIns="0" rIns="0" tIns="0" bIns="0" anchor="t">
            <a:spAutoFit/>
          </a:bodyPr>
          <a:lstStyle/>
          <a:p>
            <a:pPr algn="l"/>
            <a:r>
              <a:rPr sz="1100" b="0" i="0">
                <a:solidFill>
                  <a:srgbClr val="0F172A"/>
                </a:solidFill>
                <a:latin typeface="Consolas"/>
              </a:rPr>
              <a:t>chunks: list[str] · sources: list[str] · query: str</a:t>
            </a:r>
          </a:p>
        </p:txBody>
      </p:sp>
      <p:sp>
        <p:nvSpPr>
          <p:cNvPr id="16" name="Rectangle 15"/>
          <p:cNvSpPr/>
          <p:nvPr/>
        </p:nvSpPr>
        <p:spPr>
          <a:xfrm>
            <a:off x="640080" y="3337560"/>
            <a:ext cx="9144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37560"/>
            <a:ext cx="10835640" cy="91440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429000"/>
            <a:ext cx="3200400" cy="411480"/>
          </a:xfrm>
          <a:prstGeom prst="rect">
            <a:avLst/>
          </a:prstGeom>
          <a:noFill/>
        </p:spPr>
        <p:txBody>
          <a:bodyPr wrap="square" lIns="0" rIns="0" tIns="0" bIns="0" anchor="t">
            <a:spAutoFit/>
          </a:bodyPr>
          <a:lstStyle/>
          <a:p>
            <a:pPr algn="l"/>
            <a:r>
              <a:rPr sz="1500" b="1" i="0">
                <a:solidFill>
                  <a:srgbClr val="0B1B3F"/>
                </a:solidFill>
                <a:latin typeface="Consolas"/>
              </a:rPr>
              <a:t>CandidateEval</a:t>
            </a:r>
          </a:p>
        </p:txBody>
      </p:sp>
      <p:sp>
        <p:nvSpPr>
          <p:cNvPr id="19" name="TextBox 18"/>
          <p:cNvSpPr txBox="1"/>
          <p:nvPr/>
        </p:nvSpPr>
        <p:spPr>
          <a:xfrm>
            <a:off x="960120" y="3840480"/>
            <a:ext cx="10515600" cy="411480"/>
          </a:xfrm>
          <a:prstGeom prst="rect">
            <a:avLst/>
          </a:prstGeom>
          <a:noFill/>
        </p:spPr>
        <p:txBody>
          <a:bodyPr wrap="square" lIns="0" rIns="0" tIns="0" bIns="0" anchor="t">
            <a:spAutoFit/>
          </a:bodyPr>
          <a:lstStyle/>
          <a:p>
            <a:pPr algn="l"/>
            <a:r>
              <a:rPr sz="1100" b="0" i="0">
                <a:solidFill>
                  <a:srgbClr val="0F172A"/>
                </a:solidFill>
                <a:latin typeface="Consolas"/>
              </a:rPr>
              <a:t>skills_match_score · experience_score · strengths · red_flags · candidate_name</a:t>
            </a:r>
          </a:p>
        </p:txBody>
      </p:sp>
      <p:sp>
        <p:nvSpPr>
          <p:cNvPr id="20" name="Rectangle 19"/>
          <p:cNvSpPr/>
          <p:nvPr/>
        </p:nvSpPr>
        <p:spPr>
          <a:xfrm>
            <a:off x="640080" y="4297680"/>
            <a:ext cx="9144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297680"/>
            <a:ext cx="10835640" cy="91440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389120"/>
            <a:ext cx="3200400" cy="411480"/>
          </a:xfrm>
          <a:prstGeom prst="rect">
            <a:avLst/>
          </a:prstGeom>
          <a:noFill/>
        </p:spPr>
        <p:txBody>
          <a:bodyPr wrap="square" lIns="0" rIns="0" tIns="0" bIns="0" anchor="t">
            <a:spAutoFit/>
          </a:bodyPr>
          <a:lstStyle/>
          <a:p>
            <a:pPr algn="l"/>
            <a:r>
              <a:rPr sz="1500" b="1" i="0">
                <a:solidFill>
                  <a:srgbClr val="0B1B3F"/>
                </a:solidFill>
                <a:latin typeface="Consolas"/>
              </a:rPr>
              <a:t>HRDecision</a:t>
            </a:r>
          </a:p>
        </p:txBody>
      </p:sp>
      <p:sp>
        <p:nvSpPr>
          <p:cNvPr id="23" name="TextBox 22"/>
          <p:cNvSpPr txBox="1"/>
          <p:nvPr/>
        </p:nvSpPr>
        <p:spPr>
          <a:xfrm>
            <a:off x="960120" y="4800600"/>
            <a:ext cx="10515600" cy="411480"/>
          </a:xfrm>
          <a:prstGeom prst="rect">
            <a:avLst/>
          </a:prstGeom>
          <a:noFill/>
        </p:spPr>
        <p:txBody>
          <a:bodyPr wrap="square" lIns="0" rIns="0" tIns="0" bIns="0" anchor="t">
            <a:spAutoFit/>
          </a:bodyPr>
          <a:lstStyle/>
          <a:p>
            <a:pPr algn="l"/>
            <a:r>
              <a:rPr sz="1100" b="0" i="0">
                <a:solidFill>
                  <a:srgbClr val="0F172A"/>
                </a:solidFill>
                <a:latin typeface="Consolas"/>
              </a:rPr>
              <a:t>decision: Literal['Strong Match', 'Possible Match', 'Needs Review', 'Not Qualified'] · reasoning · next_steps · overall_score</a:t>
            </a:r>
          </a:p>
        </p:txBody>
      </p:sp>
      <p:sp>
        <p:nvSpPr>
          <p:cNvPr id="24" name="Rectangle 23"/>
          <p:cNvSpPr/>
          <p:nvPr/>
        </p:nvSpPr>
        <p:spPr>
          <a:xfrm>
            <a:off x="640080" y="5257800"/>
            <a:ext cx="9144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257800"/>
            <a:ext cx="10835640" cy="91440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349240"/>
            <a:ext cx="3200400" cy="411480"/>
          </a:xfrm>
          <a:prstGeom prst="rect">
            <a:avLst/>
          </a:prstGeom>
          <a:noFill/>
        </p:spPr>
        <p:txBody>
          <a:bodyPr wrap="square" lIns="0" rIns="0" tIns="0" bIns="0" anchor="t">
            <a:spAutoFit/>
          </a:bodyPr>
          <a:lstStyle/>
          <a:p>
            <a:pPr algn="l"/>
            <a:r>
              <a:rPr sz="1500" b="1" i="0">
                <a:solidFill>
                  <a:srgbClr val="0B1B3F"/>
                </a:solidFill>
                <a:latin typeface="Consolas"/>
              </a:rPr>
              <a:t>EvaluationResult</a:t>
            </a:r>
          </a:p>
        </p:txBody>
      </p:sp>
      <p:sp>
        <p:nvSpPr>
          <p:cNvPr id="27" name="TextBox 26"/>
          <p:cNvSpPr txBox="1"/>
          <p:nvPr/>
        </p:nvSpPr>
        <p:spPr>
          <a:xfrm>
            <a:off x="960120" y="5760720"/>
            <a:ext cx="10515600" cy="411480"/>
          </a:xfrm>
          <a:prstGeom prst="rect">
            <a:avLst/>
          </a:prstGeom>
          <a:noFill/>
        </p:spPr>
        <p:txBody>
          <a:bodyPr wrap="square" lIns="0" rIns="0" tIns="0" bIns="0" anchor="t">
            <a:spAutoFit/>
          </a:bodyPr>
          <a:lstStyle/>
          <a:p>
            <a:pPr algn="l"/>
            <a:r>
              <a:rPr sz="1100" b="0" i="0">
                <a:solidFill>
                  <a:srgbClr val="0F172A"/>
                </a:solidFill>
                <a:latin typeface="Consolas"/>
              </a:rPr>
              <a:t>candidate_id · candidate_name · timestamp_utc · candidate_eval · hr_decision · duration_seconds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OUTPUTS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Four dispositions, one decision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554480"/>
            <a:ext cx="10972800" cy="105156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3200400" cy="685800"/>
          </a:xfrm>
          <a:prstGeom prst="rect">
            <a:avLst/>
          </a:prstGeom>
          <a:noFill/>
        </p:spPr>
        <p:txBody>
          <a:bodyPr wrap="square" lIns="0" rIns="0" tIns="0" bIns="0" anchor="ctr">
            <a:spAutoFit/>
          </a:bodyPr>
          <a:lstStyle/>
          <a:p>
            <a:pPr algn="l"/>
            <a:r>
              <a:rPr sz="2200" b="1" i="0">
                <a:solidFill>
                  <a:srgbClr val="FFFFFF"/>
                </a:solidFill>
                <a:latin typeface="Calibri"/>
              </a:rPr>
              <a:t>Strong Match</a:t>
            </a:r>
          </a:p>
        </p:txBody>
      </p:sp>
      <p:sp>
        <p:nvSpPr>
          <p:cNvPr id="10" name="TextBox 9"/>
          <p:cNvSpPr txBox="1"/>
          <p:nvPr/>
        </p:nvSpPr>
        <p:spPr>
          <a:xfrm>
            <a:off x="4572000" y="1737360"/>
            <a:ext cx="7040880" cy="685800"/>
          </a:xfrm>
          <a:prstGeom prst="rect">
            <a:avLst/>
          </a:prstGeom>
          <a:noFill/>
        </p:spPr>
        <p:txBody>
          <a:bodyPr wrap="square" lIns="0" rIns="0" tIns="0" bIns="0" anchor="ctr">
            <a:spAutoFit/>
          </a:bodyPr>
          <a:lstStyle/>
          <a:p>
            <a:pPr algn="l"/>
            <a:r>
              <a:rPr sz="1500" b="0" i="0">
                <a:solidFill>
                  <a:srgbClr val="FFFFFF"/>
                </a:solidFill>
                <a:latin typeface="Calibri"/>
              </a:rPr>
              <a:t>Active MCT, score 80+. Schedule interview now.</a:t>
            </a:r>
          </a:p>
        </p:txBody>
      </p:sp>
      <p:sp>
        <p:nvSpPr>
          <p:cNvPr id="11" name="Rectangle 10"/>
          <p:cNvSpPr/>
          <p:nvPr/>
        </p:nvSpPr>
        <p:spPr>
          <a:xfrm>
            <a:off x="640080" y="2697480"/>
            <a:ext cx="10972800" cy="1051560"/>
          </a:xfrm>
          <a:prstGeom prst="rect">
            <a:avLst/>
          </a:prstGeom>
          <a:solidFill>
            <a:srgbClr val="CC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80360"/>
            <a:ext cx="3200400" cy="685800"/>
          </a:xfrm>
          <a:prstGeom prst="rect">
            <a:avLst/>
          </a:prstGeom>
          <a:noFill/>
        </p:spPr>
        <p:txBody>
          <a:bodyPr wrap="square" lIns="0" rIns="0" tIns="0" bIns="0" anchor="ctr">
            <a:spAutoFit/>
          </a:bodyPr>
          <a:lstStyle/>
          <a:p>
            <a:pPr algn="l"/>
            <a:r>
              <a:rPr sz="2200" b="1" i="0">
                <a:solidFill>
                  <a:srgbClr val="FFFFFF"/>
                </a:solidFill>
                <a:latin typeface="Calibri"/>
              </a:rPr>
              <a:t>Possible Match</a:t>
            </a:r>
          </a:p>
        </p:txBody>
      </p:sp>
      <p:sp>
        <p:nvSpPr>
          <p:cNvPr id="13" name="TextBox 12"/>
          <p:cNvSpPr txBox="1"/>
          <p:nvPr/>
        </p:nvSpPr>
        <p:spPr>
          <a:xfrm>
            <a:off x="4572000" y="2880360"/>
            <a:ext cx="7040880" cy="685800"/>
          </a:xfrm>
          <a:prstGeom prst="rect">
            <a:avLst/>
          </a:prstGeom>
          <a:noFill/>
        </p:spPr>
        <p:txBody>
          <a:bodyPr wrap="square" lIns="0" rIns="0" tIns="0" bIns="0" anchor="ctr">
            <a:spAutoFit/>
          </a:bodyPr>
          <a:lstStyle/>
          <a:p>
            <a:pPr algn="l"/>
            <a:r>
              <a:rPr sz="1500" b="0" i="0">
                <a:solidFill>
                  <a:srgbClr val="FFFFFF"/>
                </a:solidFill>
                <a:latin typeface="Calibri"/>
              </a:rPr>
              <a:t>Solid certs + delivery, 55-79. Technical screen.</a:t>
            </a:r>
          </a:p>
        </p:txBody>
      </p:sp>
      <p:sp>
        <p:nvSpPr>
          <p:cNvPr id="14" name="Rectangle 13"/>
          <p:cNvSpPr/>
          <p:nvPr/>
        </p:nvSpPr>
        <p:spPr>
          <a:xfrm>
            <a:off x="640080" y="3840480"/>
            <a:ext cx="10972800" cy="105156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23360"/>
            <a:ext cx="3200400" cy="685800"/>
          </a:xfrm>
          <a:prstGeom prst="rect">
            <a:avLst/>
          </a:prstGeom>
          <a:noFill/>
        </p:spPr>
        <p:txBody>
          <a:bodyPr wrap="square" lIns="0" rIns="0" tIns="0" bIns="0" anchor="ctr">
            <a:spAutoFit/>
          </a:bodyPr>
          <a:lstStyle/>
          <a:p>
            <a:pPr algn="l"/>
            <a:r>
              <a:rPr sz="2200" b="1" i="0">
                <a:solidFill>
                  <a:srgbClr val="FFFFFF"/>
                </a:solidFill>
                <a:latin typeface="Calibri"/>
              </a:rPr>
              <a:t>Needs Review</a:t>
            </a:r>
          </a:p>
        </p:txBody>
      </p:sp>
      <p:sp>
        <p:nvSpPr>
          <p:cNvPr id="16" name="TextBox 15"/>
          <p:cNvSpPr txBox="1"/>
          <p:nvPr/>
        </p:nvSpPr>
        <p:spPr>
          <a:xfrm>
            <a:off x="4572000" y="4023360"/>
            <a:ext cx="7040880" cy="685800"/>
          </a:xfrm>
          <a:prstGeom prst="rect">
            <a:avLst/>
          </a:prstGeom>
          <a:noFill/>
        </p:spPr>
        <p:txBody>
          <a:bodyPr wrap="square" lIns="0" rIns="0" tIns="0" bIns="0" anchor="ctr">
            <a:spAutoFit/>
          </a:bodyPr>
          <a:lstStyle/>
          <a:p>
            <a:pPr algn="l"/>
            <a:r>
              <a:rPr sz="1500" b="0" i="0">
                <a:solidFill>
                  <a:srgbClr val="FFFFFF"/>
                </a:solidFill>
                <a:latin typeface="Calibri"/>
              </a:rPr>
              <a:t>Promising w/ gaps, 35-54. Recruiter follow-up.</a:t>
            </a:r>
          </a:p>
        </p:txBody>
      </p:sp>
      <p:sp>
        <p:nvSpPr>
          <p:cNvPr id="17" name="Rectangle 16"/>
          <p:cNvSpPr/>
          <p:nvPr/>
        </p:nvSpPr>
        <p:spPr>
          <a:xfrm>
            <a:off x="640080" y="4983480"/>
            <a:ext cx="10972800" cy="105156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166360"/>
            <a:ext cx="3200400" cy="685800"/>
          </a:xfrm>
          <a:prstGeom prst="rect">
            <a:avLst/>
          </a:prstGeom>
          <a:noFill/>
        </p:spPr>
        <p:txBody>
          <a:bodyPr wrap="square" lIns="0" rIns="0" tIns="0" bIns="0" anchor="ctr">
            <a:spAutoFit/>
          </a:bodyPr>
          <a:lstStyle/>
          <a:p>
            <a:pPr algn="l"/>
            <a:r>
              <a:rPr sz="2200" b="1" i="0">
                <a:solidFill>
                  <a:srgbClr val="FFFFFF"/>
                </a:solidFill>
                <a:latin typeface="Calibri"/>
              </a:rPr>
              <a:t>Not Qualified</a:t>
            </a:r>
          </a:p>
        </p:txBody>
      </p:sp>
      <p:sp>
        <p:nvSpPr>
          <p:cNvPr id="19" name="TextBox 18"/>
          <p:cNvSpPr txBox="1"/>
          <p:nvPr/>
        </p:nvSpPr>
        <p:spPr>
          <a:xfrm>
            <a:off x="4572000" y="5166360"/>
            <a:ext cx="7040880" cy="685800"/>
          </a:xfrm>
          <a:prstGeom prst="rect">
            <a:avLst/>
          </a:prstGeom>
          <a:noFill/>
        </p:spPr>
        <p:txBody>
          <a:bodyPr wrap="square" lIns="0" rIns="0" tIns="0" bIns="0" anchor="ctr">
            <a:spAutoFit/>
          </a:bodyPr>
          <a:lstStyle/>
          <a:p>
            <a:pPr algn="l"/>
            <a:r>
              <a:rPr sz="1500" b="0" i="0">
                <a:solidFill>
                  <a:srgbClr val="FFFFFF"/>
                </a:solidFill>
                <a:latin typeface="Calibri"/>
              </a:rPr>
              <a:t>Below bar, &lt;35. Decline with courtesy.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DEMO</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Demo · drop a resume, watch the pipeline run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100"/>
              </a:spcAft>
              <a:buChar char="•"/>
            </a:pPr>
            <a:r>
              <a:rPr sz="1600" b="1">
                <a:solidFill>
                  <a:srgbClr val="CC9000"/>
                </a:solidFill>
                <a:latin typeface="Calibri"/>
              </a:rPr>
              <a:t>1.</a:t>
            </a:r>
            <a:r>
              <a:rPr sz="1600">
                <a:solidFill>
                  <a:srgbClr val="0F172A"/>
                </a:solidFill>
                <a:latin typeface="Calibri"/>
              </a:rPr>
              <a:t>  uv run hr-engine — FastAPI on :8090 (auto-kills the port first).</a:t>
            </a:r>
          </a:p>
          <a:p>
            <a:pPr algn="l" indent="-228600" marL="228600">
              <a:spcAft>
                <a:spcPts val="1100"/>
              </a:spcAft>
              <a:buChar char="•"/>
            </a:pPr>
            <a:r>
              <a:rPr sz="1600" b="1">
                <a:solidFill>
                  <a:srgbClr val="CC9000"/>
                </a:solidFill>
                <a:latin typeface="Calibri"/>
              </a:rPr>
              <a:t>2.</a:t>
            </a:r>
            <a:r>
              <a:rPr sz="1600">
                <a:solidFill>
                  <a:srgbClr val="0F172A"/>
                </a:solidFill>
                <a:latin typeface="Calibri"/>
              </a:rPr>
              <a:t>  Open http://localhost:8090/chat.html · upload Sarah Chen's resume.</a:t>
            </a:r>
          </a:p>
          <a:p>
            <a:pPr algn="l" indent="-228600" marL="228600">
              <a:spcAft>
                <a:spcPts val="1100"/>
              </a:spcAft>
              <a:buChar char="•"/>
            </a:pPr>
            <a:r>
              <a:rPr sz="1600" b="1">
                <a:solidFill>
                  <a:srgbClr val="CC9000"/>
                </a:solidFill>
                <a:latin typeface="Calibri"/>
              </a:rPr>
              <a:t>3.</a:t>
            </a:r>
            <a:r>
              <a:rPr sz="1600">
                <a:solidFill>
                  <a:srgbClr val="0F172A"/>
                </a:solidFill>
                <a:latin typeface="Calibri"/>
              </a:rPr>
              <a:t>  Watch the terminal — Rich-formatted node entries print live.</a:t>
            </a:r>
          </a:p>
          <a:p>
            <a:pPr algn="l" indent="-228600" marL="228600">
              <a:spcAft>
                <a:spcPts val="1100"/>
              </a:spcAft>
              <a:buChar char="•"/>
            </a:pPr>
            <a:r>
              <a:rPr sz="1600" b="1">
                <a:solidFill>
                  <a:srgbClr val="CC9000"/>
                </a:solidFill>
                <a:latin typeface="Calibri"/>
              </a:rPr>
              <a:t>4.</a:t>
            </a:r>
            <a:r>
              <a:rPr sz="1600">
                <a:solidFill>
                  <a:srgbClr val="0F172A"/>
                </a:solidFill>
                <a:latin typeface="Calibri"/>
              </a:rPr>
              <a:t>  Open http://localhost:8090/runs.html — split-panel pipeline trace.</a:t>
            </a:r>
          </a:p>
          <a:p>
            <a:pPr algn="l" indent="-228600" marL="228600">
              <a:spcAft>
                <a:spcPts val="1100"/>
              </a:spcAft>
              <a:buChar char="•"/>
            </a:pPr>
            <a:r>
              <a:rPr sz="1600" b="1">
                <a:solidFill>
                  <a:srgbClr val="CC9000"/>
                </a:solidFill>
                <a:latin typeface="Calibri"/>
              </a:rPr>
              <a:t>5.</a:t>
            </a:r>
            <a:r>
              <a:rPr sz="1600">
                <a:solidFill>
                  <a:srgbClr val="0F172A"/>
                </a:solidFill>
                <a:latin typeface="Calibri"/>
              </a:rPr>
              <a:t>  Spot the parallel branches: policy_expert and resume_analyst overlap in time.</a:t>
            </a:r>
          </a:p>
          <a:p>
            <a:pPr algn="l" indent="-228600" marL="228600">
              <a:spcAft>
                <a:spcPts val="1100"/>
              </a:spcAft>
              <a:buChar char="•"/>
            </a:pPr>
            <a:r>
              <a:rPr sz="1600" b="1">
                <a:solidFill>
                  <a:srgbClr val="CC9000"/>
                </a:solidFill>
                <a:latin typeface="Calibri"/>
              </a:rPr>
              <a:t>6.</a:t>
            </a:r>
            <a:r>
              <a:rPr sz="1600">
                <a:solidFill>
                  <a:srgbClr val="0F172A"/>
                </a:solidFill>
                <a:latin typeface="Calibri"/>
              </a:rPr>
              <a:t>  Open candidates.html — see disposition + reasoning + next steps.</a:t>
            </a:r>
          </a:p>
          <a:p>
            <a:pPr algn="l" indent="-228600" marL="228600">
              <a:spcAft>
                <a:spcPts val="1100"/>
              </a:spcAft>
              <a:buChar char="•"/>
            </a:pPr>
            <a:r>
              <a:rPr sz="1600" b="1">
                <a:solidFill>
                  <a:srgbClr val="CC9000"/>
                </a:solidFill>
                <a:latin typeface="Calibri"/>
              </a:rPr>
              <a:t>7.</a:t>
            </a:r>
            <a:r>
              <a:rPr sz="1600">
                <a:solidFill>
                  <a:srgbClr val="0F172A"/>
                </a:solidFill>
                <a:latin typeface="Calibri"/>
              </a:rPr>
              <a:t>  Re-run the same resume — LangGraph SqliteSaver finds the prior checkpoint.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WORKED EXAMPLE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Worked example · Sarah Chen → Strong Match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486400" cy="365760"/>
          </a:xfrm>
          <a:prstGeom prst="rect">
            <a:avLst/>
          </a:prstGeom>
          <a:noFill/>
        </p:spPr>
        <p:txBody>
          <a:bodyPr wrap="square" lIns="0" rIns="0" tIns="0" bIns="0" anchor="t">
            <a:spAutoFit/>
          </a:bodyPr>
          <a:lstStyle/>
          <a:p>
            <a:pPr algn="l"/>
            <a:r>
              <a:rPr sz="1200" b="1" i="0">
                <a:solidFill>
                  <a:srgbClr val="475569"/>
                </a:solidFill>
                <a:latin typeface="Consolas"/>
              </a:rPr>
              <a:t>Input · sample_resumes/RESUME_Sarah_Chen_AZ-104_Trainer-v3.txt</a:t>
            </a:r>
          </a:p>
        </p:txBody>
      </p:sp>
      <p:sp>
        <p:nvSpPr>
          <p:cNvPr id="9" name="Rectangle 8"/>
          <p:cNvSpPr/>
          <p:nvPr/>
        </p:nvSpPr>
        <p:spPr>
          <a:xfrm>
            <a:off x="548640" y="1691640"/>
            <a:ext cx="548640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801368"/>
            <a:ext cx="5212080" cy="4352544"/>
          </a:xfrm>
          <a:prstGeom prst="rect">
            <a:avLst/>
          </a:prstGeom>
          <a:noFill/>
        </p:spPr>
        <p:txBody>
          <a:bodyPr wrap="square" lIns="0" rIns="0" tIns="0" bIns="0">
            <a:spAutoFit/>
          </a:bodyPr>
          <a:lstStyle/>
          <a:p>
            <a:pPr>
              <a:spcAft>
                <a:spcPts val="0"/>
              </a:spcAft>
            </a:pPr>
            <a:r>
              <a:rPr sz="1100">
                <a:solidFill>
                  <a:srgbClr val="FFFFFF"/>
                </a:solidFill>
                <a:latin typeface="Consolas"/>
              </a:rPr>
              <a:t>Sarah Chen</a:t>
            </a:r>
          </a:p>
          <a:p>
            <a:pPr>
              <a:spcAft>
                <a:spcPts val="0"/>
              </a:spcAft>
            </a:pPr>
            <a:r>
              <a:rPr sz="1100">
                <a:solidFill>
                  <a:srgbClr val="FFFFFF"/>
                </a:solidFill>
                <a:latin typeface="Consolas"/>
              </a:rPr>
              <a:t>Senior Microsoft Certified Trainer (MCT)</a:t>
            </a:r>
          </a:p>
          <a:p>
            <a:pPr>
              <a:spcAft>
                <a:spcPts val="0"/>
              </a:spcAft>
            </a:pPr>
            <a:r>
              <a:rPr sz="1100">
                <a:solidFill>
                  <a:srgbClr val="FFFFFF"/>
                </a:solidFill>
                <a:latin typeface="Consolas"/>
              </a:rPr>
              <a:t>seattle.wa  |  sarah@example.com</a:t>
            </a:r>
          </a:p>
          <a:p>
            <a:pPr>
              <a:spcAft>
                <a:spcPts val="0"/>
              </a:spcAft>
            </a:pPr>
            <a:r>
              <a:rPr sz="1100">
                <a:solidFill>
                  <a:srgbClr val="FFFFFF"/>
                </a:solidFill>
                <a:latin typeface="Consolas"/>
              </a:rPr>
              <a:t> </a:t>
            </a:r>
          </a:p>
          <a:p>
            <a:pPr>
              <a:spcAft>
                <a:spcPts val="0"/>
              </a:spcAft>
            </a:pPr>
            <a:r>
              <a:rPr sz="1100">
                <a:solidFill>
                  <a:srgbClr val="FFFFFF"/>
                </a:solidFill>
                <a:latin typeface="Consolas"/>
              </a:rPr>
              <a:t>CERTS</a:t>
            </a:r>
          </a:p>
          <a:p>
            <a:pPr>
              <a:spcAft>
                <a:spcPts val="0"/>
              </a:spcAft>
            </a:pPr>
            <a:r>
              <a:rPr sz="1100">
                <a:solidFill>
                  <a:srgbClr val="FFFFFF"/>
                </a:solidFill>
                <a:latin typeface="Consolas"/>
              </a:rPr>
              <a:t>- MCT (active, 7 years)</a:t>
            </a:r>
          </a:p>
          <a:p>
            <a:pPr>
              <a:spcAft>
                <a:spcPts val="0"/>
              </a:spcAft>
            </a:pPr>
            <a:r>
              <a:rPr sz="1100">
                <a:solidFill>
                  <a:srgbClr val="FFFFFF"/>
                </a:solidFill>
                <a:latin typeface="Consolas"/>
              </a:rPr>
              <a:t>- AZ-104 Azure Administrator</a:t>
            </a:r>
          </a:p>
          <a:p>
            <a:pPr>
              <a:spcAft>
                <a:spcPts val="0"/>
              </a:spcAft>
            </a:pPr>
            <a:r>
              <a:rPr sz="1100">
                <a:solidFill>
                  <a:srgbClr val="FFFFFF"/>
                </a:solidFill>
                <a:latin typeface="Consolas"/>
              </a:rPr>
              <a:t>- AZ-305 Azure Solutions Architect</a:t>
            </a:r>
          </a:p>
          <a:p>
            <a:pPr>
              <a:spcAft>
                <a:spcPts val="0"/>
              </a:spcAft>
            </a:pPr>
            <a:r>
              <a:rPr sz="1100">
                <a:solidFill>
                  <a:srgbClr val="FFFFFF"/>
                </a:solidFill>
                <a:latin typeface="Consolas"/>
              </a:rPr>
              <a:t>- AZ-400 DevOps Engineer</a:t>
            </a:r>
          </a:p>
          <a:p>
            <a:pPr>
              <a:spcAft>
                <a:spcPts val="0"/>
              </a:spcAft>
            </a:pPr>
            <a:r>
              <a:rPr sz="1100">
                <a:solidFill>
                  <a:srgbClr val="FFFFFF"/>
                </a:solidFill>
                <a:latin typeface="Consolas"/>
              </a:rPr>
              <a:t>- AI-102 Azure AI Engineer</a:t>
            </a:r>
          </a:p>
          <a:p>
            <a:pPr>
              <a:spcAft>
                <a:spcPts val="0"/>
              </a:spcAft>
            </a:pPr>
            <a:r>
              <a:rPr sz="1100">
                <a:solidFill>
                  <a:srgbClr val="FFFFFF"/>
                </a:solidFill>
                <a:latin typeface="Consolas"/>
              </a:rPr>
              <a:t> </a:t>
            </a:r>
          </a:p>
          <a:p>
            <a:pPr>
              <a:spcAft>
                <a:spcPts val="0"/>
              </a:spcAft>
            </a:pPr>
            <a:r>
              <a:rPr sz="1100">
                <a:solidFill>
                  <a:srgbClr val="FFFFFF"/>
                </a:solidFill>
                <a:latin typeface="Consolas"/>
              </a:rPr>
              <a:t>DELIVERY</a:t>
            </a:r>
          </a:p>
          <a:p>
            <a:pPr>
              <a:spcAft>
                <a:spcPts val="0"/>
              </a:spcAft>
            </a:pPr>
            <a:r>
              <a:rPr sz="1100">
                <a:solidFill>
                  <a:srgbClr val="FFFFFF"/>
                </a:solidFill>
                <a:latin typeface="Consolas"/>
              </a:rPr>
              <a:t>- 240 sessions delivered in 2024</a:t>
            </a:r>
          </a:p>
          <a:p>
            <a:pPr>
              <a:spcAft>
                <a:spcPts val="0"/>
              </a:spcAft>
            </a:pPr>
            <a:r>
              <a:rPr sz="1100">
                <a:solidFill>
                  <a:srgbClr val="FFFFFF"/>
                </a:solidFill>
                <a:latin typeface="Consolas"/>
              </a:rPr>
              <a:t>- 4.8/5.0 avg learner satisfaction</a:t>
            </a:r>
          </a:p>
          <a:p>
            <a:pPr>
              <a:spcAft>
                <a:spcPts val="0"/>
              </a:spcAft>
            </a:pPr>
            <a:r>
              <a:rPr sz="1100">
                <a:solidFill>
                  <a:srgbClr val="FFFFFF"/>
                </a:solidFill>
                <a:latin typeface="Consolas"/>
              </a:rPr>
              <a:t>- Authored AZ-104 cram course</a:t>
            </a:r>
          </a:p>
          <a:p>
            <a:pPr>
              <a:spcAft>
                <a:spcPts val="0"/>
              </a:spcAft>
            </a:pPr>
            <a:r>
              <a:rPr sz="1100">
                <a:solidFill>
                  <a:srgbClr val="FFFFFF"/>
                </a:solidFill>
                <a:latin typeface="Consolas"/>
              </a:rPr>
              <a:t>  for Pluralsight (8 hrs)</a:t>
            </a:r>
          </a:p>
          <a:p>
            <a:pPr>
              <a:spcAft>
                <a:spcPts val="0"/>
              </a:spcAft>
            </a:pPr>
            <a:r>
              <a:rPr sz="1100">
                <a:solidFill>
                  <a:srgbClr val="FFFFFF"/>
                </a:solidFill>
                <a:latin typeface="Consolas"/>
              </a:rPr>
              <a:t> </a:t>
            </a:r>
          </a:p>
          <a:p>
            <a:pPr>
              <a:spcAft>
                <a:spcPts val="0"/>
              </a:spcAft>
            </a:pPr>
            <a:r>
              <a:rPr sz="1100">
                <a:solidFill>
                  <a:srgbClr val="FFFFFF"/>
                </a:solidFill>
                <a:latin typeface="Consolas"/>
              </a:rPr>
              <a:t>EXPERIENCE</a:t>
            </a:r>
          </a:p>
          <a:p>
            <a:pPr>
              <a:spcAft>
                <a:spcPts val="0"/>
              </a:spcAft>
            </a:pPr>
            <a:r>
              <a:rPr sz="1100">
                <a:solidFill>
                  <a:srgbClr val="FFFFFF"/>
                </a:solidFill>
                <a:latin typeface="Consolas"/>
              </a:rPr>
              <a:t>- 12 yrs Microsoft Azure</a:t>
            </a:r>
          </a:p>
          <a:p>
            <a:pPr>
              <a:spcAft>
                <a:spcPts val="0"/>
              </a:spcAft>
            </a:pPr>
            <a:r>
              <a:rPr sz="1100">
                <a:solidFill>
                  <a:srgbClr val="FFFFFF"/>
                </a:solidFill>
                <a:latin typeface="Consolas"/>
              </a:rPr>
              <a:t>- 8 yrs training delivery</a:t>
            </a:r>
          </a:p>
        </p:txBody>
      </p:sp>
      <p:sp>
        <p:nvSpPr>
          <p:cNvPr id="12" name="TextBox 11"/>
          <p:cNvSpPr txBox="1"/>
          <p:nvPr/>
        </p:nvSpPr>
        <p:spPr>
          <a:xfrm>
            <a:off x="6309360" y="1325880"/>
            <a:ext cx="5486400" cy="365760"/>
          </a:xfrm>
          <a:prstGeom prst="rect">
            <a:avLst/>
          </a:prstGeom>
          <a:noFill/>
        </p:spPr>
        <p:txBody>
          <a:bodyPr wrap="square" lIns="0" rIns="0" tIns="0" bIns="0" anchor="t">
            <a:spAutoFit/>
          </a:bodyPr>
          <a:lstStyle/>
          <a:p>
            <a:pPr algn="l"/>
            <a:r>
              <a:rPr sz="1200" b="1" i="0">
                <a:solidFill>
                  <a:srgbClr val="475569"/>
                </a:solidFill>
                <a:latin typeface="Consolas"/>
              </a:rPr>
              <a:t>Output · data/outgoing/&lt;id&gt;.json (excerpt)</a:t>
            </a:r>
          </a:p>
        </p:txBody>
      </p:sp>
      <p:sp>
        <p:nvSpPr>
          <p:cNvPr id="13" name="Rectangle 12"/>
          <p:cNvSpPr/>
          <p:nvPr/>
        </p:nvSpPr>
        <p:spPr>
          <a:xfrm>
            <a:off x="6309360" y="1691640"/>
            <a:ext cx="548640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69164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801368"/>
            <a:ext cx="5212080" cy="4352544"/>
          </a:xfrm>
          <a:prstGeom prst="rect">
            <a:avLst/>
          </a:prstGeom>
          <a:noFill/>
        </p:spPr>
        <p:txBody>
          <a:bodyPr wrap="square" lIns="0" rIns="0" tIns="0" bIns="0">
            <a:spAutoFit/>
          </a:bodyPr>
          <a:lstStyle/>
          <a:p>
            <a:pPr>
              <a:spcAft>
                <a:spcPts val="0"/>
              </a:spcAft>
            </a:pPr>
            <a:r>
              <a:rPr sz="1100">
                <a:solidFill>
                  <a:srgbClr val="FFFFFF"/>
                </a:solidFill>
                <a:latin typeface="Consolas"/>
              </a:rPr>
              <a:t>{</a:t>
            </a:r>
          </a:p>
          <a:p>
            <a:pPr>
              <a:spcAft>
                <a:spcPts val="0"/>
              </a:spcAft>
            </a:pPr>
            <a:r>
              <a:rPr sz="1100">
                <a:solidFill>
                  <a:srgbClr val="FFFFFF"/>
                </a:solidFill>
                <a:latin typeface="Consolas"/>
              </a:rPr>
              <a:t>  "candidate_name": "Sarah Chen",</a:t>
            </a:r>
          </a:p>
          <a:p>
            <a:pPr>
              <a:spcAft>
                <a:spcPts val="0"/>
              </a:spcAft>
            </a:pPr>
            <a:r>
              <a:rPr sz="1100">
                <a:solidFill>
                  <a:srgbClr val="FFFFFF"/>
                </a:solidFill>
                <a:latin typeface="Consolas"/>
              </a:rPr>
              <a:t>  "decision": "Strong Match",</a:t>
            </a:r>
          </a:p>
          <a:p>
            <a:pPr>
              <a:spcAft>
                <a:spcPts val="0"/>
              </a:spcAft>
            </a:pPr>
            <a:r>
              <a:rPr sz="1100">
                <a:solidFill>
                  <a:srgbClr val="FFFFFF"/>
                </a:solidFill>
                <a:latin typeface="Consolas"/>
              </a:rPr>
              <a:t>  "overall_score": 92,</a:t>
            </a:r>
          </a:p>
          <a:p>
            <a:pPr>
              <a:spcAft>
                <a:spcPts val="0"/>
              </a:spcAft>
            </a:pPr>
            <a:r>
              <a:rPr sz="1100">
                <a:solidFill>
                  <a:srgbClr val="FFFFFF"/>
                </a:solidFill>
                <a:latin typeface="Consolas"/>
              </a:rPr>
              <a:t>  "skills_match_score": 95,</a:t>
            </a:r>
          </a:p>
          <a:p>
            <a:pPr>
              <a:spcAft>
                <a:spcPts val="0"/>
              </a:spcAft>
            </a:pPr>
            <a:r>
              <a:rPr sz="1100">
                <a:solidFill>
                  <a:srgbClr val="FFFFFF"/>
                </a:solidFill>
                <a:latin typeface="Consolas"/>
              </a:rPr>
              <a:t>  "experience_score": 90,</a:t>
            </a:r>
          </a:p>
          <a:p>
            <a:pPr>
              <a:spcAft>
                <a:spcPts val="0"/>
              </a:spcAft>
            </a:pPr>
            <a:r>
              <a:rPr sz="1100">
                <a:solidFill>
                  <a:srgbClr val="FFFFFF"/>
                </a:solidFill>
                <a:latin typeface="Consolas"/>
              </a:rPr>
              <a:t>  "strengths": [</a:t>
            </a:r>
          </a:p>
          <a:p>
            <a:pPr>
              <a:spcAft>
                <a:spcPts val="0"/>
              </a:spcAft>
            </a:pPr>
            <a:r>
              <a:rPr sz="1100">
                <a:solidFill>
                  <a:srgbClr val="FFFFFF"/>
                </a:solidFill>
                <a:latin typeface="Consolas"/>
              </a:rPr>
              <a:t>    "Active MCT (7 years)",</a:t>
            </a:r>
          </a:p>
          <a:p>
            <a:pPr>
              <a:spcAft>
                <a:spcPts val="0"/>
              </a:spcAft>
            </a:pPr>
            <a:r>
              <a:rPr sz="1100">
                <a:solidFill>
                  <a:srgbClr val="FFFFFF"/>
                </a:solidFill>
                <a:latin typeface="Consolas"/>
              </a:rPr>
              <a:t>    "Deep AZ cert stack",</a:t>
            </a:r>
          </a:p>
          <a:p>
            <a:pPr>
              <a:spcAft>
                <a:spcPts val="0"/>
              </a:spcAft>
            </a:pPr>
            <a:r>
              <a:rPr sz="1100">
                <a:solidFill>
                  <a:srgbClr val="FFFFFF"/>
                </a:solidFill>
                <a:latin typeface="Consolas"/>
              </a:rPr>
              <a:t>    "240 sessions, 4.8 rating",</a:t>
            </a:r>
          </a:p>
          <a:p>
            <a:pPr>
              <a:spcAft>
                <a:spcPts val="0"/>
              </a:spcAft>
            </a:pPr>
            <a:r>
              <a:rPr sz="1100">
                <a:solidFill>
                  <a:srgbClr val="FFFFFF"/>
                </a:solidFill>
                <a:latin typeface="Consolas"/>
              </a:rPr>
              <a:t>    "Course authorship"</a:t>
            </a:r>
          </a:p>
          <a:p>
            <a:pPr>
              <a:spcAft>
                <a:spcPts val="0"/>
              </a:spcAft>
            </a:pPr>
            <a:r>
              <a:rPr sz="1100">
                <a:solidFill>
                  <a:srgbClr val="FFFFFF"/>
                </a:solidFill>
                <a:latin typeface="Consolas"/>
              </a:rPr>
              <a:t>  ],</a:t>
            </a:r>
          </a:p>
          <a:p>
            <a:pPr>
              <a:spcAft>
                <a:spcPts val="0"/>
              </a:spcAft>
            </a:pPr>
            <a:r>
              <a:rPr sz="1100">
                <a:solidFill>
                  <a:srgbClr val="FFFFFF"/>
                </a:solidFill>
                <a:latin typeface="Consolas"/>
              </a:rPr>
              <a:t>  "red_flags": [],</a:t>
            </a:r>
          </a:p>
          <a:p>
            <a:pPr>
              <a:spcAft>
                <a:spcPts val="0"/>
              </a:spcAft>
            </a:pPr>
            <a:r>
              <a:rPr sz="1100">
                <a:solidFill>
                  <a:srgbClr val="FFFFFF"/>
                </a:solidFill>
                <a:latin typeface="Consolas"/>
              </a:rPr>
              <a:t>  "reasoning": "Exceeds all MCT</a:t>
            </a:r>
          </a:p>
          <a:p>
            <a:pPr>
              <a:spcAft>
                <a:spcPts val="0"/>
              </a:spcAft>
            </a:pPr>
            <a:r>
              <a:rPr sz="1100">
                <a:solidFill>
                  <a:srgbClr val="FFFFFF"/>
                </a:solidFill>
                <a:latin typeface="Consolas"/>
              </a:rPr>
              <a:t>   requirements. Recommend immediate</a:t>
            </a:r>
          </a:p>
          <a:p>
            <a:pPr>
              <a:spcAft>
                <a:spcPts val="0"/>
              </a:spcAft>
            </a:pPr>
            <a:r>
              <a:rPr sz="1100">
                <a:solidFill>
                  <a:srgbClr val="FFFFFF"/>
                </a:solidFill>
                <a:latin typeface="Consolas"/>
              </a:rPr>
              <a:t>   interview for senior trainer role.",</a:t>
            </a:r>
          </a:p>
          <a:p>
            <a:pPr>
              <a:spcAft>
                <a:spcPts val="0"/>
              </a:spcAft>
            </a:pPr>
            <a:r>
              <a:rPr sz="1100">
                <a:solidFill>
                  <a:srgbClr val="FFFFFF"/>
                </a:solidFill>
                <a:latin typeface="Consolas"/>
              </a:rPr>
              <a:t>  "next_steps": [</a:t>
            </a:r>
          </a:p>
          <a:p>
            <a:pPr>
              <a:spcAft>
                <a:spcPts val="0"/>
              </a:spcAft>
            </a:pPr>
            <a:r>
              <a:rPr sz="1100">
                <a:solidFill>
                  <a:srgbClr val="FFFFFF"/>
                </a:solidFill>
                <a:latin typeface="Consolas"/>
              </a:rPr>
              <a:t>    "Schedule technical interview",</a:t>
            </a:r>
          </a:p>
          <a:p>
            <a:pPr>
              <a:spcAft>
                <a:spcPts val="0"/>
              </a:spcAft>
            </a:pPr>
            <a:r>
              <a:rPr sz="1100">
                <a:solidFill>
                  <a:srgbClr val="FFFFFF"/>
                </a:solidFill>
                <a:latin typeface="Consolas"/>
              </a:rPr>
              <a:t>    "Send AZ-305 sample lesson"</a:t>
            </a:r>
          </a:p>
          <a:p>
            <a:pPr>
              <a:spcAft>
                <a:spcPts val="0"/>
              </a:spcAft>
            </a:pPr>
            <a:r>
              <a:rPr sz="1100">
                <a:solidFill>
                  <a:srgbClr val="FFFFFF"/>
                </a:solidFill>
                <a:latin typeface="Consolas"/>
              </a:rPr>
              <a:t>  ]</a:t>
            </a:r>
          </a:p>
          <a:p>
            <a:pPr>
              <a:spcAft>
                <a:spcPts val="0"/>
              </a:spcAft>
            </a:pPr>
            <a:r>
              <a:rPr sz="1100">
                <a:solidFill>
                  <a:srgbClr val="FFFFFF"/>
                </a:solidFill>
                <a:latin typeface="Consolas"/>
              </a:rP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MEMORY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Chat memory — the two-layer pattern, drawn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3200400" cy="22860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08760"/>
            <a:ext cx="3200400" cy="365760"/>
          </a:xfrm>
          <a:prstGeom prst="rect">
            <a:avLst/>
          </a:prstGeom>
          <a:noFill/>
        </p:spPr>
        <p:txBody>
          <a:bodyPr wrap="square" lIns="0" rIns="0" tIns="0" bIns="0" anchor="t">
            <a:spAutoFit/>
          </a:bodyPr>
          <a:lstStyle/>
          <a:p>
            <a:pPr algn="ctr"/>
            <a:r>
              <a:rPr sz="1200" b="1" i="0">
                <a:solidFill>
                  <a:srgbClr val="07122C"/>
                </a:solidFill>
                <a:latin typeface="Calibri"/>
              </a:rPr>
              <a:t>BROWSER</a:t>
            </a:r>
          </a:p>
        </p:txBody>
      </p:sp>
      <p:sp>
        <p:nvSpPr>
          <p:cNvPr id="10" name="TextBox 9"/>
          <p:cNvSpPr txBox="1"/>
          <p:nvPr/>
        </p:nvSpPr>
        <p:spPr>
          <a:xfrm>
            <a:off x="548640" y="1874519"/>
            <a:ext cx="3200400" cy="365760"/>
          </a:xfrm>
          <a:prstGeom prst="rect">
            <a:avLst/>
          </a:prstGeom>
          <a:noFill/>
        </p:spPr>
        <p:txBody>
          <a:bodyPr wrap="square" lIns="0" rIns="0" tIns="0" bIns="0" anchor="t">
            <a:spAutoFit/>
          </a:bodyPr>
          <a:lstStyle/>
          <a:p>
            <a:pPr algn="ctr"/>
            <a:r>
              <a:rPr sz="1400" b="1" i="0">
                <a:solidFill>
                  <a:srgbClr val="07122C"/>
                </a:solidFill>
                <a:latin typeface="Consolas"/>
              </a:rPr>
              <a:t>chat.html</a:t>
            </a:r>
          </a:p>
        </p:txBody>
      </p:sp>
      <p:sp>
        <p:nvSpPr>
          <p:cNvPr id="11" name="Rectangle 10"/>
          <p:cNvSpPr/>
          <p:nvPr/>
        </p:nvSpPr>
        <p:spPr>
          <a:xfrm>
            <a:off x="777240" y="2377440"/>
            <a:ext cx="2743200" cy="1188720"/>
          </a:xfrm>
          <a:prstGeom prst="rect">
            <a:avLst/>
          </a:prstGeom>
          <a:solidFill>
            <a:srgbClr val="F8FAFC"/>
          </a:solidFill>
          <a:ln w="9525">
            <a:solidFill>
              <a:srgbClr val="0712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68880"/>
            <a:ext cx="2743200" cy="365760"/>
          </a:xfrm>
          <a:prstGeom prst="rect">
            <a:avLst/>
          </a:prstGeom>
          <a:noFill/>
        </p:spPr>
        <p:txBody>
          <a:bodyPr wrap="square" lIns="0" rIns="0" tIns="0" bIns="0" anchor="t">
            <a:spAutoFit/>
          </a:bodyPr>
          <a:lstStyle/>
          <a:p>
            <a:pPr algn="ctr"/>
            <a:r>
              <a:rPr sz="1300" b="1" i="0">
                <a:solidFill>
                  <a:srgbClr val="0B1B3F"/>
                </a:solidFill>
                <a:latin typeface="Consolas"/>
              </a:rPr>
              <a:t>localStorage</a:t>
            </a:r>
          </a:p>
        </p:txBody>
      </p:sp>
      <p:sp>
        <p:nvSpPr>
          <p:cNvPr id="13" name="TextBox 12"/>
          <p:cNvSpPr txBox="1"/>
          <p:nvPr/>
        </p:nvSpPr>
        <p:spPr>
          <a:xfrm>
            <a:off x="777240" y="2834640"/>
            <a:ext cx="2743200" cy="640080"/>
          </a:xfrm>
          <a:prstGeom prst="rect">
            <a:avLst/>
          </a:prstGeom>
          <a:noFill/>
        </p:spPr>
        <p:txBody>
          <a:bodyPr wrap="square" lIns="0" rIns="0" tIns="0" bIns="0" anchor="t">
            <a:spAutoFit/>
          </a:bodyPr>
          <a:lstStyle/>
          <a:p>
            <a:pPr algn="ctr"/>
            <a:r>
              <a:rPr sz="1000" b="0" i="0">
                <a:solidFill>
                  <a:srgbClr val="0F172A"/>
                </a:solidFill>
                <a:latin typeface="Calibri"/>
              </a:rPr>
              <a:t>session_id
last 50 turns
instant restore</a:t>
            </a:r>
          </a:p>
        </p:txBody>
      </p:sp>
      <p:sp>
        <p:nvSpPr>
          <p:cNvPr id="14" name="Rectangle 13"/>
          <p:cNvSpPr/>
          <p:nvPr/>
        </p:nvSpPr>
        <p:spPr>
          <a:xfrm>
            <a:off x="4572000" y="1417320"/>
            <a:ext cx="3200400" cy="2286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508760"/>
            <a:ext cx="3200400" cy="365760"/>
          </a:xfrm>
          <a:prstGeom prst="rect">
            <a:avLst/>
          </a:prstGeom>
          <a:noFill/>
        </p:spPr>
        <p:txBody>
          <a:bodyPr wrap="square" lIns="0" rIns="0" tIns="0" bIns="0" anchor="t">
            <a:spAutoFit/>
          </a:bodyPr>
          <a:lstStyle/>
          <a:p>
            <a:pPr algn="ctr"/>
            <a:r>
              <a:rPr sz="1200" b="1" i="0">
                <a:solidFill>
                  <a:srgbClr val="07122C"/>
                </a:solidFill>
                <a:latin typeface="Calibri"/>
              </a:rPr>
              <a:t>FASTAPI :8090</a:t>
            </a:r>
          </a:p>
        </p:txBody>
      </p:sp>
      <p:sp>
        <p:nvSpPr>
          <p:cNvPr id="16" name="TextBox 15"/>
          <p:cNvSpPr txBox="1"/>
          <p:nvPr/>
        </p:nvSpPr>
        <p:spPr>
          <a:xfrm>
            <a:off x="4572000" y="1874519"/>
            <a:ext cx="3200400" cy="365760"/>
          </a:xfrm>
          <a:prstGeom prst="rect">
            <a:avLst/>
          </a:prstGeom>
          <a:noFill/>
        </p:spPr>
        <p:txBody>
          <a:bodyPr wrap="square" lIns="0" rIns="0" tIns="0" bIns="0" anchor="t">
            <a:spAutoFit/>
          </a:bodyPr>
          <a:lstStyle/>
          <a:p>
            <a:pPr algn="ctr"/>
            <a:r>
              <a:rPr sz="1400" b="1" i="0">
                <a:solidFill>
                  <a:srgbClr val="07122C"/>
                </a:solidFill>
                <a:latin typeface="Consolas"/>
              </a:rPr>
              <a:t>/api/chat</a:t>
            </a:r>
          </a:p>
        </p:txBody>
      </p:sp>
      <p:sp>
        <p:nvSpPr>
          <p:cNvPr id="17" name="Rectangle 16"/>
          <p:cNvSpPr/>
          <p:nvPr/>
        </p:nvSpPr>
        <p:spPr>
          <a:xfrm>
            <a:off x="4800600" y="2377440"/>
            <a:ext cx="2743200" cy="1188720"/>
          </a:xfrm>
          <a:prstGeom prst="rect">
            <a:avLst/>
          </a:prstGeom>
          <a:solidFill>
            <a:srgbClr val="F8FAFC"/>
          </a:solidFill>
          <a:ln w="9525">
            <a:solidFill>
              <a:srgbClr val="0712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468880"/>
            <a:ext cx="2743200" cy="365760"/>
          </a:xfrm>
          <a:prstGeom prst="rect">
            <a:avLst/>
          </a:prstGeom>
          <a:noFill/>
        </p:spPr>
        <p:txBody>
          <a:bodyPr wrap="square" lIns="0" rIns="0" tIns="0" bIns="0" anchor="t">
            <a:spAutoFit/>
          </a:bodyPr>
          <a:lstStyle/>
          <a:p>
            <a:pPr algn="ctr"/>
            <a:r>
              <a:rPr sz="1200" b="1" i="0">
                <a:solidFill>
                  <a:srgbClr val="0B1B3F"/>
                </a:solidFill>
                <a:latin typeface="Consolas"/>
              </a:rPr>
              <a:t>data/chat_sessions/</a:t>
            </a:r>
          </a:p>
        </p:txBody>
      </p:sp>
      <p:sp>
        <p:nvSpPr>
          <p:cNvPr id="19" name="TextBox 18"/>
          <p:cNvSpPr txBox="1"/>
          <p:nvPr/>
        </p:nvSpPr>
        <p:spPr>
          <a:xfrm>
            <a:off x="4800600" y="2834640"/>
            <a:ext cx="2743200" cy="640080"/>
          </a:xfrm>
          <a:prstGeom prst="rect">
            <a:avLst/>
          </a:prstGeom>
          <a:noFill/>
        </p:spPr>
        <p:txBody>
          <a:bodyPr wrap="square" lIns="0" rIns="0" tIns="0" bIns="0" anchor="t">
            <a:spAutoFit/>
          </a:bodyPr>
          <a:lstStyle/>
          <a:p>
            <a:pPr algn="ctr"/>
            <a:r>
              <a:rPr sz="1000" b="0" i="0">
                <a:solidFill>
                  <a:srgbClr val="0F172A"/>
                </a:solidFill>
                <a:latin typeface="Calibri"/>
              </a:rPr>
              <a:t>{session_id}.json
full history
survives clears</a:t>
            </a:r>
          </a:p>
        </p:txBody>
      </p:sp>
      <p:sp>
        <p:nvSpPr>
          <p:cNvPr id="20" name="Rectangle 19"/>
          <p:cNvSpPr/>
          <p:nvPr/>
        </p:nvSpPr>
        <p:spPr>
          <a:xfrm>
            <a:off x="8595360" y="1417320"/>
            <a:ext cx="3108960" cy="2286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0" y="1600200"/>
            <a:ext cx="3108960" cy="365760"/>
          </a:xfrm>
          <a:prstGeom prst="rect">
            <a:avLst/>
          </a:prstGeom>
          <a:noFill/>
        </p:spPr>
        <p:txBody>
          <a:bodyPr wrap="square" lIns="0" rIns="0" tIns="0" bIns="0" anchor="t">
            <a:spAutoFit/>
          </a:bodyPr>
          <a:lstStyle/>
          <a:p>
            <a:pPr algn="ctr"/>
            <a:r>
              <a:rPr sz="1200" b="1" i="0">
                <a:solidFill>
                  <a:srgbClr val="FFB703"/>
                </a:solidFill>
                <a:latin typeface="Calibri"/>
              </a:rPr>
              <a:t>PAST CONTEXT</a:t>
            </a:r>
          </a:p>
        </p:txBody>
      </p:sp>
      <p:sp>
        <p:nvSpPr>
          <p:cNvPr id="22" name="TextBox 21"/>
          <p:cNvSpPr txBox="1"/>
          <p:nvPr/>
        </p:nvSpPr>
        <p:spPr>
          <a:xfrm>
            <a:off x="8595360" y="2011680"/>
            <a:ext cx="3108960" cy="365760"/>
          </a:xfrm>
          <a:prstGeom prst="rect">
            <a:avLst/>
          </a:prstGeom>
          <a:noFill/>
        </p:spPr>
        <p:txBody>
          <a:bodyPr wrap="square" lIns="0" rIns="0" tIns="0" bIns="0" anchor="t">
            <a:spAutoFit/>
          </a:bodyPr>
          <a:lstStyle/>
          <a:p>
            <a:pPr algn="ctr"/>
            <a:r>
              <a:rPr sz="1100" b="1" i="0">
                <a:solidFill>
                  <a:srgbClr val="FFFFFF"/>
                </a:solidFill>
                <a:latin typeface="Consolas"/>
              </a:rPr>
              <a:t>_build_past_session_context()</a:t>
            </a:r>
          </a:p>
        </p:txBody>
      </p:sp>
      <p:sp>
        <p:nvSpPr>
          <p:cNvPr id="23" name="TextBox 22"/>
          <p:cNvSpPr txBox="1"/>
          <p:nvPr/>
        </p:nvSpPr>
        <p:spPr>
          <a:xfrm>
            <a:off x="8778240" y="2468880"/>
            <a:ext cx="2743200" cy="1097280"/>
          </a:xfrm>
          <a:prstGeom prst="rect">
            <a:avLst/>
          </a:prstGeom>
          <a:noFill/>
        </p:spPr>
        <p:txBody>
          <a:bodyPr wrap="square" lIns="0" rIns="0" tIns="0" bIns="0" anchor="t">
            <a:spAutoFit/>
          </a:bodyPr>
          <a:lstStyle/>
          <a:p>
            <a:pPr algn="ctr"/>
            <a:r>
              <a:rPr sz="1200" b="0" i="0">
                <a:solidFill>
                  <a:srgbClr val="FFFFFF"/>
                </a:solidFill>
                <a:latin typeface="Calibri"/>
              </a:rPr>
              <a:t>Last 6 turns from
last 2 sessions
injected into the
ChatConcierge
task prompt.</a:t>
            </a:r>
          </a:p>
        </p:txBody>
      </p:sp>
      <p:sp>
        <p:nvSpPr>
          <p:cNvPr id="24" name="Rectangle 23"/>
          <p:cNvSpPr/>
          <p:nvPr/>
        </p:nvSpPr>
        <p:spPr>
          <a:xfrm>
            <a:off x="2286000" y="4206240"/>
            <a:ext cx="7772400" cy="9144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0" y="4206240"/>
            <a:ext cx="7772400" cy="914400"/>
          </a:xfrm>
          <a:prstGeom prst="rect">
            <a:avLst/>
          </a:prstGeom>
          <a:noFill/>
        </p:spPr>
        <p:txBody>
          <a:bodyPr wrap="square" lIns="0" rIns="0" tIns="0" bIns="0" anchor="ctr">
            <a:spAutoFit/>
          </a:bodyPr>
          <a:lstStyle/>
          <a:p>
            <a:pPr algn="ctr"/>
            <a:r>
              <a:rPr sz="1400" b="1" i="0">
                <a:solidFill>
                  <a:srgbClr val="FFFFFF"/>
                </a:solidFill>
                <a:latin typeface="Calibri"/>
              </a:rPr>
              <a:t>ChatConciergeAgent ('Alex') · Crew(agents=[alex], tasks=[task]).kickoff()</a:t>
            </a:r>
          </a:p>
        </p:txBody>
      </p:sp>
      <p:sp>
        <p:nvSpPr>
          <p:cNvPr id="26" name="Right Arrow 25"/>
          <p:cNvSpPr/>
          <p:nvPr/>
        </p:nvSpPr>
        <p:spPr>
          <a:xfrm>
            <a:off x="3749039" y="2606040"/>
            <a:ext cx="82296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7772400" y="2606040"/>
            <a:ext cx="82296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rot="5400000">
            <a:off x="6400800" y="3749039"/>
            <a:ext cx="36576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760720"/>
            <a:ext cx="10972800" cy="457200"/>
          </a:xfrm>
          <a:prstGeom prst="rect">
            <a:avLst/>
          </a:prstGeom>
          <a:noFill/>
        </p:spPr>
        <p:txBody>
          <a:bodyPr wrap="square" lIns="0" rIns="0" tIns="0" bIns="0" anchor="t">
            <a:spAutoFit/>
          </a:bodyPr>
          <a:lstStyle/>
          <a:p>
            <a:pPr algn="ctr"/>
            <a:r>
              <a:rPr sz="1300" b="0" i="1">
                <a:solidFill>
                  <a:srgbClr val="475569"/>
                </a:solidFill>
                <a:latin typeface="Calibri"/>
              </a:rPr>
              <a:t>Two layers = speed AND durability. The past-context injector is the third layer that makes Alex feel continuous.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DEBUG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Debugging the pipeline in VS Code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000"/>
              </a:spcAft>
              <a:buChar char="•"/>
            </a:pPr>
            <a:r>
              <a:rPr sz="1400" b="1">
                <a:solidFill>
                  <a:srgbClr val="0B1B3F"/>
                </a:solidFill>
                <a:latin typeface="Calibri"/>
              </a:rPr>
              <a:t>Open the right folder</a:t>
            </a:r>
            <a:r>
              <a:rPr sz="1400">
                <a:solidFill>
                  <a:srgbClr val="0F172A"/>
                </a:solidFill>
                <a:latin typeface="Calibri"/>
              </a:rPr>
              <a:t>  code C:/github/agents2 — NOT contoso-hr-agent. PYTHONPATH depends on it.</a:t>
            </a:r>
          </a:p>
          <a:p>
            <a:pPr algn="l" indent="-228600" marL="228600">
              <a:spcAft>
                <a:spcPts val="1000"/>
              </a:spcAft>
              <a:buChar char="•"/>
            </a:pPr>
            <a:r>
              <a:rPr sz="1400" b="1">
                <a:solidFill>
                  <a:srgbClr val="0B1B3F"/>
                </a:solidFill>
                <a:latin typeface="Calibri"/>
              </a:rPr>
              <a:t>Press F5</a:t>
            </a:r>
            <a:r>
              <a:rPr sz="1400">
                <a:solidFill>
                  <a:srgbClr val="0F172A"/>
                </a:solidFill>
                <a:latin typeface="Calibri"/>
              </a:rPr>
              <a:t>  Pick 'HR Engine' from the launch dropdown.</a:t>
            </a:r>
          </a:p>
          <a:p>
            <a:pPr algn="l" indent="-228600" marL="228600">
              <a:spcAft>
                <a:spcPts val="1000"/>
              </a:spcAft>
              <a:buChar char="•"/>
            </a:pPr>
            <a:r>
              <a:rPr sz="1400" b="1">
                <a:solidFill>
                  <a:srgbClr val="0B1B3F"/>
                </a:solidFill>
                <a:latin typeface="Calibri"/>
              </a:rPr>
              <a:t>Set breakpoints</a:t>
            </a:r>
            <a:r>
              <a:rPr sz="1400">
                <a:solidFill>
                  <a:srgbClr val="0F172A"/>
                </a:solidFill>
                <a:latin typeface="Calibri"/>
              </a:rPr>
              <a:t>  intake_node, policy_expert_crew_node, decision_maker_crew_node.</a:t>
            </a:r>
          </a:p>
          <a:p>
            <a:pPr algn="l" indent="-228600" marL="228600">
              <a:spcAft>
                <a:spcPts val="1000"/>
              </a:spcAft>
              <a:buChar char="•"/>
            </a:pPr>
            <a:r>
              <a:rPr sz="1400" b="1">
                <a:solidFill>
                  <a:srgbClr val="0B1B3F"/>
                </a:solidFill>
                <a:latin typeface="Calibri"/>
              </a:rPr>
              <a:t>Inspect state</a:t>
            </a:r>
            <a:r>
              <a:rPr sz="1400">
                <a:solidFill>
                  <a:srgbClr val="0F172A"/>
                </a:solidFill>
                <a:latin typeface="Calibri"/>
              </a:rPr>
              <a:t>  state['policy_context']['chunks'][0] in the Debug Console.</a:t>
            </a:r>
          </a:p>
          <a:p>
            <a:pPr algn="l" indent="-228600" marL="228600">
              <a:spcAft>
                <a:spcPts val="1000"/>
              </a:spcAft>
              <a:buChar char="•"/>
            </a:pPr>
            <a:r>
              <a:rPr sz="1400" b="1">
                <a:solidFill>
                  <a:srgbClr val="0B1B3F"/>
                </a:solidFill>
                <a:latin typeface="Calibri"/>
              </a:rPr>
              <a:t>Conditional breakpoints</a:t>
            </a:r>
            <a:r>
              <a:rPr sz="1400">
                <a:solidFill>
                  <a:srgbClr val="0F172A"/>
                </a:solidFill>
                <a:latin typeface="Calibri"/>
              </a:rPr>
              <a:t>  Right-click → Edit → state['hr_decision']['disposition'] == 'Not Qualified'.</a:t>
            </a:r>
          </a:p>
        </p:txBody>
      </p:sp>
      <p:sp>
        <p:nvSpPr>
          <p:cNvPr id="9" name="Rectangle 8"/>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Hot keys</a:t>
            </a:r>
          </a:p>
        </p:txBody>
      </p:sp>
      <p:sp>
        <p:nvSpPr>
          <p:cNvPr id="11" name="TextBox 10"/>
          <p:cNvSpPr txBox="1"/>
          <p:nvPr/>
        </p:nvSpPr>
        <p:spPr>
          <a:xfrm>
            <a:off x="7909560" y="2286000"/>
            <a:ext cx="3657600" cy="3657600"/>
          </a:xfrm>
          <a:prstGeom prst="rect">
            <a:avLst/>
          </a:prstGeom>
          <a:noFill/>
        </p:spPr>
        <p:txBody>
          <a:bodyPr wrap="square" lIns="0" rIns="0" tIns="0" bIns="0">
            <a:spAutoFit/>
          </a:bodyPr>
          <a:lstStyle/>
          <a:p>
            <a:pPr algn="l" indent="-228600" marL="228600">
              <a:spcAft>
                <a:spcPts val="700"/>
              </a:spcAft>
              <a:buChar char="•"/>
            </a:pPr>
            <a:r>
              <a:rPr sz="1300" b="1">
                <a:solidFill>
                  <a:srgbClr val="FFB703"/>
                </a:solidFill>
                <a:latin typeface="Calibri"/>
              </a:rPr>
              <a:t>F5</a:t>
            </a:r>
            <a:r>
              <a:rPr sz="1300">
                <a:solidFill>
                  <a:srgbClr val="FFFFFF"/>
                </a:solidFill>
                <a:latin typeface="Calibri"/>
              </a:rPr>
              <a:t>  Start / continue debug</a:t>
            </a:r>
          </a:p>
          <a:p>
            <a:pPr algn="l" indent="-228600" marL="228600">
              <a:spcAft>
                <a:spcPts val="700"/>
              </a:spcAft>
              <a:buChar char="•"/>
            </a:pPr>
            <a:r>
              <a:rPr sz="1300" b="1">
                <a:solidFill>
                  <a:srgbClr val="FFB703"/>
                </a:solidFill>
                <a:latin typeface="Calibri"/>
              </a:rPr>
              <a:t>F9</a:t>
            </a:r>
            <a:r>
              <a:rPr sz="1300">
                <a:solidFill>
                  <a:srgbClr val="FFFFFF"/>
                </a:solidFill>
                <a:latin typeface="Calibri"/>
              </a:rPr>
              <a:t>  Toggle breakpoint</a:t>
            </a:r>
          </a:p>
          <a:p>
            <a:pPr algn="l" indent="-228600" marL="228600">
              <a:spcAft>
                <a:spcPts val="700"/>
              </a:spcAft>
              <a:buChar char="•"/>
            </a:pPr>
            <a:r>
              <a:rPr sz="1300" b="1">
                <a:solidFill>
                  <a:srgbClr val="FFB703"/>
                </a:solidFill>
                <a:latin typeface="Calibri"/>
              </a:rPr>
              <a:t>F10</a:t>
            </a:r>
            <a:r>
              <a:rPr sz="1300">
                <a:solidFill>
                  <a:srgbClr val="FFFFFF"/>
                </a:solidFill>
                <a:latin typeface="Calibri"/>
              </a:rPr>
              <a:t>  Step over</a:t>
            </a:r>
          </a:p>
          <a:p>
            <a:pPr algn="l" indent="-228600" marL="228600">
              <a:spcAft>
                <a:spcPts val="700"/>
              </a:spcAft>
              <a:buChar char="•"/>
            </a:pPr>
            <a:r>
              <a:rPr sz="1300" b="1">
                <a:solidFill>
                  <a:srgbClr val="FFB703"/>
                </a:solidFill>
                <a:latin typeface="Calibri"/>
              </a:rPr>
              <a:t>F11</a:t>
            </a:r>
            <a:r>
              <a:rPr sz="1300">
                <a:solidFill>
                  <a:srgbClr val="FFFFFF"/>
                </a:solidFill>
                <a:latin typeface="Calibri"/>
              </a:rPr>
              <a:t>  Step into</a:t>
            </a:r>
          </a:p>
          <a:p>
            <a:pPr algn="l" indent="-228600" marL="228600">
              <a:spcAft>
                <a:spcPts val="700"/>
              </a:spcAft>
              <a:buChar char="•"/>
            </a:pPr>
            <a:r>
              <a:rPr sz="1300" b="1">
                <a:solidFill>
                  <a:srgbClr val="FFB703"/>
                </a:solidFill>
                <a:latin typeface="Calibri"/>
              </a:rPr>
              <a:t>Shift+F11</a:t>
            </a:r>
            <a:r>
              <a:rPr sz="1300">
                <a:solidFill>
                  <a:srgbClr val="FFFFFF"/>
                </a:solidFill>
                <a:latin typeface="Calibri"/>
              </a:rPr>
              <a:t>  Step out</a:t>
            </a:r>
          </a:p>
          <a:p>
            <a:pPr algn="l" indent="-228600" marL="228600">
              <a:spcAft>
                <a:spcPts val="700"/>
              </a:spcAft>
              <a:buChar char="•"/>
            </a:pPr>
            <a:r>
              <a:rPr sz="1300" b="1">
                <a:solidFill>
                  <a:srgbClr val="FFB703"/>
                </a:solidFill>
                <a:latin typeface="Calibri"/>
              </a:rPr>
              <a:t>Ctrl+Shift+Y</a:t>
            </a:r>
            <a:r>
              <a:rPr sz="1300">
                <a:solidFill>
                  <a:srgbClr val="FFFFFF"/>
                </a:solidFill>
                <a:latin typeface="Calibri"/>
              </a:rPr>
              <a:t>  Open Debug Console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TESTING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Test the pipeline · pytest patterns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tests/ — three layers: model validation, tool unit tests, end-to-end with sample resumes.</a:t>
            </a:r>
          </a:p>
        </p:txBody>
      </p:sp>
      <p:sp>
        <p:nvSpPr>
          <p:cNvPr id="9" name="Rectangle 8"/>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38528"/>
            <a:ext cx="10698480" cy="3986784"/>
          </a:xfrm>
          <a:prstGeom prst="rect">
            <a:avLst/>
          </a:prstGeom>
          <a:noFill/>
        </p:spPr>
        <p:txBody>
          <a:bodyPr wrap="square" lIns="0" rIns="0" tIns="0" bIns="0">
            <a:spAutoFit/>
          </a:bodyPr>
          <a:lstStyle/>
          <a:p>
            <a:pPr>
              <a:spcAft>
                <a:spcPts val="0"/>
              </a:spcAft>
            </a:pPr>
            <a:r>
              <a:rPr sz="1200">
                <a:solidFill>
                  <a:srgbClr val="FFFFFF"/>
                </a:solidFill>
                <a:latin typeface="Consolas"/>
              </a:rPr>
              <a:t># tests/test_models.py</a:t>
            </a:r>
          </a:p>
          <a:p>
            <a:pPr>
              <a:spcAft>
                <a:spcPts val="0"/>
              </a:spcAft>
            </a:pPr>
            <a:r>
              <a:rPr sz="1200">
                <a:solidFill>
                  <a:srgbClr val="FFFFFF"/>
                </a:solidFill>
                <a:latin typeface="Consolas"/>
              </a:rPr>
              <a:t>def test_resume_submission_validation():</a:t>
            </a:r>
          </a:p>
          <a:p>
            <a:pPr>
              <a:spcAft>
                <a:spcPts val="0"/>
              </a:spcAft>
            </a:pPr>
            <a:r>
              <a:rPr sz="1200">
                <a:solidFill>
                  <a:srgbClr val="FFFFFF"/>
                </a:solidFill>
                <a:latin typeface="Consolas"/>
              </a:rPr>
              <a:t>    sub = ResumeSubmission(</a:t>
            </a:r>
          </a:p>
          <a:p>
            <a:pPr>
              <a:spcAft>
                <a:spcPts val="0"/>
              </a:spcAft>
            </a:pPr>
            <a:r>
              <a:rPr sz="1200">
                <a:solidFill>
                  <a:srgbClr val="FFFFFF"/>
                </a:solidFill>
                <a:latin typeface="Consolas"/>
              </a:rPr>
              <a:t>        filename="alice.txt",</a:t>
            </a:r>
          </a:p>
          <a:p>
            <a:pPr>
              <a:spcAft>
                <a:spcPts val="0"/>
              </a:spcAft>
            </a:pPr>
            <a:r>
              <a:rPr sz="1200">
                <a:solidFill>
                  <a:srgbClr val="FFFFFF"/>
                </a:solidFill>
                <a:latin typeface="Consolas"/>
              </a:rPr>
              <a:t>        raw_text="...",</a:t>
            </a:r>
          </a:p>
          <a:p>
            <a:pPr>
              <a:spcAft>
                <a:spcPts val="0"/>
              </a:spcAft>
            </a:pPr>
            <a:r>
              <a:rPr sz="1200">
                <a:solidFill>
                  <a:srgbClr val="FFFFFF"/>
                </a:solidFill>
                <a:latin typeface="Consolas"/>
              </a:rPr>
              <a:t>        source="upload",</a:t>
            </a:r>
          </a:p>
          <a:p>
            <a:pPr>
              <a:spcAft>
                <a:spcPts val="0"/>
              </a:spcAft>
            </a:pPr>
            <a:r>
              <a:rPr sz="1200">
                <a:solidFill>
                  <a:srgbClr val="FFFFFF"/>
                </a:solidFill>
                <a:latin typeface="Consolas"/>
              </a:rPr>
              <a:t>    )</a:t>
            </a:r>
          </a:p>
          <a:p>
            <a:pPr>
              <a:spcAft>
                <a:spcPts val="0"/>
              </a:spcAft>
            </a:pPr>
            <a:r>
              <a:rPr sz="1200">
                <a:solidFill>
                  <a:srgbClr val="FFFFFF"/>
                </a:solidFill>
                <a:latin typeface="Consolas"/>
              </a:rPr>
              <a:t>    assert len(sub.candidate_id) == 8</a:t>
            </a:r>
          </a:p>
          <a:p>
            <a:pPr>
              <a:spcAft>
                <a:spcPts val="0"/>
              </a:spcAft>
            </a:pPr>
            <a:r>
              <a:rPr sz="1200">
                <a:solidFill>
                  <a:srgbClr val="FFFFFF"/>
                </a:solidFill>
                <a:latin typeface="Consolas"/>
              </a:rPr>
              <a:t> </a:t>
            </a:r>
          </a:p>
          <a:p>
            <a:pPr>
              <a:spcAft>
                <a:spcPts val="0"/>
              </a:spcAft>
            </a:pPr>
            <a:r>
              <a:rPr sz="1200">
                <a:solidFill>
                  <a:srgbClr val="FFFFFF"/>
                </a:solidFill>
                <a:latin typeface="Consolas"/>
              </a:rPr>
              <a:t>def test_decision_must_be_one_of_four():</a:t>
            </a:r>
          </a:p>
          <a:p>
            <a:pPr>
              <a:spcAft>
                <a:spcPts val="0"/>
              </a:spcAft>
            </a:pPr>
            <a:r>
              <a:rPr sz="1200">
                <a:solidFill>
                  <a:srgbClr val="FFFFFF"/>
                </a:solidFill>
                <a:latin typeface="Consolas"/>
              </a:rPr>
              <a:t>    with pytest.raises(ValidationError):</a:t>
            </a:r>
          </a:p>
          <a:p>
            <a:pPr>
              <a:spcAft>
                <a:spcPts val="0"/>
              </a:spcAft>
            </a:pPr>
            <a:r>
              <a:rPr sz="1200">
                <a:solidFill>
                  <a:srgbClr val="FFFFFF"/>
                </a:solidFill>
                <a:latin typeface="Consolas"/>
              </a:rPr>
              <a:t>        HRDecision(decision="Maybe?",</a:t>
            </a:r>
          </a:p>
          <a:p>
            <a:pPr>
              <a:spcAft>
                <a:spcPts val="0"/>
              </a:spcAft>
            </a:pPr>
            <a:r>
              <a:rPr sz="1200">
                <a:solidFill>
                  <a:srgbClr val="FFFFFF"/>
                </a:solidFill>
                <a:latin typeface="Consolas"/>
              </a:rPr>
              <a:t>                   reasoning="...", overall_score=50)</a:t>
            </a:r>
          </a:p>
          <a:p>
            <a:pPr>
              <a:spcAft>
                <a:spcPts val="0"/>
              </a:spcAft>
            </a:pPr>
            <a:r>
              <a:rPr sz="1200">
                <a:solidFill>
                  <a:srgbClr val="FFFFFF"/>
                </a:solidFill>
                <a:latin typeface="Consolas"/>
              </a:rPr>
              <a:t> </a:t>
            </a:r>
          </a:p>
          <a:p>
            <a:pPr>
              <a:spcAft>
                <a:spcPts val="0"/>
              </a:spcAft>
            </a:pPr>
            <a:r>
              <a:rPr sz="1200">
                <a:solidFill>
                  <a:srgbClr val="FFFFFF"/>
                </a:solidFill>
                <a:latin typeface="Consolas"/>
              </a:rPr>
              <a:t># tests/test_pipeline.py</a:t>
            </a:r>
          </a:p>
          <a:p>
            <a:pPr>
              <a:spcAft>
                <a:spcPts val="0"/>
              </a:spcAft>
            </a:pPr>
            <a:r>
              <a:rPr sz="1200">
                <a:solidFill>
                  <a:srgbClr val="FFFFFF"/>
                </a:solidFill>
                <a:latin typeface="Consolas"/>
              </a:rPr>
              <a:t>@pytest.mark.integration</a:t>
            </a:r>
          </a:p>
          <a:p>
            <a:pPr>
              <a:spcAft>
                <a:spcPts val="0"/>
              </a:spcAft>
            </a:pPr>
            <a:r>
              <a:rPr sz="1200">
                <a:solidFill>
                  <a:srgbClr val="FFFFFF"/>
                </a:solidFill>
                <a:latin typeface="Consolas"/>
              </a:rPr>
              <a:t>def test_full_pipeline_strong_match(tmp_path):</a:t>
            </a:r>
          </a:p>
          <a:p>
            <a:pPr>
              <a:spcAft>
                <a:spcPts val="0"/>
              </a:spcAft>
            </a:pPr>
            <a:r>
              <a:rPr sz="1200">
                <a:solidFill>
                  <a:srgbClr val="FFFFFF"/>
                </a:solidFill>
                <a:latin typeface="Consolas"/>
              </a:rPr>
              <a:t>    """Sarah Chen's resume should always score Strong Match."""</a:t>
            </a:r>
          </a:p>
          <a:p>
            <a:pPr>
              <a:spcAft>
                <a:spcPts val="0"/>
              </a:spcAft>
            </a:pPr>
            <a:r>
              <a:rPr sz="1200">
                <a:solidFill>
                  <a:srgbClr val="FFFFFF"/>
                </a:solidFill>
                <a:latin typeface="Consolas"/>
              </a:rPr>
              <a:t>    result = run_pipeline(SARAH_CHEN_RESUME, tmp_path)</a:t>
            </a:r>
          </a:p>
          <a:p>
            <a:pPr>
              <a:spcAft>
                <a:spcPts val="0"/>
              </a:spcAft>
            </a:pPr>
            <a:r>
              <a:rPr sz="1200">
                <a:solidFill>
                  <a:srgbClr val="FFFFFF"/>
                </a:solidFill>
                <a:latin typeface="Consolas"/>
              </a:rPr>
              <a:t>    assert result.decision == "Strong Match"</a:t>
            </a:r>
          </a:p>
          <a:p>
            <a:pPr>
              <a:spcAft>
                <a:spcPts val="0"/>
              </a:spcAft>
            </a:pPr>
            <a:r>
              <a:rPr sz="1200">
                <a:solidFill>
                  <a:srgbClr val="FFFFFF"/>
                </a:solidFill>
                <a:latin typeface="Consolas"/>
              </a:rPr>
              <a:t>    assert result.overall_score &gt;= 80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Hour 3 — what we covered</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600">
                <a:solidFill>
                  <a:srgbClr val="0F172A"/>
                </a:solidFill>
                <a:latin typeface="Calibri"/>
              </a:rPr>
              <a:t>Contoso HR Agent: 4 CrewAI agents, 5 LangGraph nodes, parallel fan-out / fan-in.</a:t>
            </a:r>
          </a:p>
          <a:p>
            <a:pPr algn="l" indent="-228600" marL="228600">
              <a:spcAft>
                <a:spcPts val="1000"/>
              </a:spcAft>
              <a:buChar char="•"/>
            </a:pPr>
            <a:r>
              <a:rPr sz="1600">
                <a:solidFill>
                  <a:srgbClr val="0F172A"/>
                </a:solidFill>
                <a:latin typeface="Calibri"/>
              </a:rPr>
              <a:t>LangGraph owns routing &amp; state; CrewAI owns persona execution. One kickoff() per node.</a:t>
            </a:r>
          </a:p>
          <a:p>
            <a:pPr algn="l" indent="-228600" marL="228600">
              <a:spcAft>
                <a:spcPts val="1000"/>
              </a:spcAft>
              <a:buChar char="•"/>
            </a:pPr>
            <a:r>
              <a:rPr sz="1600">
                <a:solidFill>
                  <a:srgbClr val="0F172A"/>
                </a:solidFill>
                <a:latin typeface="Calibri"/>
              </a:rPr>
              <a:t>State as a bucket — each parallel node writes its own keys; LangGraph merges automatically.</a:t>
            </a:r>
          </a:p>
          <a:p>
            <a:pPr algn="l" indent="-228600" marL="228600">
              <a:spcAft>
                <a:spcPts val="1000"/>
              </a:spcAft>
              <a:buChar char="•"/>
            </a:pPr>
            <a:r>
              <a:rPr sz="1600">
                <a:solidFill>
                  <a:srgbClr val="0F172A"/>
                </a:solidFill>
                <a:latin typeface="Calibri"/>
              </a:rPr>
              <a:t>Pydantic data model chain enforces shape: bad LLM output = ValidationError, not silent corruption.</a:t>
            </a:r>
          </a:p>
          <a:p>
            <a:pPr algn="l" indent="-228600" marL="228600">
              <a:spcAft>
                <a:spcPts val="1000"/>
              </a:spcAft>
              <a:buChar char="•"/>
            </a:pPr>
            <a:r>
              <a:rPr sz="1600">
                <a:solidFill>
                  <a:srgbClr val="0F172A"/>
                </a:solidFill>
                <a:latin typeface="Calibri"/>
              </a:rPr>
              <a:t>runs.html visualizes the parallel branches — proof of concurrency in the timestamps.</a:t>
            </a:r>
          </a:p>
          <a:p>
            <a:pPr algn="l" indent="-228600" marL="228600">
              <a:spcAft>
                <a:spcPts val="1000"/>
              </a:spcAft>
              <a:buChar char="•"/>
            </a:pPr>
            <a:r>
              <a:rPr sz="1600">
                <a:solidFill>
                  <a:srgbClr val="0F172A"/>
                </a:solidFill>
                <a:latin typeface="Calibri"/>
              </a:rPr>
              <a:t>Two-layer chat memory + SqliteSaver checkpoints = production-grade durability.</a:t>
            </a:r>
          </a:p>
          <a:p>
            <a:pPr algn="l" indent="-228600" marL="228600">
              <a:spcAft>
                <a:spcPts val="1000"/>
              </a:spcAft>
              <a:buChar char="•"/>
            </a:pPr>
            <a:r>
              <a:rPr sz="1600">
                <a:solidFill>
                  <a:srgbClr val="0F172A"/>
                </a:solidFill>
                <a:latin typeface="Calibri"/>
              </a:rPr>
              <a:t>Next up: how the pipeline talks to the world — tools, knowledge, and MCP.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04</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MCP and Production Deployment</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Contoso HR Agent + MCP Inspector, then deploy to Azure with guardrails and observability.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WHY MCP</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Why MCP exists — the integration tax</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Before MCP</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Every AI client wrote its own connector to your app.</a:t>
            </a:r>
          </a:p>
          <a:p>
            <a:pPr algn="l" indent="-228600" marL="228600">
              <a:spcAft>
                <a:spcPts val="800"/>
              </a:spcAft>
              <a:buChar char="•"/>
            </a:pPr>
            <a:r>
              <a:rPr sz="1500">
                <a:solidFill>
                  <a:srgbClr val="0F172A"/>
                </a:solidFill>
                <a:latin typeface="Calibri"/>
              </a:rPr>
              <a:t>Claude → custom API. Copilot → custom API. Cursor → custom API.</a:t>
            </a:r>
          </a:p>
          <a:p>
            <a:pPr algn="l" indent="-228600" marL="228600">
              <a:spcAft>
                <a:spcPts val="800"/>
              </a:spcAft>
              <a:buChar char="•"/>
            </a:pPr>
            <a:r>
              <a:rPr sz="1500">
                <a:solidFill>
                  <a:srgbClr val="0F172A"/>
                </a:solidFill>
                <a:latin typeface="Calibri"/>
              </a:rPr>
              <a:t>N clients × M apps = N × M integrations to maintain.</a:t>
            </a:r>
          </a:p>
          <a:p>
            <a:pPr algn="l" indent="-228600" marL="228600">
              <a:spcAft>
                <a:spcPts val="800"/>
              </a:spcAft>
              <a:buChar char="•"/>
            </a:pPr>
            <a:r>
              <a:rPr sz="1500">
                <a:solidFill>
                  <a:srgbClr val="0F172A"/>
                </a:solidFill>
                <a:latin typeface="Calibri"/>
              </a:rPr>
              <a:t>Tool catalogs lived inside each vendor's walled garden.</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After MCP</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One server speaks one protocol — every MCP-aware client just works.</a:t>
            </a:r>
          </a:p>
          <a:p>
            <a:pPr algn="l" indent="-228600" marL="228600">
              <a:spcAft>
                <a:spcPts val="800"/>
              </a:spcAft>
              <a:buChar char="•"/>
            </a:pPr>
            <a:r>
              <a:rPr sz="1500">
                <a:solidFill>
                  <a:srgbClr val="0F172A"/>
                </a:solidFill>
                <a:latin typeface="Calibri"/>
              </a:rPr>
              <a:t>N + M integrations instead of N × M.</a:t>
            </a:r>
          </a:p>
          <a:p>
            <a:pPr algn="l" indent="-228600" marL="228600">
              <a:spcAft>
                <a:spcPts val="800"/>
              </a:spcAft>
              <a:buChar char="•"/>
            </a:pPr>
            <a:r>
              <a:rPr sz="1500">
                <a:solidFill>
                  <a:srgbClr val="0F172A"/>
                </a:solidFill>
                <a:latin typeface="Calibri"/>
              </a:rPr>
              <a:t>Tools, resources, prompts, sampling, elicitation: standardized.</a:t>
            </a:r>
          </a:p>
          <a:p>
            <a:pPr algn="l" indent="-228600" marL="228600">
              <a:spcAft>
                <a:spcPts val="800"/>
              </a:spcAft>
              <a:buChar char="•"/>
            </a:pPr>
            <a:r>
              <a:rPr sz="1500">
                <a:solidFill>
                  <a:srgbClr val="0F172A"/>
                </a:solidFill>
                <a:latin typeface="Calibri"/>
              </a:rPr>
              <a:t>Hosted by Foundry, Claude Desktop, Cursor, VS Code, Continue, etc.</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CONCEPTS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MCP architecture — server, client, transport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828800"/>
            <a:ext cx="3291840" cy="2286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20240"/>
            <a:ext cx="3291840" cy="365760"/>
          </a:xfrm>
          <a:prstGeom prst="rect">
            <a:avLst/>
          </a:prstGeom>
          <a:noFill/>
        </p:spPr>
        <p:txBody>
          <a:bodyPr wrap="square" lIns="0" rIns="0" tIns="0" bIns="0" anchor="t">
            <a:spAutoFit/>
          </a:bodyPr>
          <a:lstStyle/>
          <a:p>
            <a:pPr algn="ctr"/>
            <a:r>
              <a:rPr sz="1400" b="1" i="0">
                <a:solidFill>
                  <a:srgbClr val="FFB703"/>
                </a:solidFill>
                <a:latin typeface="Calibri"/>
              </a:rPr>
              <a:t>MCP SERVER</a:t>
            </a:r>
          </a:p>
        </p:txBody>
      </p:sp>
      <p:sp>
        <p:nvSpPr>
          <p:cNvPr id="10" name="TextBox 9"/>
          <p:cNvSpPr txBox="1"/>
          <p:nvPr/>
        </p:nvSpPr>
        <p:spPr>
          <a:xfrm>
            <a:off x="868680" y="2468880"/>
            <a:ext cx="2834640" cy="1554480"/>
          </a:xfrm>
          <a:prstGeom prst="rect">
            <a:avLst/>
          </a:prstGeom>
          <a:noFill/>
        </p:spPr>
        <p:txBody>
          <a:bodyPr wrap="square" lIns="0" rIns="0" tIns="0" bIns="0">
            <a:spAutoFit/>
          </a:bodyPr>
          <a:lstStyle/>
          <a:p>
            <a:pPr algn="l">
              <a:spcAft>
                <a:spcPts val="400"/>
              </a:spcAft>
            </a:pPr>
            <a:r>
              <a:rPr sz="1200">
                <a:solidFill>
                  <a:srgbClr val="FFFFFF"/>
                </a:solidFill>
                <a:latin typeface="Calibri"/>
              </a:rPr>
              <a:t>Your code, your data.</a:t>
            </a:r>
          </a:p>
          <a:p>
            <a:pPr algn="l">
              <a:spcAft>
                <a:spcPts val="400"/>
              </a:spcAft>
            </a:pPr>
            <a:r>
              <a:rPr sz="1200">
                <a:solidFill>
                  <a:srgbClr val="FFFFFF"/>
                </a:solidFill>
                <a:latin typeface="Calibri"/>
              </a:rPr>
              <a:t>Exposes tools, resources,</a:t>
            </a:r>
          </a:p>
          <a:p>
            <a:pPr algn="l">
              <a:spcAft>
                <a:spcPts val="400"/>
              </a:spcAft>
            </a:pPr>
            <a:r>
              <a:rPr sz="1200">
                <a:solidFill>
                  <a:srgbClr val="FFFFFF"/>
                </a:solidFill>
                <a:latin typeface="Calibri"/>
              </a:rPr>
              <a:t>prompts, sampling hooks,</a:t>
            </a:r>
          </a:p>
          <a:p>
            <a:pPr algn="l">
              <a:spcAft>
                <a:spcPts val="400"/>
              </a:spcAft>
            </a:pPr>
            <a:r>
              <a:rPr sz="1200">
                <a:solidFill>
                  <a:srgbClr val="FFFFFF"/>
                </a:solidFill>
                <a:latin typeface="Calibri"/>
              </a:rPr>
              <a:t>elicitation forms.</a:t>
            </a:r>
          </a:p>
        </p:txBody>
      </p:sp>
      <p:sp>
        <p:nvSpPr>
          <p:cNvPr id="11" name="Rectangle 10"/>
          <p:cNvSpPr/>
          <p:nvPr/>
        </p:nvSpPr>
        <p:spPr>
          <a:xfrm>
            <a:off x="4206240" y="1828800"/>
            <a:ext cx="3657600" cy="2286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920240"/>
            <a:ext cx="3657600" cy="365760"/>
          </a:xfrm>
          <a:prstGeom prst="rect">
            <a:avLst/>
          </a:prstGeom>
          <a:noFill/>
        </p:spPr>
        <p:txBody>
          <a:bodyPr wrap="square" lIns="0" rIns="0" tIns="0" bIns="0" anchor="t">
            <a:spAutoFit/>
          </a:bodyPr>
          <a:lstStyle/>
          <a:p>
            <a:pPr algn="ctr"/>
            <a:r>
              <a:rPr sz="1400" b="1" i="0">
                <a:solidFill>
                  <a:srgbClr val="07122C"/>
                </a:solidFill>
                <a:latin typeface="Calibri"/>
              </a:rPr>
              <a:t>TRANSPORT</a:t>
            </a:r>
          </a:p>
        </p:txBody>
      </p:sp>
      <p:sp>
        <p:nvSpPr>
          <p:cNvPr id="13" name="TextBox 12"/>
          <p:cNvSpPr txBox="1"/>
          <p:nvPr/>
        </p:nvSpPr>
        <p:spPr>
          <a:xfrm>
            <a:off x="4434840" y="2468880"/>
            <a:ext cx="3200400" cy="1554480"/>
          </a:xfrm>
          <a:prstGeom prst="rect">
            <a:avLst/>
          </a:prstGeom>
          <a:noFill/>
        </p:spPr>
        <p:txBody>
          <a:bodyPr wrap="square" lIns="0" rIns="0" tIns="0" bIns="0">
            <a:spAutoFit/>
          </a:bodyPr>
          <a:lstStyle/>
          <a:p>
            <a:pPr algn="l">
              <a:spcAft>
                <a:spcPts val="400"/>
              </a:spcAft>
            </a:pPr>
            <a:r>
              <a:rPr sz="1200">
                <a:solidFill>
                  <a:srgbClr val="07122C"/>
                </a:solidFill>
                <a:latin typeface="Calibri"/>
              </a:rPr>
              <a:t>stdio  → local dev, MCP Inspector</a:t>
            </a:r>
          </a:p>
          <a:p>
            <a:pPr algn="l">
              <a:spcAft>
                <a:spcPts val="400"/>
              </a:spcAft>
            </a:pPr>
            <a:r>
              <a:rPr sz="1200">
                <a:solidFill>
                  <a:srgbClr val="07122C"/>
                </a:solidFill>
                <a:latin typeface="Calibri"/>
              </a:rPr>
              <a:t>SSE    → HTTP server-sent events</a:t>
            </a:r>
          </a:p>
          <a:p>
            <a:pPr algn="l">
              <a:spcAft>
                <a:spcPts val="400"/>
              </a:spcAft>
            </a:pPr>
            <a:r>
              <a:rPr sz="1200">
                <a:solidFill>
                  <a:srgbClr val="07122C"/>
                </a:solidFill>
                <a:latin typeface="Calibri"/>
              </a:rPr>
              <a:t>Streamable HTTP → newer transport</a:t>
            </a:r>
          </a:p>
          <a:p>
            <a:pPr algn="l">
              <a:spcAft>
                <a:spcPts val="400"/>
              </a:spcAft>
            </a:pPr>
            <a:r>
              <a:rPr sz="1200">
                <a:solidFill>
                  <a:srgbClr val="07122C"/>
                </a:solidFill>
                <a:latin typeface="Calibri"/>
              </a:rPr>
              <a:t>Auth: bearer / OAuth / OBO</a:t>
            </a:r>
          </a:p>
        </p:txBody>
      </p:sp>
      <p:sp>
        <p:nvSpPr>
          <p:cNvPr id="14" name="Rectangle 13"/>
          <p:cNvSpPr/>
          <p:nvPr/>
        </p:nvSpPr>
        <p:spPr>
          <a:xfrm>
            <a:off x="8138160" y="1828800"/>
            <a:ext cx="3383280" cy="228600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920240"/>
            <a:ext cx="3383280" cy="365760"/>
          </a:xfrm>
          <a:prstGeom prst="rect">
            <a:avLst/>
          </a:prstGeom>
          <a:noFill/>
        </p:spPr>
        <p:txBody>
          <a:bodyPr wrap="square" lIns="0" rIns="0" tIns="0" bIns="0" anchor="t">
            <a:spAutoFit/>
          </a:bodyPr>
          <a:lstStyle/>
          <a:p>
            <a:pPr algn="ctr"/>
            <a:r>
              <a:rPr sz="1400" b="1" i="0">
                <a:solidFill>
                  <a:srgbClr val="FFB703"/>
                </a:solidFill>
                <a:latin typeface="Calibri"/>
              </a:rPr>
              <a:t>MCP CLIENT</a:t>
            </a:r>
          </a:p>
        </p:txBody>
      </p:sp>
      <p:sp>
        <p:nvSpPr>
          <p:cNvPr id="16" name="TextBox 15"/>
          <p:cNvSpPr txBox="1"/>
          <p:nvPr/>
        </p:nvSpPr>
        <p:spPr>
          <a:xfrm>
            <a:off x="8366760" y="2468880"/>
            <a:ext cx="2926080" cy="1554480"/>
          </a:xfrm>
          <a:prstGeom prst="rect">
            <a:avLst/>
          </a:prstGeom>
          <a:noFill/>
        </p:spPr>
        <p:txBody>
          <a:bodyPr wrap="square" lIns="0" rIns="0" tIns="0" bIns="0">
            <a:spAutoFit/>
          </a:bodyPr>
          <a:lstStyle/>
          <a:p>
            <a:pPr algn="l">
              <a:spcAft>
                <a:spcPts val="400"/>
              </a:spcAft>
            </a:pPr>
            <a:r>
              <a:rPr sz="1200">
                <a:solidFill>
                  <a:srgbClr val="FFFFFF"/>
                </a:solidFill>
                <a:latin typeface="Calibri"/>
              </a:rPr>
              <a:t>Claude Desktop</a:t>
            </a:r>
          </a:p>
          <a:p>
            <a:pPr algn="l">
              <a:spcAft>
                <a:spcPts val="400"/>
              </a:spcAft>
            </a:pPr>
            <a:r>
              <a:rPr sz="1200">
                <a:solidFill>
                  <a:srgbClr val="FFFFFF"/>
                </a:solidFill>
                <a:latin typeface="Calibri"/>
              </a:rPr>
              <a:t>VS Code · Cursor · Continue</a:t>
            </a:r>
          </a:p>
          <a:p>
            <a:pPr algn="l">
              <a:spcAft>
                <a:spcPts val="400"/>
              </a:spcAft>
            </a:pPr>
            <a:r>
              <a:rPr sz="1200">
                <a:solidFill>
                  <a:srgbClr val="FFFFFF"/>
                </a:solidFill>
                <a:latin typeface="Calibri"/>
              </a:rPr>
              <a:t>Foundry Agent Service</a:t>
            </a:r>
          </a:p>
          <a:p>
            <a:pPr algn="l">
              <a:spcAft>
                <a:spcPts val="400"/>
              </a:spcAft>
            </a:pPr>
            <a:r>
              <a:rPr sz="1200">
                <a:solidFill>
                  <a:srgbClr val="FFFFFF"/>
                </a:solidFill>
                <a:latin typeface="Calibri"/>
              </a:rPr>
              <a:t>MCP Inspector (debugging)</a:t>
            </a:r>
          </a:p>
        </p:txBody>
      </p:sp>
      <p:sp>
        <p:nvSpPr>
          <p:cNvPr id="17" name="Left-Right Arrow 16"/>
          <p:cNvSpPr/>
          <p:nvPr/>
        </p:nvSpPr>
        <p:spPr>
          <a:xfrm>
            <a:off x="3931920" y="2834640"/>
            <a:ext cx="320040" cy="274320"/>
          </a:xfrm>
          <a:prstGeom prst="lef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ft-Right Arrow 17"/>
          <p:cNvSpPr/>
          <p:nvPr/>
        </p:nvSpPr>
        <p:spPr>
          <a:xfrm>
            <a:off x="7818120" y="2834640"/>
            <a:ext cx="365760" cy="274320"/>
          </a:xfrm>
          <a:prstGeom prst="lef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572000"/>
            <a:ext cx="10972800" cy="457200"/>
          </a:xfrm>
          <a:prstGeom prst="rect">
            <a:avLst/>
          </a:prstGeom>
          <a:noFill/>
        </p:spPr>
        <p:txBody>
          <a:bodyPr wrap="square" lIns="0" rIns="0" tIns="0" bIns="0" anchor="t">
            <a:spAutoFit/>
          </a:bodyPr>
          <a:lstStyle/>
          <a:p>
            <a:pPr algn="ctr"/>
            <a:r>
              <a:rPr sz="1400" b="0" i="1">
                <a:solidFill>
                  <a:srgbClr val="475569"/>
                </a:solidFill>
                <a:latin typeface="Calibri"/>
              </a:rPr>
              <a:t>One protocol → many clients. Build the server once, reach every MCP-aware tool.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PRIMITIVES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five MCP primitives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32588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71600"/>
            <a:ext cx="2286000" cy="502920"/>
          </a:xfrm>
          <a:prstGeom prst="rect">
            <a:avLst/>
          </a:prstGeom>
          <a:noFill/>
        </p:spPr>
        <p:txBody>
          <a:bodyPr wrap="square" lIns="0" rIns="0" tIns="0" bIns="0" anchor="t">
            <a:spAutoFit/>
          </a:bodyPr>
          <a:lstStyle/>
          <a:p>
            <a:pPr algn="l"/>
            <a:r>
              <a:rPr sz="1800" b="1" i="0">
                <a:solidFill>
                  <a:srgbClr val="0B1B3F"/>
                </a:solidFill>
                <a:latin typeface="Calibri"/>
              </a:rPr>
              <a:t>Tools</a:t>
            </a:r>
          </a:p>
        </p:txBody>
      </p:sp>
      <p:sp>
        <p:nvSpPr>
          <p:cNvPr id="10" name="TextBox 9"/>
          <p:cNvSpPr txBox="1"/>
          <p:nvPr/>
        </p:nvSpPr>
        <p:spPr>
          <a:xfrm>
            <a:off x="868680" y="1828800"/>
            <a:ext cx="10515600" cy="365760"/>
          </a:xfrm>
          <a:prstGeom prst="rect">
            <a:avLst/>
          </a:prstGeom>
          <a:noFill/>
        </p:spPr>
        <p:txBody>
          <a:bodyPr wrap="square" lIns="0" rIns="0" tIns="0" bIns="0" anchor="t">
            <a:spAutoFit/>
          </a:bodyPr>
          <a:lstStyle/>
          <a:p>
            <a:pPr algn="l"/>
            <a:r>
              <a:rPr sz="1200" b="0" i="0">
                <a:solidFill>
                  <a:srgbClr val="0F172A"/>
                </a:solidFill>
                <a:latin typeface="Calibri"/>
              </a:rPr>
              <a:t>Verbs the LLM can call. Most agent capability lives here.</a:t>
            </a:r>
          </a:p>
        </p:txBody>
      </p:sp>
      <p:sp>
        <p:nvSpPr>
          <p:cNvPr id="11" name="TextBox 10"/>
          <p:cNvSpPr txBox="1"/>
          <p:nvPr/>
        </p:nvSpPr>
        <p:spPr>
          <a:xfrm>
            <a:off x="3200400" y="1371600"/>
            <a:ext cx="8229600" cy="457200"/>
          </a:xfrm>
          <a:prstGeom prst="rect">
            <a:avLst/>
          </a:prstGeom>
          <a:noFill/>
        </p:spPr>
        <p:txBody>
          <a:bodyPr wrap="square" lIns="0" rIns="0" tIns="0" bIns="0" anchor="t">
            <a:spAutoFit/>
          </a:bodyPr>
          <a:lstStyle/>
          <a:p>
            <a:pPr algn="l"/>
            <a:r>
              <a:rPr sz="1200" b="0" i="1">
                <a:solidFill>
                  <a:srgbClr val="03708A"/>
                </a:solidFill>
                <a:latin typeface="Consolas"/>
              </a:rPr>
              <a:t>get_candidate · query_policy · trigger_resume_evaluation</a:t>
            </a:r>
          </a:p>
        </p:txBody>
      </p:sp>
      <p:sp>
        <p:nvSpPr>
          <p:cNvPr id="12" name="Rectangle 11"/>
          <p:cNvSpPr/>
          <p:nvPr/>
        </p:nvSpPr>
        <p:spPr>
          <a:xfrm>
            <a:off x="548640" y="228600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331720"/>
            <a:ext cx="2286000" cy="502920"/>
          </a:xfrm>
          <a:prstGeom prst="rect">
            <a:avLst/>
          </a:prstGeom>
          <a:noFill/>
        </p:spPr>
        <p:txBody>
          <a:bodyPr wrap="square" lIns="0" rIns="0" tIns="0" bIns="0" anchor="t">
            <a:spAutoFit/>
          </a:bodyPr>
          <a:lstStyle/>
          <a:p>
            <a:pPr algn="l"/>
            <a:r>
              <a:rPr sz="1800" b="1" i="0">
                <a:solidFill>
                  <a:srgbClr val="0B1B3F"/>
                </a:solidFill>
                <a:latin typeface="Calibri"/>
              </a:rPr>
              <a:t>Resources</a:t>
            </a:r>
          </a:p>
        </p:txBody>
      </p:sp>
      <p:sp>
        <p:nvSpPr>
          <p:cNvPr id="14" name="TextBox 13"/>
          <p:cNvSpPr txBox="1"/>
          <p:nvPr/>
        </p:nvSpPr>
        <p:spPr>
          <a:xfrm>
            <a:off x="868680" y="2788920"/>
            <a:ext cx="10515600" cy="365760"/>
          </a:xfrm>
          <a:prstGeom prst="rect">
            <a:avLst/>
          </a:prstGeom>
          <a:noFill/>
        </p:spPr>
        <p:txBody>
          <a:bodyPr wrap="square" lIns="0" rIns="0" tIns="0" bIns="0" anchor="t">
            <a:spAutoFit/>
          </a:bodyPr>
          <a:lstStyle/>
          <a:p>
            <a:pPr algn="l"/>
            <a:r>
              <a:rPr sz="1200" b="0" i="0">
                <a:solidFill>
                  <a:srgbClr val="0F172A"/>
                </a:solidFill>
                <a:latin typeface="Calibri"/>
              </a:rPr>
              <a:t>Nouns the LLM can read. Cheaper than tools (no LLM round-trip).</a:t>
            </a:r>
          </a:p>
        </p:txBody>
      </p:sp>
      <p:sp>
        <p:nvSpPr>
          <p:cNvPr id="15" name="TextBox 14"/>
          <p:cNvSpPr txBox="1"/>
          <p:nvPr/>
        </p:nvSpPr>
        <p:spPr>
          <a:xfrm>
            <a:off x="3200400" y="2331720"/>
            <a:ext cx="8229600" cy="457200"/>
          </a:xfrm>
          <a:prstGeom prst="rect">
            <a:avLst/>
          </a:prstGeom>
          <a:noFill/>
        </p:spPr>
        <p:txBody>
          <a:bodyPr wrap="square" lIns="0" rIns="0" tIns="0" bIns="0" anchor="t">
            <a:spAutoFit/>
          </a:bodyPr>
          <a:lstStyle/>
          <a:p>
            <a:pPr algn="l"/>
            <a:r>
              <a:rPr sz="1200" b="0" i="1">
                <a:solidFill>
                  <a:srgbClr val="03708A"/>
                </a:solidFill>
                <a:latin typeface="Consolas"/>
              </a:rPr>
              <a:t>schema://candidate · stats://evaluations · candidate://{id}</a:t>
            </a:r>
          </a:p>
        </p:txBody>
      </p:sp>
      <p:sp>
        <p:nvSpPr>
          <p:cNvPr id="16" name="Rectangle 15"/>
          <p:cNvSpPr/>
          <p:nvPr/>
        </p:nvSpPr>
        <p:spPr>
          <a:xfrm>
            <a:off x="548640" y="324612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91840"/>
            <a:ext cx="2286000" cy="502920"/>
          </a:xfrm>
          <a:prstGeom prst="rect">
            <a:avLst/>
          </a:prstGeom>
          <a:noFill/>
        </p:spPr>
        <p:txBody>
          <a:bodyPr wrap="square" lIns="0" rIns="0" tIns="0" bIns="0" anchor="t">
            <a:spAutoFit/>
          </a:bodyPr>
          <a:lstStyle/>
          <a:p>
            <a:pPr algn="l"/>
            <a:r>
              <a:rPr sz="1800" b="1" i="0">
                <a:solidFill>
                  <a:srgbClr val="0B1B3F"/>
                </a:solidFill>
                <a:latin typeface="Calibri"/>
              </a:rPr>
              <a:t>Prompts</a:t>
            </a:r>
          </a:p>
        </p:txBody>
      </p:sp>
      <p:sp>
        <p:nvSpPr>
          <p:cNvPr id="18" name="TextBox 17"/>
          <p:cNvSpPr txBox="1"/>
          <p:nvPr/>
        </p:nvSpPr>
        <p:spPr>
          <a:xfrm>
            <a:off x="868680" y="3749040"/>
            <a:ext cx="10515600" cy="365760"/>
          </a:xfrm>
          <a:prstGeom prst="rect">
            <a:avLst/>
          </a:prstGeom>
          <a:noFill/>
        </p:spPr>
        <p:txBody>
          <a:bodyPr wrap="square" lIns="0" rIns="0" tIns="0" bIns="0" anchor="t">
            <a:spAutoFit/>
          </a:bodyPr>
          <a:lstStyle/>
          <a:p>
            <a:pPr algn="l"/>
            <a:r>
              <a:rPr sz="1200" b="0" i="0">
                <a:solidFill>
                  <a:srgbClr val="0F172A"/>
                </a:solidFill>
                <a:latin typeface="Calibri"/>
              </a:rPr>
              <a:t>Reusable message templates. Stops every client reinventing scaffolding.</a:t>
            </a:r>
          </a:p>
        </p:txBody>
      </p:sp>
      <p:sp>
        <p:nvSpPr>
          <p:cNvPr id="19" name="TextBox 18"/>
          <p:cNvSpPr txBox="1"/>
          <p:nvPr/>
        </p:nvSpPr>
        <p:spPr>
          <a:xfrm>
            <a:off x="3200400" y="3291840"/>
            <a:ext cx="8229600" cy="457200"/>
          </a:xfrm>
          <a:prstGeom prst="rect">
            <a:avLst/>
          </a:prstGeom>
          <a:noFill/>
        </p:spPr>
        <p:txBody>
          <a:bodyPr wrap="square" lIns="0" rIns="0" tIns="0" bIns="0" anchor="t">
            <a:spAutoFit/>
          </a:bodyPr>
          <a:lstStyle/>
          <a:p>
            <a:pPr algn="l"/>
            <a:r>
              <a:rPr sz="1200" b="0" i="1">
                <a:solidFill>
                  <a:srgbClr val="03708A"/>
                </a:solidFill>
                <a:latin typeface="Consolas"/>
              </a:rPr>
              <a:t>evaluate_resume · policy_query · disposition_review</a:t>
            </a:r>
          </a:p>
        </p:txBody>
      </p:sp>
      <p:sp>
        <p:nvSpPr>
          <p:cNvPr id="20" name="Rectangle 19"/>
          <p:cNvSpPr/>
          <p:nvPr/>
        </p:nvSpPr>
        <p:spPr>
          <a:xfrm>
            <a:off x="548640" y="420624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51960"/>
            <a:ext cx="2286000" cy="502920"/>
          </a:xfrm>
          <a:prstGeom prst="rect">
            <a:avLst/>
          </a:prstGeom>
          <a:noFill/>
        </p:spPr>
        <p:txBody>
          <a:bodyPr wrap="square" lIns="0" rIns="0" tIns="0" bIns="0" anchor="t">
            <a:spAutoFit/>
          </a:bodyPr>
          <a:lstStyle/>
          <a:p>
            <a:pPr algn="l"/>
            <a:r>
              <a:rPr sz="1800" b="1" i="0">
                <a:solidFill>
                  <a:srgbClr val="0B1B3F"/>
                </a:solidFill>
                <a:latin typeface="Calibri"/>
              </a:rPr>
              <a:t>Sampling</a:t>
            </a:r>
          </a:p>
        </p:txBody>
      </p:sp>
      <p:sp>
        <p:nvSpPr>
          <p:cNvPr id="22" name="TextBox 21"/>
          <p:cNvSpPr txBox="1"/>
          <p:nvPr/>
        </p:nvSpPr>
        <p:spPr>
          <a:xfrm>
            <a:off x="868680" y="4709160"/>
            <a:ext cx="10515600" cy="365760"/>
          </a:xfrm>
          <a:prstGeom prst="rect">
            <a:avLst/>
          </a:prstGeom>
          <a:noFill/>
        </p:spPr>
        <p:txBody>
          <a:bodyPr wrap="square" lIns="0" rIns="0" tIns="0" bIns="0" anchor="t">
            <a:spAutoFit/>
          </a:bodyPr>
          <a:lstStyle/>
          <a:p>
            <a:pPr algn="l"/>
            <a:r>
              <a:rPr sz="1200" b="0" i="0">
                <a:solidFill>
                  <a:srgbClr val="0F172A"/>
                </a:solidFill>
                <a:latin typeface="Calibri"/>
              </a:rPr>
              <a:t>Server asks the LLM. Inverts the conversation direction.</a:t>
            </a:r>
          </a:p>
        </p:txBody>
      </p:sp>
      <p:sp>
        <p:nvSpPr>
          <p:cNvPr id="23" name="TextBox 22"/>
          <p:cNvSpPr txBox="1"/>
          <p:nvPr/>
        </p:nvSpPr>
        <p:spPr>
          <a:xfrm>
            <a:off x="3200400" y="4251960"/>
            <a:ext cx="8229600" cy="457200"/>
          </a:xfrm>
          <a:prstGeom prst="rect">
            <a:avLst/>
          </a:prstGeom>
          <a:noFill/>
        </p:spPr>
        <p:txBody>
          <a:bodyPr wrap="square" lIns="0" rIns="0" tIns="0" bIns="0" anchor="t">
            <a:spAutoFit/>
          </a:bodyPr>
          <a:lstStyle/>
          <a:p>
            <a:pPr algn="l"/>
            <a:r>
              <a:rPr sz="1200" b="0" i="1">
                <a:solidFill>
                  <a:srgbClr val="03708A"/>
                </a:solidFill>
                <a:latin typeface="Consolas"/>
              </a:rPr>
              <a:t>generate_eval_summary uses ctx.sample()</a:t>
            </a:r>
          </a:p>
        </p:txBody>
      </p:sp>
      <p:sp>
        <p:nvSpPr>
          <p:cNvPr id="24" name="Rectangle 23"/>
          <p:cNvSpPr/>
          <p:nvPr/>
        </p:nvSpPr>
        <p:spPr>
          <a:xfrm>
            <a:off x="548640" y="516636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212080"/>
            <a:ext cx="2286000" cy="502920"/>
          </a:xfrm>
          <a:prstGeom prst="rect">
            <a:avLst/>
          </a:prstGeom>
          <a:noFill/>
        </p:spPr>
        <p:txBody>
          <a:bodyPr wrap="square" lIns="0" rIns="0" tIns="0" bIns="0" anchor="t">
            <a:spAutoFit/>
          </a:bodyPr>
          <a:lstStyle/>
          <a:p>
            <a:pPr algn="l"/>
            <a:r>
              <a:rPr sz="1800" b="1" i="0">
                <a:solidFill>
                  <a:srgbClr val="0B1B3F"/>
                </a:solidFill>
                <a:latin typeface="Calibri"/>
              </a:rPr>
              <a:t>Elicitation</a:t>
            </a:r>
          </a:p>
        </p:txBody>
      </p:sp>
      <p:sp>
        <p:nvSpPr>
          <p:cNvPr id="26" name="TextBox 25"/>
          <p:cNvSpPr txBox="1"/>
          <p:nvPr/>
        </p:nvSpPr>
        <p:spPr>
          <a:xfrm>
            <a:off x="868680" y="5669280"/>
            <a:ext cx="10515600" cy="365760"/>
          </a:xfrm>
          <a:prstGeom prst="rect">
            <a:avLst/>
          </a:prstGeom>
          <a:noFill/>
        </p:spPr>
        <p:txBody>
          <a:bodyPr wrap="square" lIns="0" rIns="0" tIns="0" bIns="0" anchor="t">
            <a:spAutoFit/>
          </a:bodyPr>
          <a:lstStyle/>
          <a:p>
            <a:pPr algn="l"/>
            <a:r>
              <a:rPr sz="1200" b="0" i="0">
                <a:solidFill>
                  <a:srgbClr val="0F172A"/>
                </a:solidFill>
                <a:latin typeface="Calibri"/>
              </a:rPr>
              <a:t>Server asks the USER mid-tool. Human-in-the-loop guardrail.</a:t>
            </a:r>
          </a:p>
        </p:txBody>
      </p:sp>
      <p:sp>
        <p:nvSpPr>
          <p:cNvPr id="27" name="TextBox 26"/>
          <p:cNvSpPr txBox="1"/>
          <p:nvPr/>
        </p:nvSpPr>
        <p:spPr>
          <a:xfrm>
            <a:off x="3200400" y="5212080"/>
            <a:ext cx="8229600" cy="457200"/>
          </a:xfrm>
          <a:prstGeom prst="rect">
            <a:avLst/>
          </a:prstGeom>
          <a:noFill/>
        </p:spPr>
        <p:txBody>
          <a:bodyPr wrap="square" lIns="0" rIns="0" tIns="0" bIns="0" anchor="t">
            <a:spAutoFit/>
          </a:bodyPr>
          <a:lstStyle/>
          <a:p>
            <a:pPr algn="l"/>
            <a:r>
              <a:rPr sz="1200" b="0" i="1">
                <a:solidFill>
                  <a:srgbClr val="03708A"/>
                </a:solidFill>
                <a:latin typeface="Consolas"/>
              </a:rPr>
              <a:t>confirm_and_evaluate uses ctx.elicit() before the expensive run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Real MCP code · @mcp.tool() — query_policy</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src/contoso_hr/mcp_server/server.py — 17 lines exposes a ChromaDB-backed tool.</a:t>
            </a:r>
          </a:p>
        </p:txBody>
      </p:sp>
      <p:sp>
        <p:nvSpPr>
          <p:cNvPr id="9" name="Rectangle 8"/>
          <p:cNvSpPr/>
          <p:nvPr/>
        </p:nvSpPr>
        <p:spPr>
          <a:xfrm>
            <a:off x="640080" y="1828800"/>
            <a:ext cx="768096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7406640" cy="4343400"/>
          </a:xfrm>
          <a:prstGeom prst="rect">
            <a:avLst/>
          </a:prstGeom>
          <a:noFill/>
        </p:spPr>
        <p:txBody>
          <a:bodyPr wrap="square" lIns="0" rIns="0" tIns="0" bIns="0">
            <a:spAutoFit/>
          </a:bodyPr>
          <a:lstStyle/>
          <a:p>
            <a:pPr>
              <a:spcAft>
                <a:spcPts val="0"/>
              </a:spcAft>
            </a:pPr>
            <a:r>
              <a:rPr sz="1000">
                <a:solidFill>
                  <a:srgbClr val="FFFFFF"/>
                </a:solidFill>
                <a:latin typeface="Consolas"/>
              </a:rPr>
              <a:t>from fastmcp import FastMCP</a:t>
            </a:r>
          </a:p>
          <a:p>
            <a:pPr>
              <a:spcAft>
                <a:spcPts val="0"/>
              </a:spcAft>
            </a:pPr>
            <a:r>
              <a:rPr sz="1000">
                <a:solidFill>
                  <a:srgbClr val="FFFFFF"/>
                </a:solidFill>
                <a:latin typeface="Consolas"/>
              </a:rPr>
              <a:t>from fastmcp.server.context import Context</a:t>
            </a:r>
          </a:p>
          <a:p>
            <a:pPr>
              <a:spcAft>
                <a:spcPts val="0"/>
              </a:spcAft>
            </a:pPr>
            <a:r>
              <a:rPr sz="1000">
                <a:solidFill>
                  <a:srgbClr val="FFFFFF"/>
                </a:solidFill>
                <a:latin typeface="Consolas"/>
              </a:rPr>
              <a:t> </a:t>
            </a:r>
          </a:p>
          <a:p>
            <a:pPr>
              <a:spcAft>
                <a:spcPts val="0"/>
              </a:spcAft>
            </a:pPr>
            <a:r>
              <a:rPr sz="1000">
                <a:solidFill>
                  <a:srgbClr val="FFFFFF"/>
                </a:solidFill>
                <a:latin typeface="Consolas"/>
              </a:rPr>
              <a:t>mcp = FastMCP(</a:t>
            </a:r>
          </a:p>
          <a:p>
            <a:pPr>
              <a:spcAft>
                <a:spcPts val="0"/>
              </a:spcAft>
            </a:pPr>
            <a:r>
              <a:rPr sz="1000">
                <a:solidFill>
                  <a:srgbClr val="FFFFFF"/>
                </a:solidFill>
                <a:latin typeface="Consolas"/>
              </a:rPr>
              <a:t>    name="contoso-hr-agent",</a:t>
            </a:r>
          </a:p>
          <a:p>
            <a:pPr>
              <a:spcAft>
                <a:spcPts val="0"/>
              </a:spcAft>
            </a:pPr>
            <a:r>
              <a:rPr sz="1000">
                <a:solidFill>
                  <a:srgbClr val="FFFFFF"/>
                </a:solidFill>
                <a:latin typeface="Consolas"/>
              </a:rPr>
              <a:t>    instructions="The Contoso HR Agent ...",</a:t>
            </a:r>
          </a:p>
          <a:p>
            <a:pPr>
              <a:spcAft>
                <a:spcPts val="0"/>
              </a:spcAft>
            </a:pPr>
            <a:r>
              <a:rPr sz="1000">
                <a:solidFill>
                  <a:srgbClr val="FFFFFF"/>
                </a:solidFill>
                <a:latin typeface="Consolas"/>
              </a:rPr>
              <a:t>)</a:t>
            </a:r>
          </a:p>
          <a:p>
            <a:pPr>
              <a:spcAft>
                <a:spcPts val="0"/>
              </a:spcAft>
            </a:pPr>
            <a:r>
              <a:rPr sz="1000">
                <a:solidFill>
                  <a:srgbClr val="FFFFFF"/>
                </a:solidFill>
                <a:latin typeface="Consolas"/>
              </a:rPr>
              <a:t> </a:t>
            </a:r>
          </a:p>
          <a:p>
            <a:pPr>
              <a:spcAft>
                <a:spcPts val="0"/>
              </a:spcAft>
            </a:pPr>
            <a:r>
              <a:rPr sz="1000">
                <a:solidFill>
                  <a:srgbClr val="FFFFFF"/>
                </a:solidFill>
                <a:latin typeface="Consolas"/>
              </a:rPr>
              <a:t>@mcp.tool()</a:t>
            </a:r>
          </a:p>
          <a:p>
            <a:pPr>
              <a:spcAft>
                <a:spcPts val="0"/>
              </a:spcAft>
            </a:pPr>
            <a:r>
              <a:rPr sz="1000">
                <a:solidFill>
                  <a:srgbClr val="FFFFFF"/>
                </a:solidFill>
                <a:latin typeface="Consolas"/>
              </a:rPr>
              <a:t>async def query_policy(question: str) -&gt; str:</a:t>
            </a:r>
          </a:p>
          <a:p>
            <a:pPr>
              <a:spcAft>
                <a:spcPts val="0"/>
              </a:spcAft>
            </a:pPr>
            <a:r>
              <a:rPr sz="1000">
                <a:solidFill>
                  <a:srgbClr val="FFFFFF"/>
                </a:solidFill>
                <a:latin typeface="Consolas"/>
              </a:rPr>
              <a:t>    """Query the Contoso HR policy</a:t>
            </a:r>
          </a:p>
          <a:p>
            <a:pPr>
              <a:spcAft>
                <a:spcPts val="0"/>
              </a:spcAft>
            </a:pPr>
            <a:r>
              <a:rPr sz="1000">
                <a:solidFill>
                  <a:srgbClr val="FFFFFF"/>
                </a:solidFill>
                <a:latin typeface="Consolas"/>
              </a:rPr>
              <a:t>    knowledge base via semantic search.</a:t>
            </a:r>
          </a:p>
          <a:p>
            <a:pPr>
              <a:spcAft>
                <a:spcPts val="0"/>
              </a:spcAft>
            </a:pPr>
            <a:r>
              <a:rPr sz="1000">
                <a:solidFill>
                  <a:srgbClr val="FFFFFF"/>
                </a:solidFill>
                <a:latin typeface="Consolas"/>
              </a:rPr>
              <a:t> </a:t>
            </a:r>
          </a:p>
          <a:p>
            <a:pPr>
              <a:spcAft>
                <a:spcPts val="0"/>
              </a:spcAft>
            </a:pPr>
            <a:r>
              <a:rPr sz="1000">
                <a:solidFill>
                  <a:srgbClr val="FFFFFF"/>
                </a:solidFill>
                <a:latin typeface="Consolas"/>
              </a:rPr>
              <a:t>    Args:</a:t>
            </a:r>
          </a:p>
          <a:p>
            <a:pPr>
              <a:spcAft>
                <a:spcPts val="0"/>
              </a:spcAft>
            </a:pPr>
            <a:r>
              <a:rPr sz="1000">
                <a:solidFill>
                  <a:srgbClr val="FFFFFF"/>
                </a:solidFill>
                <a:latin typeface="Consolas"/>
              </a:rPr>
              <a:t>        question: Natural language Q.</a:t>
            </a:r>
          </a:p>
          <a:p>
            <a:pPr>
              <a:spcAft>
                <a:spcPts val="0"/>
              </a:spcAft>
            </a:pPr>
            <a:r>
              <a:rPr sz="1000">
                <a:solidFill>
                  <a:srgbClr val="FFFFFF"/>
                </a:solidFill>
                <a:latin typeface="Consolas"/>
              </a:rPr>
              <a:t>    Returns:</a:t>
            </a:r>
          </a:p>
          <a:p>
            <a:pPr>
              <a:spcAft>
                <a:spcPts val="0"/>
              </a:spcAft>
            </a:pPr>
            <a:r>
              <a:rPr sz="1000">
                <a:solidFill>
                  <a:srgbClr val="FFFFFF"/>
                </a:solidFill>
                <a:latin typeface="Consolas"/>
              </a:rPr>
              <a:t>        Relevant policy text chunks.</a:t>
            </a:r>
          </a:p>
          <a:p>
            <a:pPr>
              <a:spcAft>
                <a:spcPts val="0"/>
              </a:spcAft>
            </a:pPr>
            <a:r>
              <a:rPr sz="1000">
                <a:solidFill>
                  <a:srgbClr val="FFFFFF"/>
                </a:solidFill>
                <a:latin typeface="Consolas"/>
              </a:rPr>
              <a:t>    """</a:t>
            </a:r>
          </a:p>
          <a:p>
            <a:pPr>
              <a:spcAft>
                <a:spcPts val="0"/>
              </a:spcAft>
            </a:pPr>
            <a:r>
              <a:rPr sz="1000">
                <a:solidFill>
                  <a:srgbClr val="FFFFFF"/>
                </a:solidFill>
                <a:latin typeface="Consolas"/>
              </a:rPr>
              <a:t>    from contoso_hr.knowledge.retriever \</a:t>
            </a:r>
          </a:p>
          <a:p>
            <a:pPr>
              <a:spcAft>
                <a:spcPts val="0"/>
              </a:spcAft>
            </a:pPr>
            <a:r>
              <a:rPr sz="1000">
                <a:solidFill>
                  <a:srgbClr val="FFFFFF"/>
                </a:solidFill>
                <a:latin typeface="Consolas"/>
              </a:rPr>
              <a:t>        import query_policy_knowledge</a:t>
            </a:r>
          </a:p>
          <a:p>
            <a:pPr>
              <a:spcAft>
                <a:spcPts val="0"/>
              </a:spcAft>
            </a:pPr>
            <a:r>
              <a:rPr sz="1000">
                <a:solidFill>
                  <a:srgbClr val="FFFFFF"/>
                </a:solidFill>
                <a:latin typeface="Consolas"/>
              </a:rPr>
              <a:t> </a:t>
            </a:r>
          </a:p>
          <a:p>
            <a:pPr>
              <a:spcAft>
                <a:spcPts val="0"/>
              </a:spcAft>
            </a:pPr>
            <a:r>
              <a:rPr sz="1000">
                <a:solidFill>
                  <a:srgbClr val="FFFFFF"/>
                </a:solidFill>
                <a:latin typeface="Consolas"/>
              </a:rPr>
              <a:t>    ctx = query_policy_knowledge(question, k=4)</a:t>
            </a:r>
          </a:p>
          <a:p>
            <a:pPr>
              <a:spcAft>
                <a:spcPts val="0"/>
              </a:spcAft>
            </a:pPr>
            <a:r>
              <a:rPr sz="1000">
                <a:solidFill>
                  <a:srgbClr val="FFFFFF"/>
                </a:solidFill>
                <a:latin typeface="Consolas"/>
              </a:rPr>
              <a:t>    if not ctx.chunks: return "No content."</a:t>
            </a:r>
          </a:p>
          <a:p>
            <a:pPr>
              <a:spcAft>
                <a:spcPts val="0"/>
              </a:spcAft>
            </a:pPr>
            <a:r>
              <a:rPr sz="1000">
                <a:solidFill>
                  <a:srgbClr val="FFFFFF"/>
                </a:solidFill>
                <a:latin typeface="Consolas"/>
              </a:rPr>
              <a:t>    return "\n---\n".join(</a:t>
            </a:r>
          </a:p>
          <a:p>
            <a:pPr>
              <a:spcAft>
                <a:spcPts val="0"/>
              </a:spcAft>
            </a:pPr>
            <a:r>
              <a:rPr sz="1000">
                <a:solidFill>
                  <a:srgbClr val="FFFFFF"/>
                </a:solidFill>
                <a:latin typeface="Consolas"/>
              </a:rPr>
              <a:t>        f"[{src}]\n{c}" for c, src</a:t>
            </a:r>
          </a:p>
          <a:p>
            <a:pPr>
              <a:spcAft>
                <a:spcPts val="0"/>
              </a:spcAft>
            </a:pPr>
            <a:r>
              <a:rPr sz="1000">
                <a:solidFill>
                  <a:srgbClr val="FFFFFF"/>
                </a:solidFill>
                <a:latin typeface="Consolas"/>
              </a:rPr>
              <a:t>        in zip(ctx.chunks, ctx.sources))</a:t>
            </a:r>
          </a:p>
        </p:txBody>
      </p:sp>
      <p:sp>
        <p:nvSpPr>
          <p:cNvPr id="12" name="Rectangle 11"/>
          <p:cNvSpPr/>
          <p:nvPr/>
        </p:nvSpPr>
        <p:spPr>
          <a:xfrm>
            <a:off x="8503920" y="1828800"/>
            <a:ext cx="3108960" cy="45262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993392"/>
            <a:ext cx="2743200" cy="365760"/>
          </a:xfrm>
          <a:prstGeom prst="rect">
            <a:avLst/>
          </a:prstGeom>
          <a:noFill/>
        </p:spPr>
        <p:txBody>
          <a:bodyPr wrap="square" lIns="0" rIns="0" tIns="0" bIns="0" anchor="t">
            <a:spAutoFit/>
          </a:bodyPr>
          <a:lstStyle/>
          <a:p>
            <a:pPr algn="l"/>
            <a:r>
              <a:rPr sz="1400" b="1" i="0">
                <a:solidFill>
                  <a:srgbClr val="FFB703"/>
                </a:solidFill>
                <a:latin typeface="Calibri"/>
              </a:rPr>
              <a:t>Read this code</a:t>
            </a:r>
          </a:p>
        </p:txBody>
      </p:sp>
      <p:sp>
        <p:nvSpPr>
          <p:cNvPr id="14" name="TextBox 13"/>
          <p:cNvSpPr txBox="1"/>
          <p:nvPr/>
        </p:nvSpPr>
        <p:spPr>
          <a:xfrm>
            <a:off x="8686800" y="2423160"/>
            <a:ext cx="2743200" cy="3840480"/>
          </a:xfrm>
          <a:prstGeom prst="rect">
            <a:avLst/>
          </a:prstGeom>
          <a:noFill/>
        </p:spPr>
        <p:txBody>
          <a:bodyPr wrap="square" lIns="0" rIns="0" tIns="0" bIns="0">
            <a:spAutoFit/>
          </a:bodyPr>
          <a:lstStyle/>
          <a:p>
            <a:pPr algn="l" indent="-228600" marL="228600">
              <a:spcAft>
                <a:spcPts val="800"/>
              </a:spcAft>
              <a:buChar char="•"/>
            </a:pPr>
            <a:r>
              <a:rPr sz="1100" b="1">
                <a:solidFill>
                  <a:srgbClr val="FFB703"/>
                </a:solidFill>
                <a:latin typeface="Calibri"/>
              </a:rPr>
              <a:t>@mcp.tool()</a:t>
            </a:r>
            <a:r>
              <a:rPr sz="1100">
                <a:solidFill>
                  <a:srgbClr val="FFFFFF"/>
                </a:solidFill>
                <a:latin typeface="Calibri"/>
              </a:rPr>
              <a:t>  Decorator registers.</a:t>
            </a:r>
          </a:p>
          <a:p>
            <a:pPr algn="l" indent="-228600" marL="228600">
              <a:spcAft>
                <a:spcPts val="800"/>
              </a:spcAft>
              <a:buChar char="•"/>
            </a:pPr>
            <a:r>
              <a:rPr sz="1100" b="1">
                <a:solidFill>
                  <a:srgbClr val="FFB703"/>
                </a:solidFill>
                <a:latin typeface="Calibri"/>
              </a:rPr>
              <a:t>async</a:t>
            </a:r>
            <a:r>
              <a:rPr sz="1100">
                <a:solidFill>
                  <a:srgbClr val="FFFFFF"/>
                </a:solidFill>
                <a:latin typeface="Calibri"/>
              </a:rPr>
              <a:t>  Tools are coroutines.</a:t>
            </a:r>
          </a:p>
          <a:p>
            <a:pPr algn="l" indent="-228600" marL="228600">
              <a:spcAft>
                <a:spcPts val="800"/>
              </a:spcAft>
              <a:buChar char="•"/>
            </a:pPr>
            <a:r>
              <a:rPr sz="1100" b="1">
                <a:solidFill>
                  <a:srgbClr val="FFB703"/>
                </a:solidFill>
                <a:latin typeface="Calibri"/>
              </a:rPr>
              <a:t>Type hints</a:t>
            </a:r>
            <a:r>
              <a:rPr sz="1100">
                <a:solidFill>
                  <a:srgbClr val="FFFFFF"/>
                </a:solidFill>
                <a:latin typeface="Calibri"/>
              </a:rPr>
              <a:t>  = JSON schema.</a:t>
            </a:r>
          </a:p>
          <a:p>
            <a:pPr algn="l" indent="-228600" marL="228600">
              <a:spcAft>
                <a:spcPts val="800"/>
              </a:spcAft>
              <a:buChar char="•"/>
            </a:pPr>
            <a:r>
              <a:rPr sz="1100" b="1">
                <a:solidFill>
                  <a:srgbClr val="FFB703"/>
                </a:solidFill>
                <a:latin typeface="Calibri"/>
              </a:rPr>
              <a:t>Docstring</a:t>
            </a:r>
            <a:r>
              <a:rPr sz="1100">
                <a:solidFill>
                  <a:srgbClr val="FFFFFF"/>
                </a:solidFill>
                <a:latin typeface="Calibri"/>
              </a:rPr>
              <a:t>  = description LLM sees.</a:t>
            </a:r>
          </a:p>
          <a:p>
            <a:pPr algn="l" indent="-228600" marL="228600">
              <a:spcAft>
                <a:spcPts val="800"/>
              </a:spcAft>
              <a:buChar char="•"/>
            </a:pPr>
            <a:r>
              <a:rPr sz="1100" b="1">
                <a:solidFill>
                  <a:srgbClr val="FFB703"/>
                </a:solidFill>
                <a:latin typeface="Calibri"/>
              </a:rPr>
              <a:t>Args:</a:t>
            </a:r>
            <a:r>
              <a:rPr sz="1100">
                <a:solidFill>
                  <a:srgbClr val="FFFFFF"/>
                </a:solidFill>
                <a:latin typeface="Calibri"/>
              </a:rPr>
              <a:t>  Parsed for params.</a:t>
            </a:r>
          </a:p>
          <a:p>
            <a:pPr algn="l" indent="-228600" marL="228600">
              <a:spcAft>
                <a:spcPts val="800"/>
              </a:spcAft>
              <a:buChar char="•"/>
            </a:pPr>
            <a:r>
              <a:rPr sz="1100" b="1">
                <a:solidFill>
                  <a:srgbClr val="FFB703"/>
                </a:solidFill>
                <a:latin typeface="Calibri"/>
              </a:rPr>
              <a:t>Return</a:t>
            </a:r>
            <a:r>
              <a:rPr sz="1100">
                <a:solidFill>
                  <a:srgbClr val="FFFFFF"/>
                </a:solidFill>
                <a:latin typeface="Calibri"/>
              </a:rPr>
              <a:t>  Free-form text or dict.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Real MCP code · ctx.sample() — server asks the LLM</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server.py — generate_eval_summary uses sampling to make the connected LLM write an exec summary.</a:t>
            </a:r>
          </a:p>
        </p:txBody>
      </p:sp>
      <p:sp>
        <p:nvSpPr>
          <p:cNvPr id="9" name="Rectangle 8"/>
          <p:cNvSpPr/>
          <p:nvPr/>
        </p:nvSpPr>
        <p:spPr>
          <a:xfrm>
            <a:off x="640080" y="1828800"/>
            <a:ext cx="768096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7406640" cy="4343400"/>
          </a:xfrm>
          <a:prstGeom prst="rect">
            <a:avLst/>
          </a:prstGeom>
          <a:noFill/>
        </p:spPr>
        <p:txBody>
          <a:bodyPr wrap="square" lIns="0" rIns="0" tIns="0" bIns="0">
            <a:spAutoFit/>
          </a:bodyPr>
          <a:lstStyle/>
          <a:p>
            <a:pPr>
              <a:spcAft>
                <a:spcPts val="0"/>
              </a:spcAft>
            </a:pPr>
            <a:r>
              <a:rPr sz="1000">
                <a:solidFill>
                  <a:srgbClr val="FFFFFF"/>
                </a:solidFill>
                <a:latin typeface="Consolas"/>
              </a:rPr>
              <a:t>@mcp.tool()</a:t>
            </a:r>
          </a:p>
          <a:p>
            <a:pPr>
              <a:spcAft>
                <a:spcPts val="0"/>
              </a:spcAft>
            </a:pPr>
            <a:r>
              <a:rPr sz="1000">
                <a:solidFill>
                  <a:srgbClr val="FFFFFF"/>
                </a:solidFill>
                <a:latin typeface="Consolas"/>
              </a:rPr>
              <a:t>async def generate_eval_summary(</a:t>
            </a:r>
          </a:p>
          <a:p>
            <a:pPr>
              <a:spcAft>
                <a:spcPts val="0"/>
              </a:spcAft>
            </a:pPr>
            <a:r>
              <a:rPr sz="1000">
                <a:solidFill>
                  <a:srgbClr val="FFFFFF"/>
                </a:solidFill>
                <a:latin typeface="Consolas"/>
              </a:rPr>
              <a:t>        candidate_id: str,</a:t>
            </a:r>
          </a:p>
          <a:p>
            <a:pPr>
              <a:spcAft>
                <a:spcPts val="0"/>
              </a:spcAft>
            </a:pPr>
            <a:r>
              <a:rPr sz="1000">
                <a:solidFill>
                  <a:srgbClr val="FFFFFF"/>
                </a:solidFill>
                <a:latin typeface="Consolas"/>
              </a:rPr>
              <a:t>        ctx: Context) -&gt; str:</a:t>
            </a:r>
          </a:p>
          <a:p>
            <a:pPr>
              <a:spcAft>
                <a:spcPts val="0"/>
              </a:spcAft>
            </a:pPr>
            <a:r>
              <a:rPr sz="1000">
                <a:solidFill>
                  <a:srgbClr val="FFFFFF"/>
                </a:solidFill>
                <a:latin typeface="Consolas"/>
              </a:rPr>
              <a:t>    """Generate exec summary via SAMPLING."""</a:t>
            </a:r>
          </a:p>
          <a:p>
            <a:pPr>
              <a:spcAft>
                <a:spcPts val="0"/>
              </a:spcAft>
            </a:pPr>
            <a:r>
              <a:rPr sz="1000">
                <a:solidFill>
                  <a:srgbClr val="FFFFFF"/>
                </a:solidFill>
                <a:latin typeface="Consolas"/>
              </a:rPr>
              <a:t>    result = _get_store().get_result(candidate_id)</a:t>
            </a:r>
          </a:p>
          <a:p>
            <a:pPr>
              <a:spcAft>
                <a:spcPts val="0"/>
              </a:spcAft>
            </a:pPr>
            <a:r>
              <a:rPr sz="1000">
                <a:solidFill>
                  <a:srgbClr val="FFFFFF"/>
                </a:solidFill>
                <a:latin typeface="Consolas"/>
              </a:rPr>
              <a:t>    if result is None:</a:t>
            </a:r>
          </a:p>
          <a:p>
            <a:pPr>
              <a:spcAft>
                <a:spcPts val="0"/>
              </a:spcAft>
            </a:pPr>
            <a:r>
              <a:rPr sz="1000">
                <a:solidFill>
                  <a:srgbClr val="FFFFFF"/>
                </a:solidFill>
                <a:latin typeface="Consolas"/>
              </a:rPr>
              <a:t>        return f"Candidate {candidate_id} not found."</a:t>
            </a:r>
          </a:p>
          <a:p>
            <a:pPr>
              <a:spcAft>
                <a:spcPts val="0"/>
              </a:spcAft>
            </a:pPr>
            <a:r>
              <a:rPr sz="1000">
                <a:solidFill>
                  <a:srgbClr val="FFFFFF"/>
                </a:solidFill>
                <a:latin typeface="Consolas"/>
              </a:rPr>
              <a:t> </a:t>
            </a:r>
          </a:p>
          <a:p>
            <a:pPr>
              <a:spcAft>
                <a:spcPts val="0"/>
              </a:spcAft>
            </a:pPr>
            <a:r>
              <a:rPr sz="1000">
                <a:solidFill>
                  <a:srgbClr val="FFFFFF"/>
                </a:solidFill>
                <a:latin typeface="Consolas"/>
              </a:rPr>
              <a:t>    eval_data = (</a:t>
            </a:r>
          </a:p>
          <a:p>
            <a:pPr>
              <a:spcAft>
                <a:spcPts val="0"/>
              </a:spcAft>
            </a:pPr>
            <a:r>
              <a:rPr sz="1000">
                <a:solidFill>
                  <a:srgbClr val="FFFFFF"/>
                </a:solidFill>
                <a:latin typeface="Consolas"/>
              </a:rPr>
              <a:t>        f"Candidate: {result.candidate_name}\n"</a:t>
            </a:r>
          </a:p>
          <a:p>
            <a:pPr>
              <a:spcAft>
                <a:spcPts val="0"/>
              </a:spcAft>
            </a:pPr>
            <a:r>
              <a:rPr sz="1000">
                <a:solidFill>
                  <a:srgbClr val="FFFFFF"/>
                </a:solidFill>
                <a:latin typeface="Consolas"/>
              </a:rPr>
              <a:t>        f"Disposition: {result.decision} "</a:t>
            </a:r>
          </a:p>
          <a:p>
            <a:pPr>
              <a:spcAft>
                <a:spcPts val="0"/>
              </a:spcAft>
            </a:pPr>
            <a:r>
              <a:rPr sz="1000">
                <a:solidFill>
                  <a:srgbClr val="FFFFFF"/>
                </a:solidFill>
                <a:latin typeface="Consolas"/>
              </a:rPr>
              <a:t>        f"(score {result.overall_score}/100)\n"</a:t>
            </a:r>
          </a:p>
          <a:p>
            <a:pPr>
              <a:spcAft>
                <a:spcPts val="0"/>
              </a:spcAft>
            </a:pPr>
            <a:r>
              <a:rPr sz="1000">
                <a:solidFill>
                  <a:srgbClr val="FFFFFF"/>
                </a:solidFill>
                <a:latin typeface="Consolas"/>
              </a:rPr>
              <a:t>        f"Strengths: {', '.join(result.strengths)}\n"</a:t>
            </a:r>
          </a:p>
          <a:p>
            <a:pPr>
              <a:spcAft>
                <a:spcPts val="0"/>
              </a:spcAft>
            </a:pPr>
            <a:r>
              <a:rPr sz="1000">
                <a:solidFill>
                  <a:srgbClr val="FFFFFF"/>
                </a:solidFill>
                <a:latin typeface="Consolas"/>
              </a:rPr>
              <a:t>        f"Red flags: {', '.join(result.red_flags)}"</a:t>
            </a:r>
          </a:p>
          <a:p>
            <a:pPr>
              <a:spcAft>
                <a:spcPts val="0"/>
              </a:spcAft>
            </a:pPr>
            <a:r>
              <a:rPr sz="1000">
                <a:solidFill>
                  <a:srgbClr val="FFFFFF"/>
                </a:solidFill>
                <a:latin typeface="Consolas"/>
              </a:rPr>
              <a:t>    )</a:t>
            </a:r>
          </a:p>
          <a:p>
            <a:pPr>
              <a:spcAft>
                <a:spcPts val="0"/>
              </a:spcAft>
            </a:pPr>
            <a:r>
              <a:rPr sz="1000">
                <a:solidFill>
                  <a:srgbClr val="FFFFFF"/>
                </a:solidFill>
                <a:latin typeface="Consolas"/>
              </a:rPr>
              <a:t> </a:t>
            </a:r>
          </a:p>
          <a:p>
            <a:pPr>
              <a:spcAft>
                <a:spcPts val="0"/>
              </a:spcAft>
            </a:pPr>
            <a:r>
              <a:rPr sz="1000">
                <a:solidFill>
                  <a:srgbClr val="FFFFFF"/>
                </a:solidFill>
                <a:latin typeface="Consolas"/>
              </a:rPr>
              <a:t>    # SERVER asks the connected LLM:</a:t>
            </a:r>
          </a:p>
          <a:p>
            <a:pPr>
              <a:spcAft>
                <a:spcPts val="0"/>
              </a:spcAft>
            </a:pPr>
            <a:r>
              <a:rPr sz="1000">
                <a:solidFill>
                  <a:srgbClr val="FFFFFF"/>
                </a:solidFill>
                <a:latin typeface="Consolas"/>
              </a:rPr>
              <a:t>    sampling = await ctx.sample(</a:t>
            </a:r>
          </a:p>
          <a:p>
            <a:pPr>
              <a:spcAft>
                <a:spcPts val="0"/>
              </a:spcAft>
            </a:pPr>
            <a:r>
              <a:rPr sz="1000">
                <a:solidFill>
                  <a:srgbClr val="FFFFFF"/>
                </a:solidFill>
                <a:latin typeface="Consolas"/>
              </a:rPr>
              <a:t>        messages=f"Write 3-5 sentence exec summary "</a:t>
            </a:r>
          </a:p>
          <a:p>
            <a:pPr>
              <a:spcAft>
                <a:spcPts val="0"/>
              </a:spcAft>
            </a:pPr>
            <a:r>
              <a:rPr sz="1000">
                <a:solidFill>
                  <a:srgbClr val="FFFFFF"/>
                </a:solidFill>
                <a:latin typeface="Consolas"/>
              </a:rPr>
              <a:t>                 f"for hiring manager:\n\n{eval_data}",</a:t>
            </a:r>
          </a:p>
          <a:p>
            <a:pPr>
              <a:spcAft>
                <a:spcPts val="0"/>
              </a:spcAft>
            </a:pPr>
            <a:r>
              <a:rPr sz="1000">
                <a:solidFill>
                  <a:srgbClr val="FFFFFF"/>
                </a:solidFill>
                <a:latin typeface="Consolas"/>
              </a:rPr>
              <a:t>        system_prompt="You are senior HR analyst.",</a:t>
            </a:r>
          </a:p>
          <a:p>
            <a:pPr>
              <a:spcAft>
                <a:spcPts val="0"/>
              </a:spcAft>
            </a:pPr>
            <a:r>
              <a:rPr sz="1000">
                <a:solidFill>
                  <a:srgbClr val="FFFFFF"/>
                </a:solidFill>
                <a:latin typeface="Consolas"/>
              </a:rPr>
              <a:t>        max_tokens=256,</a:t>
            </a:r>
          </a:p>
          <a:p>
            <a:pPr>
              <a:spcAft>
                <a:spcPts val="0"/>
              </a:spcAft>
            </a:pPr>
            <a:r>
              <a:rPr sz="1000">
                <a:solidFill>
                  <a:srgbClr val="FFFFFF"/>
                </a:solidFill>
                <a:latin typeface="Consolas"/>
              </a:rPr>
              <a:t>    )</a:t>
            </a:r>
          </a:p>
          <a:p>
            <a:pPr>
              <a:spcAft>
                <a:spcPts val="0"/>
              </a:spcAft>
            </a:pPr>
            <a:r>
              <a:rPr sz="1000">
                <a:solidFill>
                  <a:srgbClr val="FFFFFF"/>
                </a:solidFill>
                <a:latin typeface="Consolas"/>
              </a:rPr>
              <a:t>    return sampling.text</a:t>
            </a:r>
          </a:p>
        </p:txBody>
      </p:sp>
      <p:sp>
        <p:nvSpPr>
          <p:cNvPr id="12" name="Rectangle 11"/>
          <p:cNvSpPr/>
          <p:nvPr/>
        </p:nvSpPr>
        <p:spPr>
          <a:xfrm>
            <a:off x="8503920" y="1828800"/>
            <a:ext cx="3108960" cy="45262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993392"/>
            <a:ext cx="2743200" cy="365760"/>
          </a:xfrm>
          <a:prstGeom prst="rect">
            <a:avLst/>
          </a:prstGeom>
          <a:noFill/>
        </p:spPr>
        <p:txBody>
          <a:bodyPr wrap="square" lIns="0" rIns="0" tIns="0" bIns="0" anchor="t">
            <a:spAutoFit/>
          </a:bodyPr>
          <a:lstStyle/>
          <a:p>
            <a:pPr algn="l"/>
            <a:r>
              <a:rPr sz="1400" b="1" i="0">
                <a:solidFill>
                  <a:srgbClr val="FFB703"/>
                </a:solidFill>
                <a:latin typeface="Calibri"/>
              </a:rPr>
              <a:t>What just happened</a:t>
            </a:r>
          </a:p>
        </p:txBody>
      </p:sp>
      <p:sp>
        <p:nvSpPr>
          <p:cNvPr id="14" name="TextBox 13"/>
          <p:cNvSpPr txBox="1"/>
          <p:nvPr/>
        </p:nvSpPr>
        <p:spPr>
          <a:xfrm>
            <a:off x="8686800" y="2423160"/>
            <a:ext cx="2743200" cy="3840480"/>
          </a:xfrm>
          <a:prstGeom prst="rect">
            <a:avLst/>
          </a:prstGeom>
          <a:noFill/>
        </p:spPr>
        <p:txBody>
          <a:bodyPr wrap="square" lIns="0" rIns="0" tIns="0" bIns="0">
            <a:spAutoFit/>
          </a:bodyPr>
          <a:lstStyle/>
          <a:p>
            <a:pPr algn="l" indent="-228600" marL="228600">
              <a:spcAft>
                <a:spcPts val="800"/>
              </a:spcAft>
              <a:buChar char="•"/>
            </a:pPr>
            <a:r>
              <a:rPr sz="1100" b="1">
                <a:solidFill>
                  <a:srgbClr val="FFB703"/>
                </a:solidFill>
                <a:latin typeface="Calibri"/>
              </a:rPr>
              <a:t>Server side</a:t>
            </a:r>
            <a:r>
              <a:rPr sz="1100">
                <a:solidFill>
                  <a:srgbClr val="FFFFFF"/>
                </a:solidFill>
                <a:latin typeface="Calibri"/>
              </a:rPr>
              <a:t>  Inside an MCP tool.</a:t>
            </a:r>
          </a:p>
          <a:p>
            <a:pPr algn="l" indent="-228600" marL="228600">
              <a:spcAft>
                <a:spcPts val="800"/>
              </a:spcAft>
              <a:buChar char="•"/>
            </a:pPr>
            <a:r>
              <a:rPr sz="1100" b="1">
                <a:solidFill>
                  <a:srgbClr val="FFB703"/>
                </a:solidFill>
                <a:latin typeface="Calibri"/>
              </a:rPr>
              <a:t>ctx.sample()</a:t>
            </a:r>
            <a:r>
              <a:rPr sz="1100">
                <a:solidFill>
                  <a:srgbClr val="FFFFFF"/>
                </a:solidFill>
                <a:latin typeface="Calibri"/>
              </a:rPr>
              <a:t>  Reaches OUT to the LLM.</a:t>
            </a:r>
          </a:p>
          <a:p>
            <a:pPr algn="l" indent="-228600" marL="228600">
              <a:spcAft>
                <a:spcPts val="800"/>
              </a:spcAft>
              <a:buChar char="•"/>
            </a:pPr>
            <a:r>
              <a:rPr sz="1100" b="1">
                <a:solidFill>
                  <a:srgbClr val="FFB703"/>
                </a:solidFill>
                <a:latin typeface="Calibri"/>
              </a:rPr>
              <a:t>LLM-agnostic</a:t>
            </a:r>
            <a:r>
              <a:rPr sz="1100">
                <a:solidFill>
                  <a:srgbClr val="FFFFFF"/>
                </a:solidFill>
                <a:latin typeface="Calibri"/>
              </a:rPr>
              <a:t>  GPT, Claude, whatever.</a:t>
            </a:r>
          </a:p>
          <a:p>
            <a:pPr algn="l" indent="-228600" marL="228600">
              <a:spcAft>
                <a:spcPts val="800"/>
              </a:spcAft>
              <a:buChar char="•"/>
            </a:pPr>
            <a:r>
              <a:rPr sz="1100" b="1">
                <a:solidFill>
                  <a:srgbClr val="FFB703"/>
                </a:solidFill>
                <a:latin typeface="Calibri"/>
              </a:rPr>
              <a:t>Use cases</a:t>
            </a:r>
            <a:r>
              <a:rPr sz="1100">
                <a:solidFill>
                  <a:srgbClr val="FFFFFF"/>
                </a:solidFill>
                <a:latin typeface="Calibri"/>
              </a:rPr>
              <a:t>  Summaries, classifications.</a:t>
            </a:r>
          </a:p>
          <a:p>
            <a:pPr algn="l" indent="-228600" marL="228600">
              <a:spcAft>
                <a:spcPts val="800"/>
              </a:spcAft>
              <a:buChar char="•"/>
            </a:pPr>
            <a:r>
              <a:rPr sz="1100" b="1">
                <a:solidFill>
                  <a:srgbClr val="FFB703"/>
                </a:solidFill>
                <a:latin typeface="Calibri"/>
              </a:rPr>
              <a:t>Cost</a:t>
            </a:r>
            <a:r>
              <a:rPr sz="1100">
                <a:solidFill>
                  <a:srgbClr val="FFFFFF"/>
                </a:solidFill>
                <a:latin typeface="Calibri"/>
              </a:rPr>
              <a:t>  Counts against client budget.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Real MCP code · ctx.elicit() — server asks the USER</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server.py — confirm_and_evaluate pauses mid-tool to ask the human.</a:t>
            </a:r>
          </a:p>
        </p:txBody>
      </p:sp>
      <p:sp>
        <p:nvSpPr>
          <p:cNvPr id="9" name="Rectangle 8"/>
          <p:cNvSpPr/>
          <p:nvPr/>
        </p:nvSpPr>
        <p:spPr>
          <a:xfrm>
            <a:off x="640080" y="1828800"/>
            <a:ext cx="768096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7406640" cy="4343400"/>
          </a:xfrm>
          <a:prstGeom prst="rect">
            <a:avLst/>
          </a:prstGeom>
          <a:noFill/>
        </p:spPr>
        <p:txBody>
          <a:bodyPr wrap="square" lIns="0" rIns="0" tIns="0" bIns="0">
            <a:spAutoFit/>
          </a:bodyPr>
          <a:lstStyle/>
          <a:p>
            <a:pPr>
              <a:spcAft>
                <a:spcPts val="0"/>
              </a:spcAft>
            </a:pPr>
            <a:r>
              <a:rPr sz="1000">
                <a:solidFill>
                  <a:srgbClr val="FFFFFF"/>
                </a:solidFill>
                <a:latin typeface="Consolas"/>
              </a:rPr>
              <a:t>@dataclass</a:t>
            </a:r>
          </a:p>
          <a:p>
            <a:pPr>
              <a:spcAft>
                <a:spcPts val="0"/>
              </a:spcAft>
            </a:pPr>
            <a:r>
              <a:rPr sz="1000">
                <a:solidFill>
                  <a:srgbClr val="FFFFFF"/>
                </a:solidFill>
                <a:latin typeface="Consolas"/>
              </a:rPr>
              <a:t>class EvalConfirmation:</a:t>
            </a:r>
          </a:p>
          <a:p>
            <a:pPr>
              <a:spcAft>
                <a:spcPts val="0"/>
              </a:spcAft>
            </a:pPr>
            <a:r>
              <a:rPr sz="1000">
                <a:solidFill>
                  <a:srgbClr val="FFFFFF"/>
                </a:solidFill>
                <a:latin typeface="Consolas"/>
              </a:rPr>
              <a:t>    confirmed: bool</a:t>
            </a:r>
          </a:p>
          <a:p>
            <a:pPr>
              <a:spcAft>
                <a:spcPts val="0"/>
              </a:spcAft>
            </a:pPr>
            <a:r>
              <a:rPr sz="1000">
                <a:solidFill>
                  <a:srgbClr val="FFFFFF"/>
                </a:solidFill>
                <a:latin typeface="Consolas"/>
              </a:rPr>
              <a:t>    priority: str = "normal"</a:t>
            </a:r>
          </a:p>
          <a:p>
            <a:pPr>
              <a:spcAft>
                <a:spcPts val="0"/>
              </a:spcAft>
            </a:pPr>
            <a:r>
              <a:rPr sz="1000">
                <a:solidFill>
                  <a:srgbClr val="FFFFFF"/>
                </a:solidFill>
                <a:latin typeface="Consolas"/>
              </a:rPr>
              <a:t> </a:t>
            </a:r>
          </a:p>
          <a:p>
            <a:pPr>
              <a:spcAft>
                <a:spcPts val="0"/>
              </a:spcAft>
            </a:pPr>
            <a:r>
              <a:rPr sz="1000">
                <a:solidFill>
                  <a:srgbClr val="FFFFFF"/>
                </a:solidFill>
                <a:latin typeface="Consolas"/>
              </a:rPr>
              <a:t>@mcp.tool()</a:t>
            </a:r>
          </a:p>
          <a:p>
            <a:pPr>
              <a:spcAft>
                <a:spcPts val="0"/>
              </a:spcAft>
            </a:pPr>
            <a:r>
              <a:rPr sz="1000">
                <a:solidFill>
                  <a:srgbClr val="FFFFFF"/>
                </a:solidFill>
                <a:latin typeface="Consolas"/>
              </a:rPr>
              <a:t>async def confirm_and_evaluate(</a:t>
            </a:r>
          </a:p>
          <a:p>
            <a:pPr>
              <a:spcAft>
                <a:spcPts val="0"/>
              </a:spcAft>
            </a:pPr>
            <a:r>
              <a:rPr sz="1000">
                <a:solidFill>
                  <a:srgbClr val="FFFFFF"/>
                </a:solidFill>
                <a:latin typeface="Consolas"/>
              </a:rPr>
              <a:t>        resume_text: str,</a:t>
            </a:r>
          </a:p>
          <a:p>
            <a:pPr>
              <a:spcAft>
                <a:spcPts val="0"/>
              </a:spcAft>
            </a:pPr>
            <a:r>
              <a:rPr sz="1000">
                <a:solidFill>
                  <a:srgbClr val="FFFFFF"/>
                </a:solidFill>
                <a:latin typeface="Consolas"/>
              </a:rPr>
              <a:t>        ctx: Context,</a:t>
            </a:r>
          </a:p>
          <a:p>
            <a:pPr>
              <a:spcAft>
                <a:spcPts val="0"/>
              </a:spcAft>
            </a:pPr>
            <a:r>
              <a:rPr sz="1000">
                <a:solidFill>
                  <a:srgbClr val="FFFFFF"/>
                </a:solidFill>
                <a:latin typeface="Consolas"/>
              </a:rPr>
              <a:t>        filename: str = "submission.txt") -&gt; dict:</a:t>
            </a:r>
          </a:p>
          <a:p>
            <a:pPr>
              <a:spcAft>
                <a:spcPts val="0"/>
              </a:spcAft>
            </a:pPr>
            <a:r>
              <a:rPr sz="1000">
                <a:solidFill>
                  <a:srgbClr val="FFFFFF"/>
                </a:solidFill>
                <a:latin typeface="Consolas"/>
              </a:rPr>
              <a:t> </a:t>
            </a:r>
          </a:p>
          <a:p>
            <a:pPr>
              <a:spcAft>
                <a:spcPts val="0"/>
              </a:spcAft>
            </a:pPr>
            <a:r>
              <a:rPr sz="1000">
                <a:solidFill>
                  <a:srgbClr val="FFFFFF"/>
                </a:solidFill>
                <a:latin typeface="Consolas"/>
              </a:rPr>
              <a:t>    # SERVER pauses, asks the USER:</a:t>
            </a:r>
          </a:p>
          <a:p>
            <a:pPr>
              <a:spcAft>
                <a:spcPts val="0"/>
              </a:spcAft>
            </a:pPr>
            <a:r>
              <a:rPr sz="1000">
                <a:solidFill>
                  <a:srgbClr val="FFFFFF"/>
                </a:solidFill>
                <a:latin typeface="Consolas"/>
              </a:rPr>
              <a:t>    result = await ctx.elicit(</a:t>
            </a:r>
          </a:p>
          <a:p>
            <a:pPr>
              <a:spcAft>
                <a:spcPts val="0"/>
              </a:spcAft>
            </a:pPr>
            <a:r>
              <a:rPr sz="1000">
                <a:solidFill>
                  <a:srgbClr val="FFFFFF"/>
                </a:solidFill>
                <a:latin typeface="Consolas"/>
              </a:rPr>
              <a:t>        message=(</a:t>
            </a:r>
          </a:p>
          <a:p>
            <a:pPr>
              <a:spcAft>
                <a:spcPts val="0"/>
              </a:spcAft>
            </a:pPr>
            <a:r>
              <a:rPr sz="1000">
                <a:solidFill>
                  <a:srgbClr val="FFFFFF"/>
                </a:solidFill>
                <a:latin typeface="Consolas"/>
              </a:rPr>
              <a:t>            f"Ready to run AI evaluation for "</a:t>
            </a:r>
          </a:p>
          <a:p>
            <a:pPr>
              <a:spcAft>
                <a:spcPts val="0"/>
              </a:spcAft>
            </a:pPr>
            <a:r>
              <a:rPr sz="1000">
                <a:solidFill>
                  <a:srgbClr val="FFFFFF"/>
                </a:solidFill>
                <a:latin typeface="Consolas"/>
              </a:rPr>
              <a:t>            f"**{filename}**.\n\n"</a:t>
            </a:r>
          </a:p>
          <a:p>
            <a:pPr>
              <a:spcAft>
                <a:spcPts val="0"/>
              </a:spcAft>
            </a:pPr>
            <a:r>
              <a:rPr sz="1000">
                <a:solidFill>
                  <a:srgbClr val="FFFFFF"/>
                </a:solidFill>
                <a:latin typeface="Consolas"/>
              </a:rPr>
              <a:t>            f"Will call Foundry, ChromaDB, Brave. "</a:t>
            </a:r>
          </a:p>
          <a:p>
            <a:pPr>
              <a:spcAft>
                <a:spcPts val="0"/>
              </a:spcAft>
            </a:pPr>
            <a:r>
              <a:rPr sz="1000">
                <a:solidFill>
                  <a:srgbClr val="FFFFFF"/>
                </a:solidFill>
                <a:latin typeface="Consolas"/>
              </a:rPr>
              <a:t>            f"~30-120 seconds. Confirm?"),</a:t>
            </a:r>
          </a:p>
          <a:p>
            <a:pPr>
              <a:spcAft>
                <a:spcPts val="0"/>
              </a:spcAft>
            </a:pPr>
            <a:r>
              <a:rPr sz="1000">
                <a:solidFill>
                  <a:srgbClr val="FFFFFF"/>
                </a:solidFill>
                <a:latin typeface="Consolas"/>
              </a:rPr>
              <a:t>        response_type=EvalConfirmation,</a:t>
            </a:r>
          </a:p>
          <a:p>
            <a:pPr>
              <a:spcAft>
                <a:spcPts val="0"/>
              </a:spcAft>
            </a:pPr>
            <a:r>
              <a:rPr sz="1000">
                <a:solidFill>
                  <a:srgbClr val="FFFFFF"/>
                </a:solidFill>
                <a:latin typeface="Consolas"/>
              </a:rPr>
              <a:t>    )</a:t>
            </a:r>
          </a:p>
          <a:p>
            <a:pPr>
              <a:spcAft>
                <a:spcPts val="0"/>
              </a:spcAft>
            </a:pPr>
            <a:r>
              <a:rPr sz="1000">
                <a:solidFill>
                  <a:srgbClr val="FFFFFF"/>
                </a:solidFill>
                <a:latin typeface="Consolas"/>
              </a:rPr>
              <a:t> </a:t>
            </a:r>
          </a:p>
          <a:p>
            <a:pPr>
              <a:spcAft>
                <a:spcPts val="0"/>
              </a:spcAft>
            </a:pPr>
            <a:r>
              <a:rPr sz="1000">
                <a:solidFill>
                  <a:srgbClr val="FFFFFF"/>
                </a:solidFill>
                <a:latin typeface="Consolas"/>
              </a:rPr>
              <a:t>    if result.action != "accept":</a:t>
            </a:r>
          </a:p>
          <a:p>
            <a:pPr>
              <a:spcAft>
                <a:spcPts val="0"/>
              </a:spcAft>
            </a:pPr>
            <a:r>
              <a:rPr sz="1000">
                <a:solidFill>
                  <a:srgbClr val="FFFFFF"/>
                </a:solidFill>
                <a:latin typeface="Consolas"/>
              </a:rPr>
              <a:t>        return {"status": result.action,</a:t>
            </a:r>
          </a:p>
          <a:p>
            <a:pPr>
              <a:spcAft>
                <a:spcPts val="0"/>
              </a:spcAft>
            </a:pPr>
            <a:r>
              <a:rPr sz="1000">
                <a:solidFill>
                  <a:srgbClr val="FFFFFF"/>
                </a:solidFill>
                <a:latin typeface="Consolas"/>
              </a:rPr>
              <a:t>                "message": "Pipeline NOT run."}</a:t>
            </a:r>
          </a:p>
          <a:p>
            <a:pPr>
              <a:spcAft>
                <a:spcPts val="0"/>
              </a:spcAft>
            </a:pPr>
            <a:r>
              <a:rPr sz="1000">
                <a:solidFill>
                  <a:srgbClr val="FFFFFF"/>
                </a:solidFill>
                <a:latin typeface="Consolas"/>
              </a:rPr>
              <a:t>    if not result.data.confirmed:</a:t>
            </a:r>
          </a:p>
          <a:p>
            <a:pPr>
              <a:spcAft>
                <a:spcPts val="0"/>
              </a:spcAft>
            </a:pPr>
            <a:r>
              <a:rPr sz="1000">
                <a:solidFill>
                  <a:srgbClr val="FFFFFF"/>
                </a:solidFill>
                <a:latin typeface="Consolas"/>
              </a:rPr>
              <a:t>        return {"status": "declined"}</a:t>
            </a:r>
          </a:p>
          <a:p>
            <a:pPr>
              <a:spcAft>
                <a:spcPts val="0"/>
              </a:spcAft>
            </a:pPr>
            <a:r>
              <a:rPr sz="1000">
                <a:solidFill>
                  <a:srgbClr val="FFFFFF"/>
                </a:solidFill>
                <a:latin typeface="Consolas"/>
              </a:rPr>
              <a:t> </a:t>
            </a:r>
          </a:p>
          <a:p>
            <a:pPr>
              <a:spcAft>
                <a:spcPts val="0"/>
              </a:spcAft>
            </a:pPr>
            <a:r>
              <a:rPr sz="1000">
                <a:solidFill>
                  <a:srgbClr val="FFFFFF"/>
                </a:solidFill>
                <a:latin typeface="Consolas"/>
              </a:rPr>
              <a:t>    # Only here do we spend tokens:</a:t>
            </a:r>
          </a:p>
          <a:p>
            <a:pPr>
              <a:spcAft>
                <a:spcPts val="0"/>
              </a:spcAft>
            </a:pPr>
            <a:r>
              <a:rPr sz="1000">
                <a:solidFill>
                  <a:srgbClr val="FFFFFF"/>
                </a:solidFill>
                <a:latin typeface="Consolas"/>
              </a:rPr>
              <a:t>    return process_resume_text(</a:t>
            </a:r>
          </a:p>
          <a:p>
            <a:pPr>
              <a:spcAft>
                <a:spcPts val="0"/>
              </a:spcAft>
            </a:pPr>
            <a:r>
              <a:rPr sz="1000">
                <a:solidFill>
                  <a:srgbClr val="FFFFFF"/>
                </a:solidFill>
                <a:latin typeface="Consolas"/>
              </a:rPr>
              <a:t>        resume_text, filename).model_dump()</a:t>
            </a:r>
          </a:p>
        </p:txBody>
      </p:sp>
      <p:sp>
        <p:nvSpPr>
          <p:cNvPr id="12" name="Rectangle 11"/>
          <p:cNvSpPr/>
          <p:nvPr/>
        </p:nvSpPr>
        <p:spPr>
          <a:xfrm>
            <a:off x="8503920" y="1828800"/>
            <a:ext cx="3108960" cy="45262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993392"/>
            <a:ext cx="2743200" cy="365760"/>
          </a:xfrm>
          <a:prstGeom prst="rect">
            <a:avLst/>
          </a:prstGeom>
          <a:noFill/>
        </p:spPr>
        <p:txBody>
          <a:bodyPr wrap="square" lIns="0" rIns="0" tIns="0" bIns="0" anchor="t">
            <a:spAutoFit/>
          </a:bodyPr>
          <a:lstStyle/>
          <a:p>
            <a:pPr algn="l"/>
            <a:r>
              <a:rPr sz="1400" b="1" i="0">
                <a:solidFill>
                  <a:srgbClr val="FFB703"/>
                </a:solidFill>
                <a:latin typeface="Calibri"/>
              </a:rPr>
              <a:t>What just happened</a:t>
            </a:r>
          </a:p>
        </p:txBody>
      </p:sp>
      <p:sp>
        <p:nvSpPr>
          <p:cNvPr id="14" name="TextBox 13"/>
          <p:cNvSpPr txBox="1"/>
          <p:nvPr/>
        </p:nvSpPr>
        <p:spPr>
          <a:xfrm>
            <a:off x="8686800" y="2423160"/>
            <a:ext cx="2743200" cy="3840480"/>
          </a:xfrm>
          <a:prstGeom prst="rect">
            <a:avLst/>
          </a:prstGeom>
          <a:noFill/>
        </p:spPr>
        <p:txBody>
          <a:bodyPr wrap="square" lIns="0" rIns="0" tIns="0" bIns="0">
            <a:spAutoFit/>
          </a:bodyPr>
          <a:lstStyle/>
          <a:p>
            <a:pPr algn="l" indent="-228600" marL="228600">
              <a:spcAft>
                <a:spcPts val="800"/>
              </a:spcAft>
              <a:buChar char="•"/>
            </a:pPr>
            <a:r>
              <a:rPr sz="1100" b="1">
                <a:solidFill>
                  <a:srgbClr val="FFB703"/>
                </a:solidFill>
                <a:latin typeface="Calibri"/>
              </a:rPr>
              <a:t>dataclass</a:t>
            </a:r>
            <a:r>
              <a:rPr sz="1100">
                <a:solidFill>
                  <a:srgbClr val="FFFFFF"/>
                </a:solidFill>
                <a:latin typeface="Calibri"/>
              </a:rPr>
              <a:t>  Schema for form fields.</a:t>
            </a:r>
          </a:p>
          <a:p>
            <a:pPr algn="l" indent="-228600" marL="228600">
              <a:spcAft>
                <a:spcPts val="800"/>
              </a:spcAft>
              <a:buChar char="•"/>
            </a:pPr>
            <a:r>
              <a:rPr sz="1100" b="1">
                <a:solidFill>
                  <a:srgbClr val="FFB703"/>
                </a:solidFill>
                <a:latin typeface="Calibri"/>
              </a:rPr>
              <a:t>ctx.elicit()</a:t>
            </a:r>
            <a:r>
              <a:rPr sz="1100">
                <a:solidFill>
                  <a:srgbClr val="FFFFFF"/>
                </a:solidFill>
                <a:latin typeface="Calibri"/>
              </a:rPr>
              <a:t>  Pauses tool, shows form.</a:t>
            </a:r>
          </a:p>
          <a:p>
            <a:pPr algn="l" indent="-228600" marL="228600">
              <a:spcAft>
                <a:spcPts val="800"/>
              </a:spcAft>
              <a:buChar char="•"/>
            </a:pPr>
            <a:r>
              <a:rPr sz="1100" b="1">
                <a:solidFill>
                  <a:srgbClr val="FFB703"/>
                </a:solidFill>
                <a:latin typeface="Calibri"/>
              </a:rPr>
              <a:t>Three outcomes</a:t>
            </a:r>
            <a:r>
              <a:rPr sz="1100">
                <a:solidFill>
                  <a:srgbClr val="FFFFFF"/>
                </a:solidFill>
                <a:latin typeface="Calibri"/>
              </a:rPr>
              <a:t>  accept · decline · cancel.</a:t>
            </a:r>
          </a:p>
          <a:p>
            <a:pPr algn="l" indent="-228600" marL="228600">
              <a:spcAft>
                <a:spcPts val="800"/>
              </a:spcAft>
              <a:buChar char="•"/>
            </a:pPr>
            <a:r>
              <a:rPr sz="1100" b="1">
                <a:solidFill>
                  <a:srgbClr val="FFB703"/>
                </a:solidFill>
                <a:latin typeface="Calibri"/>
              </a:rPr>
              <a:t>Use case</a:t>
            </a:r>
            <a:r>
              <a:rPr sz="1100">
                <a:solidFill>
                  <a:srgbClr val="FFFFFF"/>
                </a:solidFill>
                <a:latin typeface="Calibri"/>
              </a:rPr>
              <a:t>  Gate expensive ops.</a:t>
            </a:r>
          </a:p>
          <a:p>
            <a:pPr algn="l" indent="-228600" marL="228600">
              <a:spcAft>
                <a:spcPts val="800"/>
              </a:spcAft>
              <a:buChar char="•"/>
            </a:pPr>
            <a:r>
              <a:rPr sz="1100" b="1">
                <a:solidFill>
                  <a:srgbClr val="FFB703"/>
                </a:solidFill>
                <a:latin typeface="Calibri"/>
              </a:rPr>
              <a:t>In Inspector</a:t>
            </a:r>
            <a:r>
              <a:rPr sz="1100">
                <a:solidFill>
                  <a:srgbClr val="FFFFFF"/>
                </a:solidFill>
                <a:latin typeface="Calibri"/>
              </a:rPr>
              <a:t>  Shows as confirmation modal.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MCP resources — static + parameterized templates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server.py — resources are READS. Cheaper than tools. URI templates support parameters.</a:t>
            </a:r>
          </a:p>
        </p:txBody>
      </p:sp>
      <p:sp>
        <p:nvSpPr>
          <p:cNvPr id="9" name="Rectangle 8"/>
          <p:cNvSpPr/>
          <p:nvPr/>
        </p:nvSpPr>
        <p:spPr>
          <a:xfrm>
            <a:off x="640080" y="1828800"/>
            <a:ext cx="1097280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10698480" cy="4343400"/>
          </a:xfrm>
          <a:prstGeom prst="rect">
            <a:avLst/>
          </a:prstGeom>
          <a:noFill/>
        </p:spPr>
        <p:txBody>
          <a:bodyPr wrap="square" lIns="0" rIns="0" tIns="0" bIns="0">
            <a:spAutoFit/>
          </a:bodyPr>
          <a:lstStyle/>
          <a:p>
            <a:pPr>
              <a:spcAft>
                <a:spcPts val="0"/>
              </a:spcAft>
            </a:pPr>
            <a:r>
              <a:rPr sz="1100">
                <a:solidFill>
                  <a:srgbClr val="FFFFFF"/>
                </a:solidFill>
                <a:latin typeface="Consolas"/>
              </a:rPr>
              <a:t># Static resources: simple URIs, no parameters</a:t>
            </a:r>
          </a:p>
          <a:p>
            <a:pPr>
              <a:spcAft>
                <a:spcPts val="0"/>
              </a:spcAft>
            </a:pPr>
            <a:r>
              <a:rPr sz="1100">
                <a:solidFill>
                  <a:srgbClr val="FFFFFF"/>
                </a:solidFill>
                <a:latin typeface="Consolas"/>
              </a:rPr>
              <a:t>@mcp.resource("schema://candidate")</a:t>
            </a:r>
          </a:p>
          <a:p>
            <a:pPr>
              <a:spcAft>
                <a:spcPts val="0"/>
              </a:spcAft>
            </a:pPr>
            <a:r>
              <a:rPr sz="1100">
                <a:solidFill>
                  <a:srgbClr val="FFFFFF"/>
                </a:solidFill>
                <a:latin typeface="Consolas"/>
              </a:rPr>
              <a:t>def candidate_schema() -&gt; str:</a:t>
            </a:r>
          </a:p>
          <a:p>
            <a:pPr>
              <a:spcAft>
                <a:spcPts val="0"/>
              </a:spcAft>
            </a:pPr>
            <a:r>
              <a:rPr sz="1100">
                <a:solidFill>
                  <a:srgbClr val="FFFFFF"/>
                </a:solidFill>
                <a:latin typeface="Consolas"/>
              </a:rPr>
              <a:t>    return json.dumps(EvaluationResult.model_json_schema(), indent=2)</a:t>
            </a:r>
          </a:p>
          <a:p>
            <a:pPr>
              <a:spcAft>
                <a:spcPts val="0"/>
              </a:spcAft>
            </a:pPr>
            <a:r>
              <a:rPr sz="1100">
                <a:solidFill>
                  <a:srgbClr val="FFFFFF"/>
                </a:solidFill>
                <a:latin typeface="Consolas"/>
              </a:rPr>
              <a:t> </a:t>
            </a:r>
          </a:p>
          <a:p>
            <a:pPr>
              <a:spcAft>
                <a:spcPts val="0"/>
              </a:spcAft>
            </a:pPr>
            <a:r>
              <a:rPr sz="1100">
                <a:solidFill>
                  <a:srgbClr val="FFFFFF"/>
                </a:solidFill>
                <a:latin typeface="Consolas"/>
              </a:rPr>
              <a:t>@mcp.resource("stats://evaluations")</a:t>
            </a:r>
          </a:p>
          <a:p>
            <a:pPr>
              <a:spcAft>
                <a:spcPts val="0"/>
              </a:spcAft>
            </a:pPr>
            <a:r>
              <a:rPr sz="1100">
                <a:solidFill>
                  <a:srgbClr val="FFFFFF"/>
                </a:solidFill>
                <a:latin typeface="Consolas"/>
              </a:rPr>
              <a:t>def evaluation_stats() -&gt; str:</a:t>
            </a:r>
          </a:p>
          <a:p>
            <a:pPr>
              <a:spcAft>
                <a:spcPts val="0"/>
              </a:spcAft>
            </a:pPr>
            <a:r>
              <a:rPr sz="1100">
                <a:solidFill>
                  <a:srgbClr val="FFFFFF"/>
                </a:solidFill>
                <a:latin typeface="Consolas"/>
              </a:rPr>
              <a:t>    return json.dumps(_get_store().get_stats(), indent=2)</a:t>
            </a:r>
          </a:p>
          <a:p>
            <a:pPr>
              <a:spcAft>
                <a:spcPts val="0"/>
              </a:spcAft>
            </a:pPr>
            <a:r>
              <a:rPr sz="1100">
                <a:solidFill>
                  <a:srgbClr val="FFFFFF"/>
                </a:solidFill>
                <a:latin typeface="Consolas"/>
              </a:rPr>
              <a:t> </a:t>
            </a:r>
          </a:p>
          <a:p>
            <a:pPr>
              <a:spcAft>
                <a:spcPts val="0"/>
              </a:spcAft>
            </a:pPr>
            <a:r>
              <a:rPr sz="1100">
                <a:solidFill>
                  <a:srgbClr val="FFFFFF"/>
                </a:solidFill>
                <a:latin typeface="Consolas"/>
              </a:rPr>
              <a:t> </a:t>
            </a:r>
          </a:p>
          <a:p>
            <a:pPr>
              <a:spcAft>
                <a:spcPts val="0"/>
              </a:spcAft>
            </a:pPr>
            <a:r>
              <a:rPr sz="1100">
                <a:solidFill>
                  <a:srgbClr val="FFFFFF"/>
                </a:solidFill>
                <a:latin typeface="Consolas"/>
              </a:rPr>
              <a:t># Parameterized templates: URI patterns with {placeholders}</a:t>
            </a:r>
          </a:p>
          <a:p>
            <a:pPr>
              <a:spcAft>
                <a:spcPts val="0"/>
              </a:spcAft>
            </a:pPr>
            <a:r>
              <a:rPr sz="1100">
                <a:solidFill>
                  <a:srgbClr val="FFFFFF"/>
                </a:solidFill>
                <a:latin typeface="Consolas"/>
              </a:rPr>
              <a:t>@mcp.resource("candidate://{candidate_id}")</a:t>
            </a:r>
          </a:p>
          <a:p>
            <a:pPr>
              <a:spcAft>
                <a:spcPts val="0"/>
              </a:spcAft>
            </a:pPr>
            <a:r>
              <a:rPr sz="1100">
                <a:solidFill>
                  <a:srgbClr val="FFFFFF"/>
                </a:solidFill>
                <a:latin typeface="Consolas"/>
              </a:rPr>
              <a:t>def candidate_resource(candidate_id: str) -&gt; str:</a:t>
            </a:r>
          </a:p>
          <a:p>
            <a:pPr>
              <a:spcAft>
                <a:spcPts val="0"/>
              </a:spcAft>
            </a:pPr>
            <a:r>
              <a:rPr sz="1100">
                <a:solidFill>
                  <a:srgbClr val="FFFFFF"/>
                </a:solidFill>
                <a:latin typeface="Consolas"/>
              </a:rPr>
              <a:t>    """Formatted markdown profile for one evaluated candidate."""</a:t>
            </a:r>
          </a:p>
          <a:p>
            <a:pPr>
              <a:spcAft>
                <a:spcPts val="0"/>
              </a:spcAft>
            </a:pPr>
            <a:r>
              <a:rPr sz="1100">
                <a:solidFill>
                  <a:srgbClr val="FFFFFF"/>
                </a:solidFill>
                <a:latin typeface="Consolas"/>
              </a:rPr>
              <a:t>    result = _get_store().get_result(candidate_id)</a:t>
            </a:r>
          </a:p>
          <a:p>
            <a:pPr>
              <a:spcAft>
                <a:spcPts val="0"/>
              </a:spcAft>
            </a:pPr>
            <a:r>
              <a:rPr sz="1100">
                <a:solidFill>
                  <a:srgbClr val="FFFFFF"/>
                </a:solidFill>
                <a:latin typeface="Consolas"/>
              </a:rPr>
              <a:t>    if result is None:</a:t>
            </a:r>
          </a:p>
          <a:p>
            <a:pPr>
              <a:spcAft>
                <a:spcPts val="0"/>
              </a:spcAft>
            </a:pPr>
            <a:r>
              <a:rPr sz="1100">
                <a:solidFill>
                  <a:srgbClr val="FFFFFF"/>
                </a:solidFill>
                <a:latin typeface="Consolas"/>
              </a:rPr>
              <a:t>        return f"# Candidate Not Found"</a:t>
            </a:r>
          </a:p>
          <a:p>
            <a:pPr>
              <a:spcAft>
                <a:spcPts val="0"/>
              </a:spcAft>
            </a:pPr>
            <a:r>
              <a:rPr sz="1100">
                <a:solidFill>
                  <a:srgbClr val="FFFFFF"/>
                </a:solidFill>
                <a:latin typeface="Consolas"/>
              </a:rPr>
              <a:t>    return f"# {result.candidate_name}\n**Decision:** {result.decision}"</a:t>
            </a:r>
          </a:p>
          <a:p>
            <a:pPr>
              <a:spcAft>
                <a:spcPts val="0"/>
              </a:spcAft>
            </a:pPr>
            <a:r>
              <a:rPr sz="1100">
                <a:solidFill>
                  <a:srgbClr val="FFFFFF"/>
                </a:solidFill>
                <a:latin typeface="Consolas"/>
              </a:rPr>
              <a:t> </a:t>
            </a:r>
          </a:p>
          <a:p>
            <a:pPr>
              <a:spcAft>
                <a:spcPts val="0"/>
              </a:spcAft>
            </a:pPr>
            <a:r>
              <a:rPr sz="1100">
                <a:solidFill>
                  <a:srgbClr val="FFFFFF"/>
                </a:solidFill>
                <a:latin typeface="Consolas"/>
              </a:rPr>
              <a:t> </a:t>
            </a:r>
          </a:p>
          <a:p>
            <a:pPr>
              <a:spcAft>
                <a:spcPts val="0"/>
              </a:spcAft>
            </a:pPr>
            <a:r>
              <a:rPr sz="1100">
                <a:solidFill>
                  <a:srgbClr val="FFFFFF"/>
                </a:solidFill>
                <a:latin typeface="Consolas"/>
              </a:rPr>
              <a:t>@mcp.resource("policy://{topic}")</a:t>
            </a:r>
          </a:p>
          <a:p>
            <a:pPr>
              <a:spcAft>
                <a:spcPts val="0"/>
              </a:spcAft>
            </a:pPr>
            <a:r>
              <a:rPr sz="1100">
                <a:solidFill>
                  <a:srgbClr val="FFFFFF"/>
                </a:solidFill>
                <a:latin typeface="Consolas"/>
              </a:rPr>
              <a:t>def policy_topic_resource(topic: str) -&gt; str:</a:t>
            </a:r>
          </a:p>
          <a:p>
            <a:pPr>
              <a:spcAft>
                <a:spcPts val="0"/>
              </a:spcAft>
            </a:pPr>
            <a:r>
              <a:rPr sz="1100">
                <a:solidFill>
                  <a:srgbClr val="FFFFFF"/>
                </a:solidFill>
                <a:latin typeface="Consolas"/>
              </a:rPr>
              <a:t>    """HR policy chunks relevant to a topic keyword."""</a:t>
            </a:r>
          </a:p>
          <a:p>
            <a:pPr>
              <a:spcAft>
                <a:spcPts val="0"/>
              </a:spcAft>
            </a:pPr>
            <a:r>
              <a:rPr sz="1100">
                <a:solidFill>
                  <a:srgbClr val="FFFFFF"/>
                </a:solidFill>
                <a:latin typeface="Consolas"/>
              </a:rPr>
              <a:t>    ctx = query_policy_knowledge(topic, k=3)</a:t>
            </a:r>
          </a:p>
          <a:p>
            <a:pPr>
              <a:spcAft>
                <a:spcPts val="0"/>
              </a:spcAft>
            </a:pPr>
            <a:r>
              <a:rPr sz="1100">
                <a:solidFill>
                  <a:srgbClr val="FFFFFF"/>
                </a:solidFill>
                <a:latin typeface="Consolas"/>
              </a:rPr>
              <a:t>    return "\n---\n".join(f"[{s}]\n{c}"</a:t>
            </a:r>
          </a:p>
          <a:p>
            <a:pPr>
              <a:spcAft>
                <a:spcPts val="0"/>
              </a:spcAft>
            </a:pPr>
            <a:r>
              <a:rPr sz="1100">
                <a:solidFill>
                  <a:srgbClr val="FFFFFF"/>
                </a:solidFill>
                <a:latin typeface="Consolas"/>
              </a:rPr>
              <a:t>        for c, s in zip(ctx.chunks, ctx.sources))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PRIMITIVES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Sampling vs elicitation — flipping who talks to whom</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Sampling — server asks the LLM</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ctx.sample() inside a tool implementation.</a:t>
            </a:r>
          </a:p>
          <a:p>
            <a:pPr algn="l" indent="-228600" marL="228600">
              <a:spcAft>
                <a:spcPts val="800"/>
              </a:spcAft>
              <a:buChar char="•"/>
            </a:pPr>
            <a:r>
              <a:rPr sz="1500">
                <a:solidFill>
                  <a:srgbClr val="0F172A"/>
                </a:solidFill>
                <a:latin typeface="Calibri"/>
              </a:rPr>
              <a:t>Server hands data to the LLM and asks for prose back.</a:t>
            </a:r>
          </a:p>
          <a:p>
            <a:pPr algn="l" indent="-228600" marL="228600">
              <a:spcAft>
                <a:spcPts val="800"/>
              </a:spcAft>
              <a:buChar char="•"/>
            </a:pPr>
            <a:r>
              <a:rPr sz="1500">
                <a:solidFill>
                  <a:srgbClr val="0F172A"/>
                </a:solidFill>
                <a:latin typeface="Calibri"/>
              </a:rPr>
              <a:t>Use case: generate an executive summary for a candidate.</a:t>
            </a:r>
          </a:p>
          <a:p>
            <a:pPr algn="l" indent="-228600" marL="228600">
              <a:spcAft>
                <a:spcPts val="800"/>
              </a:spcAft>
              <a:buChar char="•"/>
            </a:pPr>
            <a:r>
              <a:rPr sz="1500">
                <a:solidFill>
                  <a:srgbClr val="0F172A"/>
                </a:solidFill>
                <a:latin typeface="Calibri"/>
              </a:rPr>
              <a:t>Why: server stays LLM-agnostic; the connected client provides the brain.</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Elicitation — server asks the user</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ctx.elicit() inside a tool implementation.</a:t>
            </a:r>
          </a:p>
          <a:p>
            <a:pPr algn="l" indent="-228600" marL="228600">
              <a:spcAft>
                <a:spcPts val="800"/>
              </a:spcAft>
              <a:buChar char="•"/>
            </a:pPr>
            <a:r>
              <a:rPr sz="1500">
                <a:solidFill>
                  <a:srgbClr val="0F172A"/>
                </a:solidFill>
                <a:latin typeface="Calibri"/>
              </a:rPr>
              <a:t>Server pauses the tool and pops a structured form to the human.</a:t>
            </a:r>
          </a:p>
          <a:p>
            <a:pPr algn="l" indent="-228600" marL="228600">
              <a:spcAft>
                <a:spcPts val="800"/>
              </a:spcAft>
              <a:buChar char="•"/>
            </a:pPr>
            <a:r>
              <a:rPr sz="1500">
                <a:solidFill>
                  <a:srgbClr val="0F172A"/>
                </a:solidFill>
                <a:latin typeface="Calibri"/>
              </a:rPr>
              <a:t>Use case: confirm before running an expensive 30-second pipeline.</a:t>
            </a:r>
          </a:p>
          <a:p>
            <a:pPr algn="l" indent="-228600" marL="228600">
              <a:spcAft>
                <a:spcPts val="800"/>
              </a:spcAft>
              <a:buChar char="•"/>
            </a:pPr>
            <a:r>
              <a:rPr sz="1500">
                <a:solidFill>
                  <a:srgbClr val="0F172A"/>
                </a:solidFill>
                <a:latin typeface="Calibri"/>
              </a:rPr>
              <a:t>Why: human-in-the-loop guardrails baked into the tool, not the prompt.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RAG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RAG essentials — how knowledge gets into the agent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6400800" cy="457200"/>
          </a:xfrm>
          <a:prstGeom prst="rect">
            <a:avLst/>
          </a:prstGeom>
          <a:noFill/>
        </p:spPr>
        <p:txBody>
          <a:bodyPr wrap="square" lIns="0" rIns="0" tIns="0" bIns="0" anchor="t">
            <a:spAutoFit/>
          </a:bodyPr>
          <a:lstStyle/>
          <a:p>
            <a:pPr algn="l"/>
            <a:r>
              <a:rPr sz="1800" b="1" i="0">
                <a:solidFill>
                  <a:srgbClr val="0B1B3F"/>
                </a:solidFill>
                <a:latin typeface="Calibri"/>
              </a:rPr>
              <a:t>Ingest → Chunk → Embed → Index → Retrieve → Ground</a:t>
            </a:r>
          </a:p>
        </p:txBody>
      </p:sp>
      <p:sp>
        <p:nvSpPr>
          <p:cNvPr id="9" name="TextBox 8"/>
          <p:cNvSpPr txBox="1"/>
          <p:nvPr/>
        </p:nvSpPr>
        <p:spPr>
          <a:xfrm>
            <a:off x="640080" y="1828800"/>
            <a:ext cx="6400800" cy="4114800"/>
          </a:xfrm>
          <a:prstGeom prst="rect">
            <a:avLst/>
          </a:prstGeom>
          <a:noFill/>
        </p:spPr>
        <p:txBody>
          <a:bodyPr wrap="square" lIns="0" rIns="0" tIns="0" bIns="0">
            <a:spAutoFit/>
          </a:bodyPr>
          <a:lstStyle/>
          <a:p>
            <a:pPr algn="l" indent="-228600" marL="228600">
              <a:spcAft>
                <a:spcPts val="1000"/>
              </a:spcAft>
              <a:buChar char="•"/>
            </a:pPr>
            <a:r>
              <a:rPr sz="1400" b="1">
                <a:solidFill>
                  <a:srgbClr val="CC9000"/>
                </a:solidFill>
                <a:latin typeface="Calibri"/>
              </a:rPr>
              <a:t>1. Ingest</a:t>
            </a:r>
            <a:r>
              <a:rPr sz="1400">
                <a:solidFill>
                  <a:srgbClr val="0F172A"/>
                </a:solidFill>
                <a:latin typeface="Calibri"/>
              </a:rPr>
              <a:t>  Load .pdf / .docx / .pptx / .md into raw text.</a:t>
            </a:r>
          </a:p>
          <a:p>
            <a:pPr algn="l" indent="-228600" marL="228600">
              <a:spcAft>
                <a:spcPts val="1000"/>
              </a:spcAft>
              <a:buChar char="•"/>
            </a:pPr>
            <a:r>
              <a:rPr sz="1400" b="1">
                <a:solidFill>
                  <a:srgbClr val="CC9000"/>
                </a:solidFill>
                <a:latin typeface="Calibri"/>
              </a:rPr>
              <a:t>2. Chunk</a:t>
            </a:r>
            <a:r>
              <a:rPr sz="1400">
                <a:solidFill>
                  <a:srgbClr val="0F172A"/>
                </a:solidFill>
                <a:latin typeface="Calibri"/>
              </a:rPr>
              <a:t>  Split with overlap (e.g., 1000 tokens, 200 overlap).</a:t>
            </a:r>
          </a:p>
          <a:p>
            <a:pPr algn="l" indent="-228600" marL="228600">
              <a:spcAft>
                <a:spcPts val="1000"/>
              </a:spcAft>
              <a:buChar char="•"/>
            </a:pPr>
            <a:r>
              <a:rPr sz="1400" b="1">
                <a:solidFill>
                  <a:srgbClr val="CC9000"/>
                </a:solidFill>
                <a:latin typeface="Calibri"/>
              </a:rPr>
              <a:t>3. Embed</a:t>
            </a:r>
            <a:r>
              <a:rPr sz="1400">
                <a:solidFill>
                  <a:srgbClr val="0F172A"/>
                </a:solidFill>
                <a:latin typeface="Calibri"/>
              </a:rPr>
              <a:t>  Azure text-embedding-ada-002 → 1536-dim vectors.</a:t>
            </a:r>
          </a:p>
          <a:p>
            <a:pPr algn="l" indent="-228600" marL="228600">
              <a:spcAft>
                <a:spcPts val="1000"/>
              </a:spcAft>
              <a:buChar char="•"/>
            </a:pPr>
            <a:r>
              <a:rPr sz="1400" b="1">
                <a:solidFill>
                  <a:srgbClr val="CC9000"/>
                </a:solidFill>
                <a:latin typeface="Calibri"/>
              </a:rPr>
              <a:t>4. Index</a:t>
            </a:r>
            <a:r>
              <a:rPr sz="1400">
                <a:solidFill>
                  <a:srgbClr val="0F172A"/>
                </a:solidFill>
                <a:latin typeface="Calibri"/>
              </a:rPr>
              <a:t>  Store in ChromaDB (dev) or Azure AI Search (prod).</a:t>
            </a:r>
          </a:p>
          <a:p>
            <a:pPr algn="l" indent="-228600" marL="228600">
              <a:spcAft>
                <a:spcPts val="1000"/>
              </a:spcAft>
              <a:buChar char="•"/>
            </a:pPr>
            <a:r>
              <a:rPr sz="1400" b="1">
                <a:solidFill>
                  <a:srgbClr val="CC9000"/>
                </a:solidFill>
                <a:latin typeface="Calibri"/>
              </a:rPr>
              <a:t>5. Retrieve</a:t>
            </a:r>
            <a:r>
              <a:rPr sz="1400">
                <a:solidFill>
                  <a:srgbClr val="0F172A"/>
                </a:solidFill>
                <a:latin typeface="Calibri"/>
              </a:rPr>
              <a:t>  Embed the question, find top-k cosine matches.</a:t>
            </a:r>
          </a:p>
          <a:p>
            <a:pPr algn="l" indent="-228600" marL="228600">
              <a:spcAft>
                <a:spcPts val="1000"/>
              </a:spcAft>
              <a:buChar char="•"/>
            </a:pPr>
            <a:r>
              <a:rPr sz="1400" b="1">
                <a:solidFill>
                  <a:srgbClr val="CC9000"/>
                </a:solidFill>
                <a:latin typeface="Calibri"/>
              </a:rPr>
              <a:t>6. Ground</a:t>
            </a:r>
            <a:r>
              <a:rPr sz="1400">
                <a:solidFill>
                  <a:srgbClr val="0F172A"/>
                </a:solidFill>
                <a:latin typeface="Calibri"/>
              </a:rPr>
              <a:t>  Stuff retrieved chunks into the prompt as context.</a:t>
            </a:r>
          </a:p>
        </p:txBody>
      </p:sp>
      <p:sp>
        <p:nvSpPr>
          <p:cNvPr id="10" name="Rectangle 9"/>
          <p:cNvSpPr/>
          <p:nvPr/>
        </p:nvSpPr>
        <p:spPr>
          <a:xfrm>
            <a:off x="7315200" y="1417320"/>
            <a:ext cx="438912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1691640"/>
            <a:ext cx="3931920" cy="457200"/>
          </a:xfrm>
          <a:prstGeom prst="rect">
            <a:avLst/>
          </a:prstGeom>
          <a:noFill/>
        </p:spPr>
        <p:txBody>
          <a:bodyPr wrap="square" lIns="0" rIns="0" tIns="0" bIns="0" anchor="t">
            <a:spAutoFit/>
          </a:bodyPr>
          <a:lstStyle/>
          <a:p>
            <a:pPr algn="l"/>
            <a:r>
              <a:rPr sz="1600" b="1" i="0">
                <a:solidFill>
                  <a:srgbClr val="FFB703"/>
                </a:solidFill>
                <a:latin typeface="Calibri"/>
              </a:rPr>
              <a:t>Contoso HR knowledge base</a:t>
            </a:r>
          </a:p>
        </p:txBody>
      </p:sp>
      <p:sp>
        <p:nvSpPr>
          <p:cNvPr id="12" name="TextBox 11"/>
          <p:cNvSpPr txBox="1"/>
          <p:nvPr/>
        </p:nvSpPr>
        <p:spPr>
          <a:xfrm>
            <a:off x="7543800" y="2377440"/>
            <a:ext cx="3931920" cy="914400"/>
          </a:xfrm>
          <a:prstGeom prst="rect">
            <a:avLst/>
          </a:prstGeom>
          <a:noFill/>
        </p:spPr>
        <p:txBody>
          <a:bodyPr wrap="square" lIns="0" rIns="0" tIns="0" bIns="0" anchor="t">
            <a:spAutoFit/>
          </a:bodyPr>
          <a:lstStyle/>
          <a:p>
            <a:pPr algn="l"/>
            <a:r>
              <a:rPr sz="6400" b="1" i="0">
                <a:solidFill>
                  <a:srgbClr val="00B4D8"/>
                </a:solidFill>
                <a:latin typeface="Calibri"/>
              </a:rPr>
              <a:t>146</a:t>
            </a:r>
          </a:p>
        </p:txBody>
      </p:sp>
      <p:sp>
        <p:nvSpPr>
          <p:cNvPr id="13" name="TextBox 12"/>
          <p:cNvSpPr txBox="1"/>
          <p:nvPr/>
        </p:nvSpPr>
        <p:spPr>
          <a:xfrm>
            <a:off x="7543800" y="3383280"/>
            <a:ext cx="3931920" cy="365760"/>
          </a:xfrm>
          <a:prstGeom prst="rect">
            <a:avLst/>
          </a:prstGeom>
          <a:noFill/>
        </p:spPr>
        <p:txBody>
          <a:bodyPr wrap="square" lIns="0" rIns="0" tIns="0" bIns="0" anchor="t">
            <a:spAutoFit/>
          </a:bodyPr>
          <a:lstStyle/>
          <a:p>
            <a:pPr algn="l"/>
            <a:r>
              <a:rPr sz="1400" b="0" i="0">
                <a:solidFill>
                  <a:srgbClr val="FFFFFF"/>
                </a:solidFill>
                <a:latin typeface="Calibri"/>
              </a:rPr>
              <a:t>chunks indexed</a:t>
            </a:r>
          </a:p>
        </p:txBody>
      </p:sp>
      <p:sp>
        <p:nvSpPr>
          <p:cNvPr id="14" name="TextBox 13"/>
          <p:cNvSpPr txBox="1"/>
          <p:nvPr/>
        </p:nvSpPr>
        <p:spPr>
          <a:xfrm>
            <a:off x="7543800" y="3931920"/>
            <a:ext cx="3931920" cy="914400"/>
          </a:xfrm>
          <a:prstGeom prst="rect">
            <a:avLst/>
          </a:prstGeom>
          <a:noFill/>
        </p:spPr>
        <p:txBody>
          <a:bodyPr wrap="square" lIns="0" rIns="0" tIns="0" bIns="0" anchor="t">
            <a:spAutoFit/>
          </a:bodyPr>
          <a:lstStyle/>
          <a:p>
            <a:pPr algn="l"/>
            <a:r>
              <a:rPr sz="6400" b="1" i="0">
                <a:solidFill>
                  <a:srgbClr val="00B4D8"/>
                </a:solidFill>
                <a:latin typeface="Calibri"/>
              </a:rPr>
              <a:t>8</a:t>
            </a:r>
          </a:p>
        </p:txBody>
      </p:sp>
      <p:sp>
        <p:nvSpPr>
          <p:cNvPr id="15" name="TextBox 14"/>
          <p:cNvSpPr txBox="1"/>
          <p:nvPr/>
        </p:nvSpPr>
        <p:spPr>
          <a:xfrm>
            <a:off x="7543800" y="4937760"/>
            <a:ext cx="3931920" cy="365760"/>
          </a:xfrm>
          <a:prstGeom prst="rect">
            <a:avLst/>
          </a:prstGeom>
          <a:noFill/>
        </p:spPr>
        <p:txBody>
          <a:bodyPr wrap="square" lIns="0" rIns="0" tIns="0" bIns="0" anchor="t">
            <a:spAutoFit/>
          </a:bodyPr>
          <a:lstStyle/>
          <a:p>
            <a:pPr algn="l"/>
            <a:r>
              <a:rPr sz="1400" b="0" i="0">
                <a:solidFill>
                  <a:srgbClr val="FFFFFF"/>
                </a:solidFill>
                <a:latin typeface="Calibri"/>
              </a:rPr>
              <a:t>policy documents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RAG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ChromaDB ingestion · uv run hr-seed</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2103120"/>
            <a:ext cx="2606040" cy="18288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468880"/>
            <a:ext cx="2606040" cy="548640"/>
          </a:xfrm>
          <a:prstGeom prst="rect">
            <a:avLst/>
          </a:prstGeom>
          <a:noFill/>
        </p:spPr>
        <p:txBody>
          <a:bodyPr wrap="square" lIns="0" rIns="0" tIns="0" bIns="0" anchor="ctr">
            <a:spAutoFit/>
          </a:bodyPr>
          <a:lstStyle/>
          <a:p>
            <a:pPr algn="ctr"/>
            <a:r>
              <a:rPr sz="1500" b="1" i="0">
                <a:solidFill>
                  <a:srgbClr val="07122C"/>
                </a:solidFill>
                <a:latin typeface="Calibri"/>
              </a:rPr>
              <a:t>sample_knowledge/</a:t>
            </a:r>
          </a:p>
        </p:txBody>
      </p:sp>
      <p:sp>
        <p:nvSpPr>
          <p:cNvPr id="10" name="TextBox 9"/>
          <p:cNvSpPr txBox="1"/>
          <p:nvPr/>
        </p:nvSpPr>
        <p:spPr>
          <a:xfrm>
            <a:off x="685800" y="3063240"/>
            <a:ext cx="2331720" cy="777240"/>
          </a:xfrm>
          <a:prstGeom prst="rect">
            <a:avLst/>
          </a:prstGeom>
          <a:noFill/>
        </p:spPr>
        <p:txBody>
          <a:bodyPr wrap="square" lIns="0" rIns="0" tIns="0" bIns="0" anchor="ctr">
            <a:spAutoFit/>
          </a:bodyPr>
          <a:lstStyle/>
          <a:p>
            <a:pPr algn="ctr"/>
            <a:r>
              <a:rPr sz="1100" b="0" i="0">
                <a:solidFill>
                  <a:srgbClr val="07122C"/>
                </a:solidFill>
                <a:latin typeface="Calibri"/>
              </a:rPr>
              <a:t>8 docs (.pdf .docx .pptx .md)</a:t>
            </a:r>
          </a:p>
        </p:txBody>
      </p:sp>
      <p:sp>
        <p:nvSpPr>
          <p:cNvPr id="11" name="Right Arrow 10"/>
          <p:cNvSpPr/>
          <p:nvPr/>
        </p:nvSpPr>
        <p:spPr>
          <a:xfrm>
            <a:off x="3200400" y="2880360"/>
            <a:ext cx="27432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0440" y="2103120"/>
            <a:ext cx="2606040" cy="1828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2468880"/>
            <a:ext cx="2606040" cy="548640"/>
          </a:xfrm>
          <a:prstGeom prst="rect">
            <a:avLst/>
          </a:prstGeom>
          <a:noFill/>
        </p:spPr>
        <p:txBody>
          <a:bodyPr wrap="square" lIns="0" rIns="0" tIns="0" bIns="0" anchor="ctr">
            <a:spAutoFit/>
          </a:bodyPr>
          <a:lstStyle/>
          <a:p>
            <a:pPr algn="ctr"/>
            <a:r>
              <a:rPr sz="1500" b="1" i="0">
                <a:solidFill>
                  <a:srgbClr val="07122C"/>
                </a:solidFill>
                <a:latin typeface="Calibri"/>
              </a:rPr>
              <a:t>vectorizer.py</a:t>
            </a:r>
          </a:p>
        </p:txBody>
      </p:sp>
      <p:sp>
        <p:nvSpPr>
          <p:cNvPr id="14" name="TextBox 13"/>
          <p:cNvSpPr txBox="1"/>
          <p:nvPr/>
        </p:nvSpPr>
        <p:spPr>
          <a:xfrm>
            <a:off x="3657600" y="3063240"/>
            <a:ext cx="2331720" cy="777240"/>
          </a:xfrm>
          <a:prstGeom prst="rect">
            <a:avLst/>
          </a:prstGeom>
          <a:noFill/>
        </p:spPr>
        <p:txBody>
          <a:bodyPr wrap="square" lIns="0" rIns="0" tIns="0" bIns="0" anchor="ctr">
            <a:spAutoFit/>
          </a:bodyPr>
          <a:lstStyle/>
          <a:p>
            <a:pPr algn="ctr"/>
            <a:r>
              <a:rPr sz="1100" b="0" i="0">
                <a:solidFill>
                  <a:srgbClr val="07122C"/>
                </a:solidFill>
                <a:latin typeface="Calibri"/>
              </a:rPr>
              <a:t>extract → chunk (1000/200)</a:t>
            </a:r>
          </a:p>
        </p:txBody>
      </p:sp>
      <p:sp>
        <p:nvSpPr>
          <p:cNvPr id="15" name="Right Arrow 14"/>
          <p:cNvSpPr/>
          <p:nvPr/>
        </p:nvSpPr>
        <p:spPr>
          <a:xfrm>
            <a:off x="6172200" y="2880360"/>
            <a:ext cx="27432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2103120"/>
            <a:ext cx="2606040" cy="1828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468880"/>
            <a:ext cx="2606040" cy="548640"/>
          </a:xfrm>
          <a:prstGeom prst="rect">
            <a:avLst/>
          </a:prstGeom>
          <a:noFill/>
        </p:spPr>
        <p:txBody>
          <a:bodyPr wrap="square" lIns="0" rIns="0" tIns="0" bIns="0" anchor="ctr">
            <a:spAutoFit/>
          </a:bodyPr>
          <a:lstStyle/>
          <a:p>
            <a:pPr algn="ctr"/>
            <a:r>
              <a:rPr sz="1500" b="1" i="0">
                <a:solidFill>
                  <a:srgbClr val="07122C"/>
                </a:solidFill>
                <a:latin typeface="Calibri"/>
              </a:rPr>
              <a:t>Azure embeddings</a:t>
            </a:r>
          </a:p>
        </p:txBody>
      </p:sp>
      <p:sp>
        <p:nvSpPr>
          <p:cNvPr id="18" name="TextBox 17"/>
          <p:cNvSpPr txBox="1"/>
          <p:nvPr/>
        </p:nvSpPr>
        <p:spPr>
          <a:xfrm>
            <a:off x="6629400" y="3063240"/>
            <a:ext cx="2331720" cy="777240"/>
          </a:xfrm>
          <a:prstGeom prst="rect">
            <a:avLst/>
          </a:prstGeom>
          <a:noFill/>
        </p:spPr>
        <p:txBody>
          <a:bodyPr wrap="square" lIns="0" rIns="0" tIns="0" bIns="0" anchor="ctr">
            <a:spAutoFit/>
          </a:bodyPr>
          <a:lstStyle/>
          <a:p>
            <a:pPr algn="ctr"/>
            <a:r>
              <a:rPr sz="1100" b="0" i="0">
                <a:solidFill>
                  <a:srgbClr val="07122C"/>
                </a:solidFill>
                <a:latin typeface="Calibri"/>
              </a:rPr>
              <a:t>text-embedding-ada-002
1536-dim vectors</a:t>
            </a:r>
          </a:p>
        </p:txBody>
      </p:sp>
      <p:sp>
        <p:nvSpPr>
          <p:cNvPr id="19" name="Right Arrow 18"/>
          <p:cNvSpPr/>
          <p:nvPr/>
        </p:nvSpPr>
        <p:spPr>
          <a:xfrm>
            <a:off x="9144000" y="2880360"/>
            <a:ext cx="27432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464040" y="2103120"/>
            <a:ext cx="2606040" cy="182880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64040" y="2468880"/>
            <a:ext cx="2606040" cy="548640"/>
          </a:xfrm>
          <a:prstGeom prst="rect">
            <a:avLst/>
          </a:prstGeom>
          <a:noFill/>
        </p:spPr>
        <p:txBody>
          <a:bodyPr wrap="square" lIns="0" rIns="0" tIns="0" bIns="0" anchor="ctr">
            <a:spAutoFit/>
          </a:bodyPr>
          <a:lstStyle/>
          <a:p>
            <a:pPr algn="ctr"/>
            <a:r>
              <a:rPr sz="1500" b="1" i="0">
                <a:solidFill>
                  <a:srgbClr val="FFFFFF"/>
                </a:solidFill>
                <a:latin typeface="Calibri"/>
              </a:rPr>
              <a:t>ChromaDB</a:t>
            </a:r>
          </a:p>
        </p:txBody>
      </p:sp>
      <p:sp>
        <p:nvSpPr>
          <p:cNvPr id="22" name="TextBox 21"/>
          <p:cNvSpPr txBox="1"/>
          <p:nvPr/>
        </p:nvSpPr>
        <p:spPr>
          <a:xfrm>
            <a:off x="9601200" y="3063240"/>
            <a:ext cx="2331720" cy="777240"/>
          </a:xfrm>
          <a:prstGeom prst="rect">
            <a:avLst/>
          </a:prstGeom>
          <a:noFill/>
        </p:spPr>
        <p:txBody>
          <a:bodyPr wrap="square" lIns="0" rIns="0" tIns="0" bIns="0" anchor="ctr">
            <a:spAutoFit/>
          </a:bodyPr>
          <a:lstStyle/>
          <a:p>
            <a:pPr algn="ctr"/>
            <a:r>
              <a:rPr sz="1100" b="0" i="0">
                <a:solidFill>
                  <a:srgbClr val="FFFFFF"/>
                </a:solidFill>
                <a:latin typeface="Calibri"/>
              </a:rPr>
              <a:t>data/chroma/
146 chunks indexed</a:t>
            </a:r>
          </a:p>
        </p:txBody>
      </p:sp>
      <p:sp>
        <p:nvSpPr>
          <p:cNvPr id="23" name="TextBox 22"/>
          <p:cNvSpPr txBox="1"/>
          <p:nvPr/>
        </p:nvSpPr>
        <p:spPr>
          <a:xfrm>
            <a:off x="548640" y="4572000"/>
            <a:ext cx="10972800" cy="365760"/>
          </a:xfrm>
          <a:prstGeom prst="rect">
            <a:avLst/>
          </a:prstGeom>
          <a:noFill/>
        </p:spPr>
        <p:txBody>
          <a:bodyPr wrap="square" lIns="0" rIns="0" tIns="0" bIns="0" anchor="t">
            <a:spAutoFit/>
          </a:bodyPr>
          <a:lstStyle/>
          <a:p>
            <a:pPr algn="l"/>
            <a:r>
              <a:rPr sz="1400" b="1" i="0">
                <a:solidFill>
                  <a:srgbClr val="0B1B3F"/>
                </a:solidFill>
                <a:latin typeface="Calibri"/>
              </a:rPr>
              <a:t>And at query time:</a:t>
            </a:r>
          </a:p>
        </p:txBody>
      </p:sp>
      <p:sp>
        <p:nvSpPr>
          <p:cNvPr id="24" name="Rectangle 23"/>
          <p:cNvSpPr/>
          <p:nvPr/>
        </p:nvSpPr>
        <p:spPr>
          <a:xfrm>
            <a:off x="548640" y="5029200"/>
            <a:ext cx="260604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029200"/>
            <a:ext cx="2606040" cy="640080"/>
          </a:xfrm>
          <a:prstGeom prst="rect">
            <a:avLst/>
          </a:prstGeom>
          <a:noFill/>
        </p:spPr>
        <p:txBody>
          <a:bodyPr wrap="square" lIns="0" rIns="0" tIns="0" bIns="0" anchor="ctr">
            <a:spAutoFit/>
          </a:bodyPr>
          <a:lstStyle/>
          <a:p>
            <a:pPr algn="ctr"/>
            <a:r>
              <a:rPr sz="1200" b="1" i="0">
                <a:solidFill>
                  <a:srgbClr val="FFFFFF"/>
                </a:solidFill>
                <a:latin typeface="Calibri"/>
              </a:rPr>
              <a:t>"What is L3 comp?"</a:t>
            </a:r>
          </a:p>
        </p:txBody>
      </p:sp>
      <p:sp>
        <p:nvSpPr>
          <p:cNvPr id="26" name="Right Arrow 25"/>
          <p:cNvSpPr/>
          <p:nvPr/>
        </p:nvSpPr>
        <p:spPr>
          <a:xfrm>
            <a:off x="3200400" y="5212080"/>
            <a:ext cx="27432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20440" y="5029200"/>
            <a:ext cx="2606040" cy="6400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20440" y="5029200"/>
            <a:ext cx="2606040" cy="640080"/>
          </a:xfrm>
          <a:prstGeom prst="rect">
            <a:avLst/>
          </a:prstGeom>
          <a:noFill/>
        </p:spPr>
        <p:txBody>
          <a:bodyPr wrap="square" lIns="0" rIns="0" tIns="0" bIns="0" anchor="ctr">
            <a:spAutoFit/>
          </a:bodyPr>
          <a:lstStyle/>
          <a:p>
            <a:pPr algn="ctr"/>
            <a:r>
              <a:rPr sz="1200" b="1" i="0">
                <a:solidFill>
                  <a:srgbClr val="07122C"/>
                </a:solidFill>
                <a:latin typeface="Calibri"/>
              </a:rPr>
              <a:t>query_hr_policy</a:t>
            </a:r>
          </a:p>
        </p:txBody>
      </p:sp>
      <p:sp>
        <p:nvSpPr>
          <p:cNvPr id="29" name="Right Arrow 28"/>
          <p:cNvSpPr/>
          <p:nvPr/>
        </p:nvSpPr>
        <p:spPr>
          <a:xfrm>
            <a:off x="6172200" y="5212080"/>
            <a:ext cx="27432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92240" y="5029200"/>
            <a:ext cx="26060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5029200"/>
            <a:ext cx="2606040" cy="640080"/>
          </a:xfrm>
          <a:prstGeom prst="rect">
            <a:avLst/>
          </a:prstGeom>
          <a:noFill/>
        </p:spPr>
        <p:txBody>
          <a:bodyPr wrap="square" lIns="0" rIns="0" tIns="0" bIns="0" anchor="ctr">
            <a:spAutoFit/>
          </a:bodyPr>
          <a:lstStyle/>
          <a:p>
            <a:pPr algn="ctr"/>
            <a:r>
              <a:rPr sz="1200" b="1" i="0">
                <a:solidFill>
                  <a:srgbClr val="FFFFFF"/>
                </a:solidFill>
                <a:latin typeface="Calibri"/>
              </a:rPr>
              <a:t>embed → cosine search</a:t>
            </a:r>
          </a:p>
        </p:txBody>
      </p:sp>
      <p:sp>
        <p:nvSpPr>
          <p:cNvPr id="32" name="Right Arrow 31"/>
          <p:cNvSpPr/>
          <p:nvPr/>
        </p:nvSpPr>
        <p:spPr>
          <a:xfrm>
            <a:off x="9144000" y="5212080"/>
            <a:ext cx="27432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464040" y="5029200"/>
            <a:ext cx="2606040" cy="640080"/>
          </a:xfrm>
          <a:prstGeom prst="rect">
            <a:avLst/>
          </a:prstGeom>
          <a:solidFill>
            <a:srgbClr val="CC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64040" y="5029200"/>
            <a:ext cx="2606040" cy="640080"/>
          </a:xfrm>
          <a:prstGeom prst="rect">
            <a:avLst/>
          </a:prstGeom>
          <a:noFill/>
        </p:spPr>
        <p:txBody>
          <a:bodyPr wrap="square" lIns="0" rIns="0" tIns="0" bIns="0" anchor="ctr">
            <a:spAutoFit/>
          </a:bodyPr>
          <a:lstStyle/>
          <a:p>
            <a:pPr algn="ctr"/>
            <a:r>
              <a:rPr sz="1200" b="1" i="0">
                <a:solidFill>
                  <a:srgbClr val="FFFFFF"/>
                </a:solidFill>
                <a:latin typeface="Calibri"/>
              </a:rPr>
              <a:t>top-4 chunks → LLM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DEMO</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Demo · MCP Inspector + Claude Desktop</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500" b="1">
                <a:solidFill>
                  <a:srgbClr val="CC9000"/>
                </a:solidFill>
                <a:latin typeface="Calibri"/>
              </a:rPr>
              <a:t>Start the server</a:t>
            </a:r>
            <a:r>
              <a:rPr sz="1500">
                <a:solidFill>
                  <a:srgbClr val="0F172A"/>
                </a:solidFill>
                <a:latin typeface="Calibri"/>
              </a:rPr>
              <a:t>  uv run hr-mcp --stdio (kills port 8091 first).</a:t>
            </a:r>
          </a:p>
          <a:p>
            <a:pPr algn="l" indent="-228600" marL="228600">
              <a:spcAft>
                <a:spcPts val="1000"/>
              </a:spcAft>
              <a:buChar char="•"/>
            </a:pPr>
            <a:r>
              <a:rPr sz="1500" b="1">
                <a:solidFill>
                  <a:srgbClr val="CC9000"/>
                </a:solidFill>
                <a:latin typeface="Calibri"/>
              </a:rPr>
              <a:t>Launch Inspector</a:t>
            </a:r>
            <a:r>
              <a:rPr sz="1500">
                <a:solidFill>
                  <a:srgbClr val="0F172A"/>
                </a:solidFill>
                <a:latin typeface="Calibri"/>
              </a:rPr>
              <a:t>  npx @modelcontextprotocol/inspector uv run hr-mcp --stdio.</a:t>
            </a:r>
          </a:p>
          <a:p>
            <a:pPr algn="l" indent="-228600" marL="228600">
              <a:spcAft>
                <a:spcPts val="1000"/>
              </a:spcAft>
              <a:buChar char="•"/>
            </a:pPr>
            <a:r>
              <a:rPr sz="1500" b="1">
                <a:solidFill>
                  <a:srgbClr val="CC9000"/>
                </a:solidFill>
                <a:latin typeface="Calibri"/>
              </a:rPr>
              <a:t>Inspector UI</a:t>
            </a:r>
            <a:r>
              <a:rPr sz="1500">
                <a:solidFill>
                  <a:srgbClr val="0F172A"/>
                </a:solidFill>
                <a:latin typeface="Calibri"/>
              </a:rPr>
              <a:t>  http://localhost:6374 — Tools, Resources, Prompts tabs.</a:t>
            </a:r>
          </a:p>
          <a:p>
            <a:pPr algn="l" indent="-228600" marL="228600">
              <a:spcAft>
                <a:spcPts val="1000"/>
              </a:spcAft>
              <a:buChar char="•"/>
            </a:pPr>
            <a:r>
              <a:rPr sz="1500" b="1">
                <a:solidFill>
                  <a:srgbClr val="CC9000"/>
                </a:solidFill>
                <a:latin typeface="Calibri"/>
              </a:rPr>
              <a:t>Tools tab</a:t>
            </a:r>
            <a:r>
              <a:rPr sz="1500">
                <a:solidFill>
                  <a:srgbClr val="0F172A"/>
                </a:solidFill>
                <a:latin typeface="Calibri"/>
              </a:rPr>
              <a:t>  Try query_policy, list_candidates, trigger_resume_evaluation.</a:t>
            </a:r>
          </a:p>
          <a:p>
            <a:pPr algn="l" indent="-228600" marL="228600">
              <a:spcAft>
                <a:spcPts val="1000"/>
              </a:spcAft>
              <a:buChar char="•"/>
            </a:pPr>
            <a:r>
              <a:rPr sz="1500" b="1">
                <a:solidFill>
                  <a:srgbClr val="CC9000"/>
                </a:solidFill>
                <a:latin typeface="Calibri"/>
              </a:rPr>
              <a:t>Sampling demo</a:t>
            </a:r>
            <a:r>
              <a:rPr sz="1500">
                <a:solidFill>
                  <a:srgbClr val="0F172A"/>
                </a:solidFill>
                <a:latin typeface="Calibri"/>
              </a:rPr>
              <a:t>  generate_eval_summary → watch the connected LLM write the summary.</a:t>
            </a:r>
          </a:p>
          <a:p>
            <a:pPr algn="l" indent="-228600" marL="228600">
              <a:spcAft>
                <a:spcPts val="1000"/>
              </a:spcAft>
              <a:buChar char="•"/>
            </a:pPr>
            <a:r>
              <a:rPr sz="1500" b="1">
                <a:solidFill>
                  <a:srgbClr val="CC9000"/>
                </a:solidFill>
                <a:latin typeface="Calibri"/>
              </a:rPr>
              <a:t>Elicitation demo</a:t>
            </a:r>
            <a:r>
              <a:rPr sz="1500">
                <a:solidFill>
                  <a:srgbClr val="0F172A"/>
                </a:solidFill>
                <a:latin typeface="Calibri"/>
              </a:rPr>
              <a:t>  confirm_and_evaluate → the form pops up and pauses the tool.</a:t>
            </a:r>
          </a:p>
          <a:p>
            <a:pPr algn="l" indent="-228600" marL="228600">
              <a:spcAft>
                <a:spcPts val="1000"/>
              </a:spcAft>
              <a:buChar char="•"/>
            </a:pPr>
            <a:r>
              <a:rPr sz="1500" b="1">
                <a:solidFill>
                  <a:srgbClr val="CC9000"/>
                </a:solidFill>
                <a:latin typeface="Calibri"/>
              </a:rPr>
              <a:t>Wire to Claude Desktop</a:t>
            </a:r>
            <a:r>
              <a:rPr sz="1500">
                <a:solidFill>
                  <a:srgbClr val="0F172A"/>
                </a:solidFill>
                <a:latin typeface="Calibri"/>
              </a:rPr>
              <a:t>  Update claude_desktop_config.json → restart from system tray.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WIRING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Wire it to Claude Desktop · claude_desktop_config.json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Add the contoso-hr-agent server to Claude Desktop. Restart from system tray.</a:t>
            </a:r>
          </a:p>
        </p:txBody>
      </p:sp>
      <p:sp>
        <p:nvSpPr>
          <p:cNvPr id="9" name="Rectangle 8"/>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38528"/>
            <a:ext cx="10698480" cy="3986784"/>
          </a:xfrm>
          <a:prstGeom prst="rect">
            <a:avLst/>
          </a:prstGeom>
          <a:noFill/>
        </p:spPr>
        <p:txBody>
          <a:bodyPr wrap="square" lIns="0" rIns="0" tIns="0" bIns="0">
            <a:spAutoFit/>
          </a:bodyPr>
          <a:lstStyle/>
          <a:p>
            <a:pPr>
              <a:spcAft>
                <a:spcPts val="0"/>
              </a:spcAft>
            </a:pPr>
            <a:r>
              <a:rPr sz="1200">
                <a:solidFill>
                  <a:srgbClr val="FFFFFF"/>
                </a:solidFill>
                <a:latin typeface="Consolas"/>
              </a:rPr>
              <a:t>{</a:t>
            </a:r>
          </a:p>
          <a:p>
            <a:pPr>
              <a:spcAft>
                <a:spcPts val="0"/>
              </a:spcAft>
            </a:pPr>
            <a:r>
              <a:rPr sz="1200">
                <a:solidFill>
                  <a:srgbClr val="FFFFFF"/>
                </a:solidFill>
                <a:latin typeface="Consolas"/>
              </a:rPr>
              <a:t>  "mcpServers": {</a:t>
            </a:r>
          </a:p>
          <a:p>
            <a:pPr>
              <a:spcAft>
                <a:spcPts val="0"/>
              </a:spcAft>
            </a:pPr>
            <a:r>
              <a:rPr sz="1200">
                <a:solidFill>
                  <a:srgbClr val="FFFFFF"/>
                </a:solidFill>
                <a:latin typeface="Consolas"/>
              </a:rPr>
              <a:t>    "contoso-hr-agent": {</a:t>
            </a:r>
          </a:p>
          <a:p>
            <a:pPr>
              <a:spcAft>
                <a:spcPts val="0"/>
              </a:spcAft>
            </a:pPr>
            <a:r>
              <a:rPr sz="1200">
                <a:solidFill>
                  <a:srgbClr val="FFFFFF"/>
                </a:solidFill>
                <a:latin typeface="Consolas"/>
              </a:rPr>
              <a:t>      "command": "uv",</a:t>
            </a:r>
          </a:p>
          <a:p>
            <a:pPr>
              <a:spcAft>
                <a:spcPts val="0"/>
              </a:spcAft>
            </a:pPr>
            <a:r>
              <a:rPr sz="1200">
                <a:solidFill>
                  <a:srgbClr val="FFFFFF"/>
                </a:solidFill>
                <a:latin typeface="Consolas"/>
              </a:rPr>
              <a:t>      "args": ["run", "hr-mcp", "--stdio"],</a:t>
            </a:r>
          </a:p>
          <a:p>
            <a:pPr>
              <a:spcAft>
                <a:spcPts val="0"/>
              </a:spcAft>
            </a:pPr>
            <a:r>
              <a:rPr sz="1200">
                <a:solidFill>
                  <a:srgbClr val="FFFFFF"/>
                </a:solidFill>
                <a:latin typeface="Consolas"/>
              </a:rPr>
              <a:t>      "cwd": "C:/github/agents2/contoso-hr-agent",</a:t>
            </a:r>
          </a:p>
          <a:p>
            <a:pPr>
              <a:spcAft>
                <a:spcPts val="0"/>
              </a:spcAft>
            </a:pPr>
            <a:r>
              <a:rPr sz="1200">
                <a:solidFill>
                  <a:srgbClr val="FFFFFF"/>
                </a:solidFill>
                <a:latin typeface="Consolas"/>
              </a:rPr>
              <a:t>      "env": {</a:t>
            </a:r>
          </a:p>
          <a:p>
            <a:pPr>
              <a:spcAft>
                <a:spcPts val="0"/>
              </a:spcAft>
            </a:pPr>
            <a:r>
              <a:rPr sz="1200">
                <a:solidFill>
                  <a:srgbClr val="FFFFFF"/>
                </a:solidFill>
                <a:latin typeface="Consolas"/>
              </a:rPr>
              <a:t>        "PYTHONPATH": "C:/github/agents2/contoso-hr-agent/src"</a:t>
            </a:r>
          </a:p>
          <a:p>
            <a:pPr>
              <a:spcAft>
                <a:spcPts val="0"/>
              </a:spcAft>
            </a:pPr>
            <a:r>
              <a:rPr sz="1200">
                <a:solidFill>
                  <a:srgbClr val="FFFFFF"/>
                </a:solidFill>
                <a:latin typeface="Consolas"/>
              </a:rPr>
              <a:t>      }</a:t>
            </a:r>
          </a:p>
          <a:p>
            <a:pPr>
              <a:spcAft>
                <a:spcPts val="0"/>
              </a:spcAft>
            </a:pPr>
            <a:r>
              <a:rPr sz="1200">
                <a:solidFill>
                  <a:srgbClr val="FFFFFF"/>
                </a:solidFill>
                <a:latin typeface="Consolas"/>
              </a:rPr>
              <a:t>    }</a:t>
            </a:r>
          </a:p>
          <a:p>
            <a:pPr>
              <a:spcAft>
                <a:spcPts val="0"/>
              </a:spcAft>
            </a:pPr>
            <a:r>
              <a:rPr sz="1200">
                <a:solidFill>
                  <a:srgbClr val="FFFFFF"/>
                </a:solidFill>
                <a:latin typeface="Consolas"/>
              </a:rPr>
              <a:t>  }</a:t>
            </a:r>
          </a:p>
          <a:p>
            <a:pPr>
              <a:spcAft>
                <a:spcPts val="0"/>
              </a:spcAft>
            </a:pPr>
            <a:r>
              <a:rPr sz="1200">
                <a:solidFill>
                  <a:srgbClr val="FFFFFF"/>
                </a:solidFill>
                <a:latin typeface="Consolas"/>
              </a:rPr>
              <a:t>}</a:t>
            </a:r>
          </a:p>
          <a:p>
            <a:pPr>
              <a:spcAft>
                <a:spcPts val="0"/>
              </a:spcAft>
            </a:pPr>
            <a:r>
              <a:rPr sz="1200">
                <a:solidFill>
                  <a:srgbClr val="FFFFFF"/>
                </a:solidFill>
                <a:latin typeface="Consolas"/>
              </a:rPr>
              <a:t> </a:t>
            </a:r>
          </a:p>
          <a:p>
            <a:pPr>
              <a:spcAft>
                <a:spcPts val="0"/>
              </a:spcAft>
            </a:pPr>
            <a:r>
              <a:rPr sz="1200">
                <a:solidFill>
                  <a:srgbClr val="FFFFFF"/>
                </a:solidFill>
                <a:latin typeface="Consolas"/>
              </a:rPr>
              <a:t># Then in Claude Desktop, ask:</a:t>
            </a:r>
          </a:p>
          <a:p>
            <a:pPr>
              <a:spcAft>
                <a:spcPts val="0"/>
              </a:spcAft>
            </a:pPr>
            <a:r>
              <a:rPr sz="1200">
                <a:solidFill>
                  <a:srgbClr val="FFFFFF"/>
                </a:solidFill>
                <a:latin typeface="Consolas"/>
              </a:rPr>
              <a:t>#   "List the candidates the HR agent has evaluated."</a:t>
            </a:r>
          </a:p>
          <a:p>
            <a:pPr>
              <a:spcAft>
                <a:spcPts val="0"/>
              </a:spcAft>
            </a:pPr>
            <a:r>
              <a:rPr sz="1200">
                <a:solidFill>
                  <a:srgbClr val="FFFFFF"/>
                </a:solidFill>
                <a:latin typeface="Consolas"/>
              </a:rPr>
              <a:t>#   "What does the Contoso policy say about MCT certification?"</a:t>
            </a:r>
          </a:p>
          <a:p>
            <a:pPr>
              <a:spcAft>
                <a:spcPts val="0"/>
              </a:spcAft>
            </a:pPr>
            <a:r>
              <a:rPr sz="1200">
                <a:solidFill>
                  <a:srgbClr val="FFFFFF"/>
                </a:solidFill>
                <a:latin typeface="Consolas"/>
              </a:rPr>
              <a:t>#   "Generate an exec summary for candidate &lt;id&gt;."</a:t>
            </a:r>
          </a:p>
          <a:p>
            <a:pPr>
              <a:spcAft>
                <a:spcPts val="0"/>
              </a:spcAft>
            </a:pPr>
            <a:r>
              <a:rPr sz="1200">
                <a:solidFill>
                  <a:srgbClr val="FFFFFF"/>
                </a:solidFill>
                <a:latin typeface="Consolas"/>
              </a:rPr>
              <a:t> </a:t>
            </a:r>
          </a:p>
          <a:p>
            <a:pPr>
              <a:spcAft>
                <a:spcPts val="0"/>
              </a:spcAft>
            </a:pPr>
            <a:r>
              <a:rPr sz="1200">
                <a:solidFill>
                  <a:srgbClr val="FFFFFF"/>
                </a:solidFill>
                <a:latin typeface="Consolas"/>
              </a:rPr>
              <a:t># Config file location:</a:t>
            </a:r>
          </a:p>
          <a:p>
            <a:pPr>
              <a:spcAft>
                <a:spcPts val="0"/>
              </a:spcAft>
            </a:pPr>
            <a:r>
              <a:rPr sz="1200">
                <a:solidFill>
                  <a:srgbClr val="FFFFFF"/>
                </a:solidFill>
                <a:latin typeface="Consolas"/>
              </a:rPr>
              <a:t>#   Windows : %APPDATA%\Claude\claude_desktop_config.json</a:t>
            </a:r>
          </a:p>
          <a:p>
            <a:pPr>
              <a:spcAft>
                <a:spcPts val="0"/>
              </a:spcAft>
            </a:pPr>
            <a:r>
              <a:rPr sz="1200">
                <a:solidFill>
                  <a:srgbClr val="FFFFFF"/>
                </a:solidFill>
                <a:latin typeface="Consolas"/>
              </a:rPr>
              <a:t>#   macOS   : ~/Library/Application Support/Claude/claude_desktop_config.json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VIBE CODING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Vibe coding — describe the WHAT, let Claude figure the HOW</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100"/>
              </a:spcAft>
              <a:buChar char="•"/>
            </a:pPr>
            <a:r>
              <a:rPr sz="1500" b="1">
                <a:solidFill>
                  <a:srgbClr val="0B1B3F"/>
                </a:solidFill>
                <a:latin typeface="Calibri"/>
              </a:rPr>
              <a:t>The mindset</a:t>
            </a:r>
            <a:r>
              <a:rPr sz="1500">
                <a:solidFill>
                  <a:srgbClr val="0F172A"/>
                </a:solidFill>
                <a:latin typeface="Calibri"/>
              </a:rPr>
              <a:t>  You're the architect. Claude is the senior engineer who reads code fast.</a:t>
            </a:r>
          </a:p>
          <a:p>
            <a:pPr algn="l" indent="-228600" marL="228600">
              <a:spcAft>
                <a:spcPts val="1100"/>
              </a:spcAft>
              <a:buChar char="•"/>
            </a:pPr>
            <a:r>
              <a:rPr sz="1500" b="1">
                <a:solidFill>
                  <a:srgbClr val="0B1B3F"/>
                </a:solidFill>
                <a:latin typeface="Calibri"/>
              </a:rPr>
              <a:t>Step 1 — Explore</a:t>
            </a:r>
            <a:r>
              <a:rPr sz="1500">
                <a:solidFill>
                  <a:srgbClr val="0F172A"/>
                </a:solidFill>
                <a:latin typeface="Calibri"/>
              </a:rPr>
              <a:t>  'How is ChromaDB set up? Where would a knowledge_summary tool fit?'</a:t>
            </a:r>
          </a:p>
          <a:p>
            <a:pPr algn="l" indent="-228600" marL="228600">
              <a:spcAft>
                <a:spcPts val="1100"/>
              </a:spcAft>
              <a:buChar char="•"/>
            </a:pPr>
            <a:r>
              <a:rPr sz="1500" b="1">
                <a:solidFill>
                  <a:srgbClr val="0B1B3F"/>
                </a:solidFill>
                <a:latin typeface="Calibri"/>
              </a:rPr>
              <a:t>Step 2 — Implement</a:t>
            </a:r>
            <a:r>
              <a:rPr sz="1500">
                <a:solidFill>
                  <a:srgbClr val="0F172A"/>
                </a:solidFill>
                <a:latin typeface="Calibri"/>
              </a:rPr>
              <a:t>  'Add a knowledge_summary MCP tool + a /api/knowledge/summary endpoint.'</a:t>
            </a:r>
          </a:p>
          <a:p>
            <a:pPr algn="l" indent="-228600" marL="228600">
              <a:spcAft>
                <a:spcPts val="1100"/>
              </a:spcAft>
              <a:buChar char="•"/>
            </a:pPr>
            <a:r>
              <a:rPr sz="1500" b="1">
                <a:solidFill>
                  <a:srgbClr val="0B1B3F"/>
                </a:solidFill>
                <a:latin typeface="Calibri"/>
              </a:rPr>
              <a:t>Step 3 — Review</a:t>
            </a:r>
            <a:r>
              <a:rPr sz="1500">
                <a:solidFill>
                  <a:srgbClr val="0F172A"/>
                </a:solidFill>
                <a:latin typeface="Calibri"/>
              </a:rPr>
              <a:t>  Read the diff. Push back on anything that doesn't feel right.</a:t>
            </a:r>
          </a:p>
          <a:p>
            <a:pPr algn="l" indent="-228600" marL="228600">
              <a:spcAft>
                <a:spcPts val="1100"/>
              </a:spcAft>
              <a:buChar char="•"/>
            </a:pPr>
            <a:r>
              <a:rPr sz="1500" b="1">
                <a:solidFill>
                  <a:srgbClr val="0B1B3F"/>
                </a:solidFill>
                <a:latin typeface="Calibri"/>
              </a:rPr>
              <a:t>Step 4 — Test</a:t>
            </a:r>
            <a:r>
              <a:rPr sz="1500">
                <a:solidFill>
                  <a:srgbClr val="0F172A"/>
                </a:solidFill>
                <a:latin typeface="Calibri"/>
              </a:rPr>
              <a:t>  curl + Inspector + Claude Desktop. Confirm end-to-end.</a:t>
            </a:r>
          </a:p>
          <a:p>
            <a:pPr algn="l" indent="-228600" marL="228600">
              <a:spcAft>
                <a:spcPts val="1100"/>
              </a:spcAft>
              <a:buChar char="•"/>
            </a:pPr>
            <a:r>
              <a:rPr sz="1500" b="1">
                <a:solidFill>
                  <a:srgbClr val="0B1B3F"/>
                </a:solidFill>
                <a:latin typeface="Calibri"/>
              </a:rPr>
              <a:t>Caveat</a:t>
            </a:r>
            <a:r>
              <a:rPr sz="1500">
                <a:solidFill>
                  <a:srgbClr val="0F172A"/>
                </a:solidFill>
                <a:latin typeface="Calibri"/>
              </a:rPr>
              <a:t>  Vibe coding is a skill, not magic. The better your context, the better the output.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WORKED EXAMPLE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Vibe coding worked example · build a new MCP tool</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486400" cy="365760"/>
          </a:xfrm>
          <a:prstGeom prst="rect">
            <a:avLst/>
          </a:prstGeom>
          <a:noFill/>
        </p:spPr>
        <p:txBody>
          <a:bodyPr wrap="square" lIns="0" rIns="0" tIns="0" bIns="0" anchor="t">
            <a:spAutoFit/>
          </a:bodyPr>
          <a:lstStyle/>
          <a:p>
            <a:pPr algn="l"/>
            <a:r>
              <a:rPr sz="1200" b="1" i="0">
                <a:solidFill>
                  <a:srgbClr val="0B1B3F"/>
                </a:solidFill>
                <a:latin typeface="Calibri"/>
              </a:rPr>
              <a:t>Your prompt to Claude Code</a:t>
            </a:r>
          </a:p>
        </p:txBody>
      </p:sp>
      <p:sp>
        <p:nvSpPr>
          <p:cNvPr id="9" name="Rectangle 8"/>
          <p:cNvSpPr/>
          <p:nvPr/>
        </p:nvSpPr>
        <p:spPr>
          <a:xfrm>
            <a:off x="548640" y="1691640"/>
            <a:ext cx="548640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801368"/>
            <a:ext cx="5212080" cy="4352544"/>
          </a:xfrm>
          <a:prstGeom prst="rect">
            <a:avLst/>
          </a:prstGeom>
          <a:noFill/>
        </p:spPr>
        <p:txBody>
          <a:bodyPr wrap="square" lIns="0" rIns="0" tIns="0" bIns="0">
            <a:spAutoFit/>
          </a:bodyPr>
          <a:lstStyle/>
          <a:p>
            <a:pPr>
              <a:spcAft>
                <a:spcPts val="0"/>
              </a:spcAft>
            </a:pPr>
            <a:r>
              <a:rPr sz="1100">
                <a:solidFill>
                  <a:srgbClr val="FFFFFF"/>
                </a:solidFill>
                <a:latin typeface="Consolas"/>
              </a:rPr>
              <a:t>Add a new MCP tool called</a:t>
            </a:r>
          </a:p>
          <a:p>
            <a:pPr>
              <a:spcAft>
                <a:spcPts val="0"/>
              </a:spcAft>
            </a:pPr>
            <a:r>
              <a:rPr sz="1100">
                <a:solidFill>
                  <a:srgbClr val="FFFFFF"/>
                </a:solidFill>
                <a:latin typeface="Consolas"/>
              </a:rPr>
              <a:t>'knowledge_summary' to</a:t>
            </a:r>
          </a:p>
          <a:p>
            <a:pPr>
              <a:spcAft>
                <a:spcPts val="0"/>
              </a:spcAft>
            </a:pPr>
            <a:r>
              <a:rPr sz="1100">
                <a:solidFill>
                  <a:srgbClr val="FFFFFF"/>
                </a:solidFill>
                <a:latin typeface="Consolas"/>
              </a:rPr>
              <a:t>mcp_server/server.py.</a:t>
            </a:r>
          </a:p>
          <a:p>
            <a:pPr>
              <a:spcAft>
                <a:spcPts val="0"/>
              </a:spcAft>
            </a:pPr>
            <a:r>
              <a:rPr sz="1100">
                <a:solidFill>
                  <a:srgbClr val="FFFFFF"/>
                </a:solidFill>
                <a:latin typeface="Consolas"/>
              </a:rPr>
              <a:t> </a:t>
            </a:r>
          </a:p>
          <a:p>
            <a:pPr>
              <a:spcAft>
                <a:spcPts val="0"/>
              </a:spcAft>
            </a:pPr>
            <a:r>
              <a:rPr sz="1100">
                <a:solidFill>
                  <a:srgbClr val="FFFFFF"/>
                </a:solidFill>
                <a:latin typeface="Consolas"/>
              </a:rPr>
              <a:t>Requirements:</a:t>
            </a:r>
          </a:p>
          <a:p>
            <a:pPr>
              <a:spcAft>
                <a:spcPts val="0"/>
              </a:spcAft>
            </a:pPr>
            <a:r>
              <a:rPr sz="1100">
                <a:solidFill>
                  <a:srgbClr val="FFFFFF"/>
                </a:solidFill>
                <a:latin typeface="Consolas"/>
              </a:rPr>
              <a:t>1. Returns a dict with:</a:t>
            </a:r>
          </a:p>
          <a:p>
            <a:pPr>
              <a:spcAft>
                <a:spcPts val="0"/>
              </a:spcAft>
            </a:pPr>
            <a:r>
              <a:rPr sz="1100">
                <a:solidFill>
                  <a:srgbClr val="FFFFFF"/>
                </a:solidFill>
                <a:latin typeface="Consolas"/>
              </a:rPr>
              <a:t>   - total_chunks (int)</a:t>
            </a:r>
          </a:p>
          <a:p>
            <a:pPr>
              <a:spcAft>
                <a:spcPts val="0"/>
              </a:spcAft>
            </a:pPr>
            <a:r>
              <a:rPr sz="1100">
                <a:solidFill>
                  <a:srgbClr val="FFFFFF"/>
                </a:solidFill>
                <a:latin typeface="Consolas"/>
              </a:rPr>
              <a:t>   - total_documents (int)</a:t>
            </a:r>
          </a:p>
          <a:p>
            <a:pPr>
              <a:spcAft>
                <a:spcPts val="0"/>
              </a:spcAft>
            </a:pPr>
            <a:r>
              <a:rPr sz="1100">
                <a:solidFill>
                  <a:srgbClr val="FFFFFF"/>
                </a:solidFill>
                <a:latin typeface="Consolas"/>
              </a:rPr>
              <a:t>   - documents (list of unique</a:t>
            </a:r>
          </a:p>
          <a:p>
            <a:pPr>
              <a:spcAft>
                <a:spcPts val="0"/>
              </a:spcAft>
            </a:pPr>
            <a:r>
              <a:rPr sz="1100">
                <a:solidFill>
                  <a:srgbClr val="FFFFFF"/>
                </a:solidFill>
                <a:latin typeface="Consolas"/>
              </a:rPr>
              <a:t>     source filenames)</a:t>
            </a:r>
          </a:p>
          <a:p>
            <a:pPr>
              <a:spcAft>
                <a:spcPts val="0"/>
              </a:spcAft>
            </a:pPr>
            <a:r>
              <a:rPr sz="1100">
                <a:solidFill>
                  <a:srgbClr val="FFFFFF"/>
                </a:solidFill>
                <a:latin typeface="Consolas"/>
              </a:rPr>
              <a:t>   - sample_chunks (5 random</a:t>
            </a:r>
          </a:p>
          <a:p>
            <a:pPr>
              <a:spcAft>
                <a:spcPts val="0"/>
              </a:spcAft>
            </a:pPr>
            <a:r>
              <a:rPr sz="1100">
                <a:solidFill>
                  <a:srgbClr val="FFFFFF"/>
                </a:solidFill>
                <a:latin typeface="Consolas"/>
              </a:rPr>
              <a:t>     first-100-char snippets)</a:t>
            </a:r>
          </a:p>
          <a:p>
            <a:pPr>
              <a:spcAft>
                <a:spcPts val="0"/>
              </a:spcAft>
            </a:pPr>
            <a:r>
              <a:rPr sz="1100">
                <a:solidFill>
                  <a:srgbClr val="FFFFFF"/>
                </a:solidFill>
                <a:latin typeface="Consolas"/>
              </a:rPr>
              <a:t> </a:t>
            </a:r>
          </a:p>
          <a:p>
            <a:pPr>
              <a:spcAft>
                <a:spcPts val="0"/>
              </a:spcAft>
            </a:pPr>
            <a:r>
              <a:rPr sz="1100">
                <a:solidFill>
                  <a:srgbClr val="FFFFFF"/>
                </a:solidFill>
                <a:latin typeface="Consolas"/>
              </a:rPr>
              <a:t>2. Uses the existing ChromaDB</a:t>
            </a:r>
          </a:p>
          <a:p>
            <a:pPr>
              <a:spcAft>
                <a:spcPts val="0"/>
              </a:spcAft>
            </a:pPr>
            <a:r>
              <a:rPr sz="1100">
                <a:solidFill>
                  <a:srgbClr val="FFFFFF"/>
                </a:solidFill>
                <a:latin typeface="Consolas"/>
              </a:rPr>
              <a:t>   collection — don't open a</a:t>
            </a:r>
          </a:p>
          <a:p>
            <a:pPr>
              <a:spcAft>
                <a:spcPts val="0"/>
              </a:spcAft>
            </a:pPr>
            <a:r>
              <a:rPr sz="1100">
                <a:solidFill>
                  <a:srgbClr val="FFFFFF"/>
                </a:solidFill>
                <a:latin typeface="Consolas"/>
              </a:rPr>
              <a:t>   new connection.</a:t>
            </a:r>
          </a:p>
          <a:p>
            <a:pPr>
              <a:spcAft>
                <a:spcPts val="0"/>
              </a:spcAft>
            </a:pPr>
            <a:r>
              <a:rPr sz="1100">
                <a:solidFill>
                  <a:srgbClr val="FFFFFF"/>
                </a:solidFill>
                <a:latin typeface="Consolas"/>
              </a:rPr>
              <a:t> </a:t>
            </a:r>
          </a:p>
          <a:p>
            <a:pPr>
              <a:spcAft>
                <a:spcPts val="0"/>
              </a:spcAft>
            </a:pPr>
            <a:r>
              <a:rPr sz="1100">
                <a:solidFill>
                  <a:srgbClr val="FFFFFF"/>
                </a:solidFill>
                <a:latin typeface="Consolas"/>
              </a:rPr>
              <a:t>3. Async, with a docstring</a:t>
            </a:r>
          </a:p>
          <a:p>
            <a:pPr>
              <a:spcAft>
                <a:spcPts val="0"/>
              </a:spcAft>
            </a:pPr>
            <a:r>
              <a:rPr sz="1100">
                <a:solidFill>
                  <a:srgbClr val="FFFFFF"/>
                </a:solidFill>
                <a:latin typeface="Consolas"/>
              </a:rPr>
              <a:t>   the LLM can use to call it.</a:t>
            </a:r>
          </a:p>
          <a:p>
            <a:pPr>
              <a:spcAft>
                <a:spcPts val="0"/>
              </a:spcAft>
            </a:pPr>
            <a:r>
              <a:rPr sz="1100">
                <a:solidFill>
                  <a:srgbClr val="FFFFFF"/>
                </a:solidFill>
                <a:latin typeface="Consolas"/>
              </a:rPr>
              <a:t> </a:t>
            </a:r>
          </a:p>
          <a:p>
            <a:pPr>
              <a:spcAft>
                <a:spcPts val="0"/>
              </a:spcAft>
            </a:pPr>
            <a:r>
              <a:rPr sz="1100">
                <a:solidFill>
                  <a:srgbClr val="FFFFFF"/>
                </a:solidFill>
                <a:latin typeface="Consolas"/>
              </a:rPr>
              <a:t>4. Add a matching</a:t>
            </a:r>
          </a:p>
          <a:p>
            <a:pPr>
              <a:spcAft>
                <a:spcPts val="0"/>
              </a:spcAft>
            </a:pPr>
            <a:r>
              <a:rPr sz="1100">
                <a:solidFill>
                  <a:srgbClr val="FFFFFF"/>
                </a:solidFill>
                <a:latin typeface="Consolas"/>
              </a:rPr>
              <a:t>   /api/knowledge/summary</a:t>
            </a:r>
          </a:p>
          <a:p>
            <a:pPr>
              <a:spcAft>
                <a:spcPts val="0"/>
              </a:spcAft>
            </a:pPr>
            <a:r>
              <a:rPr sz="1100">
                <a:solidFill>
                  <a:srgbClr val="FFFFFF"/>
                </a:solidFill>
                <a:latin typeface="Consolas"/>
              </a:rPr>
              <a:t>   endpoint in engine.py.</a:t>
            </a:r>
          </a:p>
          <a:p>
            <a:pPr>
              <a:spcAft>
                <a:spcPts val="0"/>
              </a:spcAft>
            </a:pPr>
            <a:r>
              <a:rPr sz="1100">
                <a:solidFill>
                  <a:srgbClr val="FFFFFF"/>
                </a:solidFill>
                <a:latin typeface="Consolas"/>
              </a:rPr>
              <a:t> </a:t>
            </a:r>
          </a:p>
          <a:p>
            <a:pPr>
              <a:spcAft>
                <a:spcPts val="0"/>
              </a:spcAft>
            </a:pPr>
            <a:r>
              <a:rPr sz="1100">
                <a:solidFill>
                  <a:srgbClr val="FFFFFF"/>
                </a:solidFill>
                <a:latin typeface="Consolas"/>
              </a:rPr>
              <a:t>Show me the diffs first;</a:t>
            </a:r>
          </a:p>
          <a:p>
            <a:pPr>
              <a:spcAft>
                <a:spcPts val="0"/>
              </a:spcAft>
            </a:pPr>
            <a:r>
              <a:rPr sz="1100">
                <a:solidFill>
                  <a:srgbClr val="FFFFFF"/>
                </a:solidFill>
                <a:latin typeface="Consolas"/>
              </a:rPr>
              <a:t>don't write yet.</a:t>
            </a:r>
          </a:p>
        </p:txBody>
      </p:sp>
      <p:sp>
        <p:nvSpPr>
          <p:cNvPr id="12" name="TextBox 11"/>
          <p:cNvSpPr txBox="1"/>
          <p:nvPr/>
        </p:nvSpPr>
        <p:spPr>
          <a:xfrm>
            <a:off x="6309360" y="1325880"/>
            <a:ext cx="5486400" cy="365760"/>
          </a:xfrm>
          <a:prstGeom prst="rect">
            <a:avLst/>
          </a:prstGeom>
          <a:noFill/>
        </p:spPr>
        <p:txBody>
          <a:bodyPr wrap="square" lIns="0" rIns="0" tIns="0" bIns="0" anchor="t">
            <a:spAutoFit/>
          </a:bodyPr>
          <a:lstStyle/>
          <a:p>
            <a:pPr algn="l"/>
            <a:r>
              <a:rPr sz="1200" b="1" i="0">
                <a:solidFill>
                  <a:srgbClr val="0B1B3F"/>
                </a:solidFill>
                <a:latin typeface="Calibri"/>
              </a:rPr>
              <a:t>Claude Code's response (abridged)</a:t>
            </a:r>
          </a:p>
        </p:txBody>
      </p:sp>
      <p:sp>
        <p:nvSpPr>
          <p:cNvPr id="13" name="Rectangle 12"/>
          <p:cNvSpPr/>
          <p:nvPr/>
        </p:nvSpPr>
        <p:spPr>
          <a:xfrm>
            <a:off x="6309360" y="1691640"/>
            <a:ext cx="548640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69164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801368"/>
            <a:ext cx="5212080" cy="4352544"/>
          </a:xfrm>
          <a:prstGeom prst="rect">
            <a:avLst/>
          </a:prstGeom>
          <a:noFill/>
        </p:spPr>
        <p:txBody>
          <a:bodyPr wrap="square" lIns="0" rIns="0" tIns="0" bIns="0">
            <a:spAutoFit/>
          </a:bodyPr>
          <a:lstStyle/>
          <a:p>
            <a:pPr>
              <a:spcAft>
                <a:spcPts val="0"/>
              </a:spcAft>
            </a:pPr>
            <a:r>
              <a:rPr sz="1100">
                <a:solidFill>
                  <a:srgbClr val="FFFFFF"/>
                </a:solidFill>
                <a:latin typeface="Consolas"/>
              </a:rPr>
              <a:t>@mcp.tool()</a:t>
            </a:r>
          </a:p>
          <a:p>
            <a:pPr>
              <a:spcAft>
                <a:spcPts val="0"/>
              </a:spcAft>
            </a:pPr>
            <a:r>
              <a:rPr sz="1100">
                <a:solidFill>
                  <a:srgbClr val="FFFFFF"/>
                </a:solidFill>
                <a:latin typeface="Consolas"/>
              </a:rPr>
              <a:t>async def knowledge_summary() -&gt; dict:</a:t>
            </a:r>
          </a:p>
          <a:p>
            <a:pPr>
              <a:spcAft>
                <a:spcPts val="0"/>
              </a:spcAft>
            </a:pPr>
            <a:r>
              <a:rPr sz="1100">
                <a:solidFill>
                  <a:srgbClr val="FFFFFF"/>
                </a:solidFill>
                <a:latin typeface="Consolas"/>
              </a:rPr>
              <a:t>    """Summarize the indexed knowledge base.</a:t>
            </a:r>
          </a:p>
          <a:p>
            <a:pPr>
              <a:spcAft>
                <a:spcPts val="0"/>
              </a:spcAft>
            </a:pPr>
            <a:r>
              <a:rPr sz="1100">
                <a:solidFill>
                  <a:srgbClr val="FFFFFF"/>
                </a:solidFill>
                <a:latin typeface="Consolas"/>
              </a:rPr>
              <a:t> </a:t>
            </a:r>
          </a:p>
          <a:p>
            <a:pPr>
              <a:spcAft>
                <a:spcPts val="0"/>
              </a:spcAft>
            </a:pPr>
            <a:r>
              <a:rPr sz="1100">
                <a:solidFill>
                  <a:srgbClr val="FFFFFF"/>
                </a:solidFill>
                <a:latin typeface="Consolas"/>
              </a:rPr>
              <a:t>    Returns chunk count, doc count, list</a:t>
            </a:r>
          </a:p>
          <a:p>
            <a:pPr>
              <a:spcAft>
                <a:spcPts val="0"/>
              </a:spcAft>
            </a:pPr>
            <a:r>
              <a:rPr sz="1100">
                <a:solidFill>
                  <a:srgbClr val="FFFFFF"/>
                </a:solidFill>
                <a:latin typeface="Consolas"/>
              </a:rPr>
              <a:t>    of source files, and 5 random samples.</a:t>
            </a:r>
          </a:p>
          <a:p>
            <a:pPr>
              <a:spcAft>
                <a:spcPts val="0"/>
              </a:spcAft>
            </a:pPr>
            <a:r>
              <a:rPr sz="1100">
                <a:solidFill>
                  <a:srgbClr val="FFFFFF"/>
                </a:solidFill>
                <a:latin typeface="Consolas"/>
              </a:rPr>
              <a:t>    """</a:t>
            </a:r>
          </a:p>
          <a:p>
            <a:pPr>
              <a:spcAft>
                <a:spcPts val="0"/>
              </a:spcAft>
            </a:pPr>
            <a:r>
              <a:rPr sz="1100">
                <a:solidFill>
                  <a:srgbClr val="FFFFFF"/>
                </a:solidFill>
                <a:latin typeface="Consolas"/>
              </a:rPr>
              <a:t>    from contoso_hr.config import get_config</a:t>
            </a:r>
          </a:p>
          <a:p>
            <a:pPr>
              <a:spcAft>
                <a:spcPts val="0"/>
              </a:spcAft>
            </a:pPr>
            <a:r>
              <a:rPr sz="1100">
                <a:solidFill>
                  <a:srgbClr val="FFFFFF"/>
                </a:solidFill>
                <a:latin typeface="Consolas"/>
              </a:rPr>
              <a:t>    import chromadb, random</a:t>
            </a:r>
          </a:p>
          <a:p>
            <a:pPr>
              <a:spcAft>
                <a:spcPts val="0"/>
              </a:spcAft>
            </a:pPr>
            <a:r>
              <a:rPr sz="1100">
                <a:solidFill>
                  <a:srgbClr val="FFFFFF"/>
                </a:solidFill>
                <a:latin typeface="Consolas"/>
              </a:rPr>
              <a:t> </a:t>
            </a:r>
          </a:p>
          <a:p>
            <a:pPr>
              <a:spcAft>
                <a:spcPts val="0"/>
              </a:spcAft>
            </a:pPr>
            <a:r>
              <a:rPr sz="1100">
                <a:solidFill>
                  <a:srgbClr val="FFFFFF"/>
                </a:solidFill>
                <a:latin typeface="Consolas"/>
              </a:rPr>
              <a:t>    cfg = get_config()</a:t>
            </a:r>
          </a:p>
          <a:p>
            <a:pPr>
              <a:spcAft>
                <a:spcPts val="0"/>
              </a:spcAft>
            </a:pPr>
            <a:r>
              <a:rPr sz="1100">
                <a:solidFill>
                  <a:srgbClr val="FFFFFF"/>
                </a:solidFill>
                <a:latin typeface="Consolas"/>
              </a:rPr>
              <a:t>    client = chromadb.PersistentClient(</a:t>
            </a:r>
          </a:p>
          <a:p>
            <a:pPr>
              <a:spcAft>
                <a:spcPts val="0"/>
              </a:spcAft>
            </a:pPr>
            <a:r>
              <a:rPr sz="1100">
                <a:solidFill>
                  <a:srgbClr val="FFFFFF"/>
                </a:solidFill>
                <a:latin typeface="Consolas"/>
              </a:rPr>
              <a:t>        path=str(cfg.data_dir / "chroma"))</a:t>
            </a:r>
          </a:p>
          <a:p>
            <a:pPr>
              <a:spcAft>
                <a:spcPts val="0"/>
              </a:spcAft>
            </a:pPr>
            <a:r>
              <a:rPr sz="1100">
                <a:solidFill>
                  <a:srgbClr val="FFFFFF"/>
                </a:solidFill>
                <a:latin typeface="Consolas"/>
              </a:rPr>
              <a:t>    col = client.get_collection("hr_policy")</a:t>
            </a:r>
          </a:p>
          <a:p>
            <a:pPr>
              <a:spcAft>
                <a:spcPts val="0"/>
              </a:spcAft>
            </a:pPr>
            <a:r>
              <a:rPr sz="1100">
                <a:solidFill>
                  <a:srgbClr val="FFFFFF"/>
                </a:solidFill>
                <a:latin typeface="Consolas"/>
              </a:rPr>
              <a:t> </a:t>
            </a:r>
          </a:p>
          <a:p>
            <a:pPr>
              <a:spcAft>
                <a:spcPts val="0"/>
              </a:spcAft>
            </a:pPr>
            <a:r>
              <a:rPr sz="1100">
                <a:solidFill>
                  <a:srgbClr val="FFFFFF"/>
                </a:solidFill>
                <a:latin typeface="Consolas"/>
              </a:rPr>
              <a:t>    all_data = col.get()</a:t>
            </a:r>
          </a:p>
          <a:p>
            <a:pPr>
              <a:spcAft>
                <a:spcPts val="0"/>
              </a:spcAft>
            </a:pPr>
            <a:r>
              <a:rPr sz="1100">
                <a:solidFill>
                  <a:srgbClr val="FFFFFF"/>
                </a:solidFill>
                <a:latin typeface="Consolas"/>
              </a:rPr>
              <a:t>    sources = sorted({m["source"]</a:t>
            </a:r>
          </a:p>
          <a:p>
            <a:pPr>
              <a:spcAft>
                <a:spcPts val="0"/>
              </a:spcAft>
            </a:pPr>
            <a:r>
              <a:rPr sz="1100">
                <a:solidFill>
                  <a:srgbClr val="FFFFFF"/>
                </a:solidFill>
                <a:latin typeface="Consolas"/>
              </a:rPr>
              <a:t>                      for m in all_data["metadatas"]})</a:t>
            </a:r>
          </a:p>
          <a:p>
            <a:pPr>
              <a:spcAft>
                <a:spcPts val="0"/>
              </a:spcAft>
            </a:pPr>
            <a:r>
              <a:rPr sz="1100">
                <a:solidFill>
                  <a:srgbClr val="FFFFFF"/>
                </a:solidFill>
                <a:latin typeface="Consolas"/>
              </a:rPr>
              <a:t>    samples = random.sample(</a:t>
            </a:r>
          </a:p>
          <a:p>
            <a:pPr>
              <a:spcAft>
                <a:spcPts val="0"/>
              </a:spcAft>
            </a:pPr>
            <a:r>
              <a:rPr sz="1100">
                <a:solidFill>
                  <a:srgbClr val="FFFFFF"/>
                </a:solidFill>
                <a:latin typeface="Consolas"/>
              </a:rPr>
              <a:t>        all_data["documents"],</a:t>
            </a:r>
          </a:p>
          <a:p>
            <a:pPr>
              <a:spcAft>
                <a:spcPts val="0"/>
              </a:spcAft>
            </a:pPr>
            <a:r>
              <a:rPr sz="1100">
                <a:solidFill>
                  <a:srgbClr val="FFFFFF"/>
                </a:solidFill>
                <a:latin typeface="Consolas"/>
              </a:rPr>
              <a:t>        min(5, len(all_data["documents"])))</a:t>
            </a:r>
          </a:p>
          <a:p>
            <a:pPr>
              <a:spcAft>
                <a:spcPts val="0"/>
              </a:spcAft>
            </a:pPr>
            <a:r>
              <a:rPr sz="1100">
                <a:solidFill>
                  <a:srgbClr val="FFFFFF"/>
                </a:solidFill>
                <a:latin typeface="Consolas"/>
              </a:rPr>
              <a:t> </a:t>
            </a:r>
          </a:p>
          <a:p>
            <a:pPr>
              <a:spcAft>
                <a:spcPts val="0"/>
              </a:spcAft>
            </a:pPr>
            <a:r>
              <a:rPr sz="1100">
                <a:solidFill>
                  <a:srgbClr val="FFFFFF"/>
                </a:solidFill>
                <a:latin typeface="Consolas"/>
              </a:rPr>
              <a:t>    return {</a:t>
            </a:r>
          </a:p>
          <a:p>
            <a:pPr>
              <a:spcAft>
                <a:spcPts val="0"/>
              </a:spcAft>
            </a:pPr>
            <a:r>
              <a:rPr sz="1100">
                <a:solidFill>
                  <a:srgbClr val="FFFFFF"/>
                </a:solidFill>
                <a:latin typeface="Consolas"/>
              </a:rPr>
              <a:t>        "total_chunks": col.count(),</a:t>
            </a:r>
          </a:p>
          <a:p>
            <a:pPr>
              <a:spcAft>
                <a:spcPts val="0"/>
              </a:spcAft>
            </a:pPr>
            <a:r>
              <a:rPr sz="1100">
                <a:solidFill>
                  <a:srgbClr val="FFFFFF"/>
                </a:solidFill>
                <a:latin typeface="Consolas"/>
              </a:rPr>
              <a:t>        "total_documents": len(sources),</a:t>
            </a:r>
          </a:p>
          <a:p>
            <a:pPr>
              <a:spcAft>
                <a:spcPts val="0"/>
              </a:spcAft>
            </a:pPr>
            <a:r>
              <a:rPr sz="1100">
                <a:solidFill>
                  <a:srgbClr val="FFFFFF"/>
                </a:solidFill>
                <a:latin typeface="Consolas"/>
              </a:rPr>
              <a:t>        "documents": sources,</a:t>
            </a:r>
          </a:p>
          <a:p>
            <a:pPr>
              <a:spcAft>
                <a:spcPts val="0"/>
              </a:spcAft>
            </a:pPr>
            <a:r>
              <a:rPr sz="1100">
                <a:solidFill>
                  <a:srgbClr val="FFFFFF"/>
                </a:solidFill>
                <a:latin typeface="Consolas"/>
              </a:rPr>
              <a:t>        "sample_chunks":</a:t>
            </a:r>
          </a:p>
          <a:p>
            <a:pPr>
              <a:spcAft>
                <a:spcPts val="0"/>
              </a:spcAft>
            </a:pPr>
            <a:r>
              <a:rPr sz="1100">
                <a:solidFill>
                  <a:srgbClr val="FFFFFF"/>
                </a:solidFill>
                <a:latin typeface="Consolas"/>
              </a:rPr>
              <a:t>            [c[:100] + "..." for c in samples],</a:t>
            </a:r>
          </a:p>
          <a:p>
            <a:pPr>
              <a:spcAft>
                <a:spcPts val="0"/>
              </a:spcAft>
            </a:pPr>
            <a:r>
              <a:rPr sz="1100">
                <a:solidFill>
                  <a:srgbClr val="FFFFFF"/>
                </a:solidFill>
                <a:latin typeface="Consolas"/>
              </a:rPr>
              <a:t>    }</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Hour 4 — MCP recap</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600">
                <a:solidFill>
                  <a:srgbClr val="0F172A"/>
                </a:solidFill>
                <a:latin typeface="Calibri"/>
              </a:rPr>
              <a:t>MCP collapses N×M integrations to N+M. One protocol, many clients.</a:t>
            </a:r>
          </a:p>
          <a:p>
            <a:pPr algn="l" indent="-228600" marL="228600">
              <a:spcAft>
                <a:spcPts val="1000"/>
              </a:spcAft>
              <a:buChar char="•"/>
            </a:pPr>
            <a:r>
              <a:rPr sz="1600">
                <a:solidFill>
                  <a:srgbClr val="0F172A"/>
                </a:solidFill>
                <a:latin typeface="Calibri"/>
              </a:rPr>
              <a:t>All five primitives: tools (verbs), resources (nouns), prompts (templates), sampling (server→LLM), elicitation (server→user).</a:t>
            </a:r>
          </a:p>
          <a:p>
            <a:pPr algn="l" indent="-228600" marL="228600">
              <a:spcAft>
                <a:spcPts val="1000"/>
              </a:spcAft>
              <a:buChar char="•"/>
            </a:pPr>
            <a:r>
              <a:rPr sz="1600">
                <a:solidFill>
                  <a:srgbClr val="0F172A"/>
                </a:solidFill>
                <a:latin typeface="Calibri"/>
              </a:rPr>
              <a:t>Real code: @mcp.tool() decorator + ctx.sample() + ctx.elicit() in 30 lines each.</a:t>
            </a:r>
          </a:p>
          <a:p>
            <a:pPr algn="l" indent="-228600" marL="228600">
              <a:spcAft>
                <a:spcPts val="1000"/>
              </a:spcAft>
              <a:buChar char="•"/>
            </a:pPr>
            <a:r>
              <a:rPr sz="1600">
                <a:solidFill>
                  <a:srgbClr val="0F172A"/>
                </a:solidFill>
                <a:latin typeface="Calibri"/>
              </a:rPr>
              <a:t>RAG in 6 steps; ChromaDB locally, Azure AI Search in production.</a:t>
            </a:r>
          </a:p>
          <a:p>
            <a:pPr algn="l" indent="-228600" marL="228600">
              <a:spcAft>
                <a:spcPts val="1000"/>
              </a:spcAft>
              <a:buChar char="•"/>
            </a:pPr>
            <a:r>
              <a:rPr sz="1600">
                <a:solidFill>
                  <a:srgbClr val="0F172A"/>
                </a:solidFill>
                <a:latin typeface="Calibri"/>
              </a:rPr>
              <a:t>MCP Inspector is the dev loop; Claude Desktop is the integration target.</a:t>
            </a:r>
          </a:p>
          <a:p>
            <a:pPr algn="l" indent="-228600" marL="228600">
              <a:spcAft>
                <a:spcPts val="1000"/>
              </a:spcAft>
              <a:buChar char="•"/>
            </a:pPr>
            <a:r>
              <a:rPr sz="1600">
                <a:solidFill>
                  <a:srgbClr val="0F172A"/>
                </a:solidFill>
                <a:latin typeface="Calibri"/>
              </a:rPr>
              <a:t>Vibe coding works when context is good — sloppy prompts produce sloppy code.</a:t>
            </a:r>
          </a:p>
          <a:p>
            <a:pPr algn="l" indent="-228600" marL="228600">
              <a:spcAft>
                <a:spcPts val="1000"/>
              </a:spcAft>
              <a:buChar char="•"/>
            </a:pPr>
            <a:r>
              <a:rPr sz="1600">
                <a:solidFill>
                  <a:srgbClr val="0F172A"/>
                </a:solidFill>
                <a:latin typeface="Calibri"/>
              </a:rPr>
              <a:t>Next up: putting all of this on Azure with guardrails, gateways, and observability.</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Pivot</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From MCP to production</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MCP demo is done. Now deploy the same Contoso HR Agent to Azure with guardrails, observability, and cost controls.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FOUNDRY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Microsoft Foundry Agent Service — the managed runtime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000"/>
              </a:spcAft>
              <a:buChar char="•"/>
            </a:pPr>
            <a:r>
              <a:rPr sz="1400" b="1">
                <a:solidFill>
                  <a:srgbClr val="0B1B3F"/>
                </a:solidFill>
                <a:latin typeface="Calibri"/>
              </a:rPr>
              <a:t>What it is</a:t>
            </a:r>
            <a:r>
              <a:rPr sz="1400">
                <a:solidFill>
                  <a:srgbClr val="0F172A"/>
                </a:solidFill>
                <a:latin typeface="Calibri"/>
              </a:rPr>
              <a:t>  Managed Azure runtime for prompt agents and hosted (containerized) agents.</a:t>
            </a:r>
          </a:p>
          <a:p>
            <a:pPr algn="l" indent="-228600" marL="228600">
              <a:spcAft>
                <a:spcPts val="1000"/>
              </a:spcAft>
              <a:buChar char="•"/>
            </a:pPr>
            <a:r>
              <a:rPr sz="1400" b="1">
                <a:solidFill>
                  <a:srgbClr val="0B1B3F"/>
                </a:solidFill>
                <a:latin typeface="Calibri"/>
              </a:rPr>
              <a:t>What it gives you</a:t>
            </a:r>
            <a:r>
              <a:rPr sz="1400">
                <a:solidFill>
                  <a:srgbClr val="0F172A"/>
                </a:solidFill>
                <a:latin typeface="Calibri"/>
              </a:rPr>
              <a:t>  Models, tools, memory, code interpreter, MCP server connections, observability.</a:t>
            </a:r>
          </a:p>
          <a:p>
            <a:pPr algn="l" indent="-228600" marL="228600">
              <a:spcAft>
                <a:spcPts val="1000"/>
              </a:spcAft>
              <a:buChar char="•"/>
            </a:pPr>
            <a:r>
              <a:rPr sz="1400" b="1">
                <a:solidFill>
                  <a:srgbClr val="0B1B3F"/>
                </a:solidFill>
                <a:latin typeface="Calibri"/>
              </a:rPr>
              <a:t>Identity &amp; security</a:t>
            </a:r>
            <a:r>
              <a:rPr sz="1400">
                <a:solidFill>
                  <a:srgbClr val="0F172A"/>
                </a:solidFill>
                <a:latin typeface="Calibri"/>
              </a:rPr>
              <a:t>  Each agent gets a Microsoft Entra identity; OBO auth to downstream MCP servers.</a:t>
            </a:r>
          </a:p>
          <a:p>
            <a:pPr algn="l" indent="-228600" marL="228600">
              <a:spcAft>
                <a:spcPts val="1000"/>
              </a:spcAft>
              <a:buChar char="•"/>
            </a:pPr>
            <a:r>
              <a:rPr sz="1400" b="1">
                <a:solidFill>
                  <a:srgbClr val="0B1B3F"/>
                </a:solidFill>
                <a:latin typeface="Calibri"/>
              </a:rPr>
              <a:t>Networking</a:t>
            </a:r>
            <a:r>
              <a:rPr sz="1400">
                <a:solidFill>
                  <a:srgbClr val="0F172A"/>
                </a:solidFill>
                <a:latin typeface="Calibri"/>
              </a:rPr>
              <a:t>  Bring-your-own VNet — agents run in a delegated subnet behind private endpoints.</a:t>
            </a:r>
          </a:p>
          <a:p>
            <a:pPr algn="l" indent="-228600" marL="228600">
              <a:spcAft>
                <a:spcPts val="1000"/>
              </a:spcAft>
              <a:buChar char="•"/>
            </a:pPr>
            <a:r>
              <a:rPr sz="1400" b="1">
                <a:solidFill>
                  <a:srgbClr val="0B1B3F"/>
                </a:solidFill>
                <a:latin typeface="Calibri"/>
              </a:rPr>
              <a:t>Lifecycle</a:t>
            </a:r>
            <a:r>
              <a:rPr sz="1400">
                <a:solidFill>
                  <a:srgbClr val="0F172A"/>
                </a:solidFill>
                <a:latin typeface="Calibri"/>
              </a:rPr>
              <a:t>  Build → test in playground → trace → evaluate → publish → monitor.</a:t>
            </a:r>
          </a:p>
        </p:txBody>
      </p:sp>
      <p:sp>
        <p:nvSpPr>
          <p:cNvPr id="9" name="Rectangle 8"/>
          <p:cNvSpPr/>
          <p:nvPr/>
        </p:nvSpPr>
        <p:spPr>
          <a:xfrm>
            <a:off x="7680960" y="1417320"/>
            <a:ext cx="4023360"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07122C"/>
                </a:solidFill>
                <a:latin typeface="Calibri"/>
              </a:rPr>
              <a:t>Why this matters</a:t>
            </a:r>
          </a:p>
        </p:txBody>
      </p:sp>
      <p:sp>
        <p:nvSpPr>
          <p:cNvPr id="11" name="TextBox 10"/>
          <p:cNvSpPr txBox="1"/>
          <p:nvPr/>
        </p:nvSpPr>
        <p:spPr>
          <a:xfrm>
            <a:off x="7909560" y="2286000"/>
            <a:ext cx="3657600" cy="3657600"/>
          </a:xfrm>
          <a:prstGeom prst="rect">
            <a:avLst/>
          </a:prstGeom>
          <a:noFill/>
        </p:spPr>
        <p:txBody>
          <a:bodyPr wrap="square" lIns="0" rIns="0" tIns="0" bIns="0" anchor="t">
            <a:spAutoFit/>
          </a:bodyPr>
          <a:lstStyle/>
          <a:p>
            <a:pPr algn="l"/>
            <a:r>
              <a:rPr sz="1300" b="0" i="0">
                <a:solidFill>
                  <a:srgbClr val="07122C"/>
                </a:solidFill>
                <a:latin typeface="Calibri"/>
              </a:rPr>
              <a:t>You stop writing agent runtime plumbing and start writing agent behavior.
Foundry handles tool catalog, identity, content safety, and tracing.
You bring the persona, the data, and the policies.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FOUNDRY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Foundry Agent Service · what's inside the runtime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14173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508760"/>
            <a:ext cx="2743200" cy="502920"/>
          </a:xfrm>
          <a:prstGeom prst="rect">
            <a:avLst/>
          </a:prstGeom>
          <a:noFill/>
        </p:spPr>
        <p:txBody>
          <a:bodyPr wrap="square" lIns="0" rIns="0" tIns="0" bIns="0" anchor="t">
            <a:spAutoFit/>
          </a:bodyPr>
          <a:lstStyle/>
          <a:p>
            <a:pPr algn="l"/>
            <a:r>
              <a:rPr sz="1500" b="1" i="0">
                <a:solidFill>
                  <a:srgbClr val="0B1B3F"/>
                </a:solidFill>
                <a:latin typeface="Calibri"/>
              </a:rPr>
              <a:t>Agent Runtime</a:t>
            </a:r>
          </a:p>
        </p:txBody>
      </p:sp>
      <p:sp>
        <p:nvSpPr>
          <p:cNvPr id="11" name="TextBox 10"/>
          <p:cNvSpPr txBox="1"/>
          <p:nvPr/>
        </p:nvSpPr>
        <p:spPr>
          <a:xfrm>
            <a:off x="3840480" y="1508760"/>
            <a:ext cx="7772400" cy="502920"/>
          </a:xfrm>
          <a:prstGeom prst="rect">
            <a:avLst/>
          </a:prstGeom>
          <a:noFill/>
        </p:spPr>
        <p:txBody>
          <a:bodyPr wrap="square" lIns="0" rIns="0" tIns="0" bIns="0" anchor="ctr">
            <a:spAutoFit/>
          </a:bodyPr>
          <a:lstStyle/>
          <a:p>
            <a:pPr algn="l"/>
            <a:r>
              <a:rPr sz="1200" b="0" i="0">
                <a:solidFill>
                  <a:srgbClr val="0F172A"/>
                </a:solidFill>
                <a:latin typeface="Calibri"/>
              </a:rPr>
              <a:t>Hosts prompt + hosted agents · manages conversations, tool calls, lifecycle</a:t>
            </a:r>
          </a:p>
        </p:txBody>
      </p:sp>
      <p:sp>
        <p:nvSpPr>
          <p:cNvPr id="12" name="Rectangle 11"/>
          <p:cNvSpPr/>
          <p:nvPr/>
        </p:nvSpPr>
        <p:spPr>
          <a:xfrm>
            <a:off x="640080" y="219456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 y="219456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286000"/>
            <a:ext cx="2743200" cy="502920"/>
          </a:xfrm>
          <a:prstGeom prst="rect">
            <a:avLst/>
          </a:prstGeom>
          <a:noFill/>
        </p:spPr>
        <p:txBody>
          <a:bodyPr wrap="square" lIns="0" rIns="0" tIns="0" bIns="0" anchor="t">
            <a:spAutoFit/>
          </a:bodyPr>
          <a:lstStyle/>
          <a:p>
            <a:pPr algn="l"/>
            <a:r>
              <a:rPr sz="1500" b="1" i="0">
                <a:solidFill>
                  <a:srgbClr val="0B1B3F"/>
                </a:solidFill>
                <a:latin typeface="Calibri"/>
              </a:rPr>
              <a:t>Tools</a:t>
            </a:r>
          </a:p>
        </p:txBody>
      </p:sp>
      <p:sp>
        <p:nvSpPr>
          <p:cNvPr id="15" name="TextBox 14"/>
          <p:cNvSpPr txBox="1"/>
          <p:nvPr/>
        </p:nvSpPr>
        <p:spPr>
          <a:xfrm>
            <a:off x="3840480" y="2286000"/>
            <a:ext cx="7772400" cy="502920"/>
          </a:xfrm>
          <a:prstGeom prst="rect">
            <a:avLst/>
          </a:prstGeom>
          <a:noFill/>
        </p:spPr>
        <p:txBody>
          <a:bodyPr wrap="square" lIns="0" rIns="0" tIns="0" bIns="0" anchor="ctr">
            <a:spAutoFit/>
          </a:bodyPr>
          <a:lstStyle/>
          <a:p>
            <a:pPr algn="l"/>
            <a:r>
              <a:rPr sz="1200" b="0" i="0">
                <a:solidFill>
                  <a:srgbClr val="0F172A"/>
                </a:solidFill>
                <a:latin typeface="Calibri"/>
              </a:rPr>
              <a:t>Web search · file search · memory · code interpreter · MCP servers · custom functions</a:t>
            </a:r>
          </a:p>
        </p:txBody>
      </p:sp>
      <p:sp>
        <p:nvSpPr>
          <p:cNvPr id="16" name="Rectangle 15"/>
          <p:cNvSpPr/>
          <p:nvPr/>
        </p:nvSpPr>
        <p:spPr>
          <a:xfrm>
            <a:off x="640080" y="297180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 y="297180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063240"/>
            <a:ext cx="2743200" cy="502920"/>
          </a:xfrm>
          <a:prstGeom prst="rect">
            <a:avLst/>
          </a:prstGeom>
          <a:noFill/>
        </p:spPr>
        <p:txBody>
          <a:bodyPr wrap="square" lIns="0" rIns="0" tIns="0" bIns="0" anchor="t">
            <a:spAutoFit/>
          </a:bodyPr>
          <a:lstStyle/>
          <a:p>
            <a:pPr algn="l"/>
            <a:r>
              <a:rPr sz="1500" b="1" i="0">
                <a:solidFill>
                  <a:srgbClr val="0B1B3F"/>
                </a:solidFill>
                <a:latin typeface="Calibri"/>
              </a:rPr>
              <a:t>Models</a:t>
            </a:r>
          </a:p>
        </p:txBody>
      </p:sp>
      <p:sp>
        <p:nvSpPr>
          <p:cNvPr id="19" name="TextBox 18"/>
          <p:cNvSpPr txBox="1"/>
          <p:nvPr/>
        </p:nvSpPr>
        <p:spPr>
          <a:xfrm>
            <a:off x="3840480" y="3063240"/>
            <a:ext cx="7772400" cy="502920"/>
          </a:xfrm>
          <a:prstGeom prst="rect">
            <a:avLst/>
          </a:prstGeom>
          <a:noFill/>
        </p:spPr>
        <p:txBody>
          <a:bodyPr wrap="square" lIns="0" rIns="0" tIns="0" bIns="0" anchor="ctr">
            <a:spAutoFit/>
          </a:bodyPr>
          <a:lstStyle/>
          <a:p>
            <a:pPr algn="l"/>
            <a:r>
              <a:rPr sz="1200" b="0" i="0">
                <a:solidFill>
                  <a:srgbClr val="0F172A"/>
                </a:solidFill>
                <a:latin typeface="Calibri"/>
              </a:rPr>
              <a:t>Foundry catalog — GPT-4o, Llama, DeepSeek, Phi · swap without changing agent code</a:t>
            </a:r>
          </a:p>
        </p:txBody>
      </p:sp>
      <p:sp>
        <p:nvSpPr>
          <p:cNvPr id="20" name="Rectangle 19"/>
          <p:cNvSpPr/>
          <p:nvPr/>
        </p:nvSpPr>
        <p:spPr>
          <a:xfrm>
            <a:off x="640080" y="374904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 y="374904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840480"/>
            <a:ext cx="2743200" cy="502920"/>
          </a:xfrm>
          <a:prstGeom prst="rect">
            <a:avLst/>
          </a:prstGeom>
          <a:noFill/>
        </p:spPr>
        <p:txBody>
          <a:bodyPr wrap="square" lIns="0" rIns="0" tIns="0" bIns="0" anchor="t">
            <a:spAutoFit/>
          </a:bodyPr>
          <a:lstStyle/>
          <a:p>
            <a:pPr algn="l"/>
            <a:r>
              <a:rPr sz="1500" b="1" i="0">
                <a:solidFill>
                  <a:srgbClr val="0B1B3F"/>
                </a:solidFill>
                <a:latin typeface="Calibri"/>
              </a:rPr>
              <a:t>Observability</a:t>
            </a:r>
          </a:p>
        </p:txBody>
      </p:sp>
      <p:sp>
        <p:nvSpPr>
          <p:cNvPr id="23" name="TextBox 22"/>
          <p:cNvSpPr txBox="1"/>
          <p:nvPr/>
        </p:nvSpPr>
        <p:spPr>
          <a:xfrm>
            <a:off x="3840480" y="3840480"/>
            <a:ext cx="7772400" cy="502920"/>
          </a:xfrm>
          <a:prstGeom prst="rect">
            <a:avLst/>
          </a:prstGeom>
          <a:noFill/>
        </p:spPr>
        <p:txBody>
          <a:bodyPr wrap="square" lIns="0" rIns="0" tIns="0" bIns="0" anchor="ctr">
            <a:spAutoFit/>
          </a:bodyPr>
          <a:lstStyle/>
          <a:p>
            <a:pPr algn="l"/>
            <a:r>
              <a:rPr sz="1200" b="0" i="0">
                <a:solidFill>
                  <a:srgbClr val="0F172A"/>
                </a:solidFill>
                <a:latin typeface="Calibri"/>
              </a:rPr>
              <a:t>End-to-end tracing · metrics · Application Insights integration</a:t>
            </a:r>
          </a:p>
        </p:txBody>
      </p:sp>
      <p:sp>
        <p:nvSpPr>
          <p:cNvPr id="24" name="Rectangle 23"/>
          <p:cNvSpPr/>
          <p:nvPr/>
        </p:nvSpPr>
        <p:spPr>
          <a:xfrm>
            <a:off x="640080" y="452628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 y="452628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617720"/>
            <a:ext cx="2743200" cy="502920"/>
          </a:xfrm>
          <a:prstGeom prst="rect">
            <a:avLst/>
          </a:prstGeom>
          <a:noFill/>
        </p:spPr>
        <p:txBody>
          <a:bodyPr wrap="square" lIns="0" rIns="0" tIns="0" bIns="0" anchor="t">
            <a:spAutoFit/>
          </a:bodyPr>
          <a:lstStyle/>
          <a:p>
            <a:pPr algn="l"/>
            <a:r>
              <a:rPr sz="1500" b="1" i="0">
                <a:solidFill>
                  <a:srgbClr val="0B1B3F"/>
                </a:solidFill>
                <a:latin typeface="Calibri"/>
              </a:rPr>
              <a:t>Identity &amp; Security</a:t>
            </a:r>
          </a:p>
        </p:txBody>
      </p:sp>
      <p:sp>
        <p:nvSpPr>
          <p:cNvPr id="27" name="TextBox 26"/>
          <p:cNvSpPr txBox="1"/>
          <p:nvPr/>
        </p:nvSpPr>
        <p:spPr>
          <a:xfrm>
            <a:off x="3840480" y="4617720"/>
            <a:ext cx="7772400" cy="502920"/>
          </a:xfrm>
          <a:prstGeom prst="rect">
            <a:avLst/>
          </a:prstGeom>
          <a:noFill/>
        </p:spPr>
        <p:txBody>
          <a:bodyPr wrap="square" lIns="0" rIns="0" tIns="0" bIns="0" anchor="ctr">
            <a:spAutoFit/>
          </a:bodyPr>
          <a:lstStyle/>
          <a:p>
            <a:pPr algn="l"/>
            <a:r>
              <a:rPr sz="1200" b="0" i="0">
                <a:solidFill>
                  <a:srgbClr val="0F172A"/>
                </a:solidFill>
                <a:latin typeface="Calibri"/>
              </a:rPr>
              <a:t>Microsoft Entra · RBAC · content filters · VNet isolation</a:t>
            </a:r>
          </a:p>
        </p:txBody>
      </p:sp>
      <p:sp>
        <p:nvSpPr>
          <p:cNvPr id="28" name="Rectangle 27"/>
          <p:cNvSpPr/>
          <p:nvPr/>
        </p:nvSpPr>
        <p:spPr>
          <a:xfrm>
            <a:off x="640080" y="53035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 y="53035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394960"/>
            <a:ext cx="2743200" cy="502920"/>
          </a:xfrm>
          <a:prstGeom prst="rect">
            <a:avLst/>
          </a:prstGeom>
          <a:noFill/>
        </p:spPr>
        <p:txBody>
          <a:bodyPr wrap="square" lIns="0" rIns="0" tIns="0" bIns="0" anchor="t">
            <a:spAutoFit/>
          </a:bodyPr>
          <a:lstStyle/>
          <a:p>
            <a:pPr algn="l"/>
            <a:r>
              <a:rPr sz="1500" b="1" i="0">
                <a:solidFill>
                  <a:srgbClr val="0B1B3F"/>
                </a:solidFill>
                <a:latin typeface="Calibri"/>
              </a:rPr>
              <a:t>Publishing</a:t>
            </a:r>
          </a:p>
        </p:txBody>
      </p:sp>
      <p:sp>
        <p:nvSpPr>
          <p:cNvPr id="31" name="TextBox 30"/>
          <p:cNvSpPr txBox="1"/>
          <p:nvPr/>
        </p:nvSpPr>
        <p:spPr>
          <a:xfrm>
            <a:off x="3840480" y="5394960"/>
            <a:ext cx="7772400" cy="502920"/>
          </a:xfrm>
          <a:prstGeom prst="rect">
            <a:avLst/>
          </a:prstGeom>
          <a:noFill/>
        </p:spPr>
        <p:txBody>
          <a:bodyPr wrap="square" lIns="0" rIns="0" tIns="0" bIns="0" anchor="ctr">
            <a:spAutoFit/>
          </a:bodyPr>
          <a:lstStyle/>
          <a:p>
            <a:pPr algn="l"/>
            <a:r>
              <a:rPr sz="1200" b="0" i="0">
                <a:solidFill>
                  <a:srgbClr val="0F172A"/>
                </a:solidFill>
                <a:latin typeface="Calibri"/>
              </a:rPr>
              <a:t>Versioned · stable endpoints · share via Teams, M365 Copilot, Entra Agent Registry</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FOUNDRY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Foundry agent lifecycle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365760"/>
          </a:xfrm>
          <a:prstGeom prst="rect">
            <a:avLst/>
          </a:prstGeom>
          <a:noFill/>
        </p:spPr>
        <p:txBody>
          <a:bodyPr wrap="square" lIns="0" rIns="0" tIns="0" bIns="0" anchor="t">
            <a:spAutoFit/>
          </a:bodyPr>
          <a:lstStyle/>
          <a:p>
            <a:pPr algn="ctr"/>
            <a:r>
              <a:rPr sz="1800" b="1" i="0">
                <a:solidFill>
                  <a:srgbClr val="1E3A8A"/>
                </a:solidFill>
                <a:latin typeface="Calibri"/>
              </a:rPr>
              <a:t>build → test → trace → evaluate → publish → monitor</a:t>
            </a:r>
          </a:p>
        </p:txBody>
      </p:sp>
      <p:sp>
        <p:nvSpPr>
          <p:cNvPr id="9" name="Rectangle 8"/>
          <p:cNvSpPr/>
          <p:nvPr/>
        </p:nvSpPr>
        <p:spPr>
          <a:xfrm>
            <a:off x="548640" y="2286000"/>
            <a:ext cx="1828800" cy="1828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Build</a:t>
            </a:r>
          </a:p>
        </p:txBody>
      </p:sp>
      <p:sp>
        <p:nvSpPr>
          <p:cNvPr id="11" name="TextBox 10"/>
          <p:cNvSpPr txBox="1"/>
          <p:nvPr/>
        </p:nvSpPr>
        <p:spPr>
          <a:xfrm>
            <a:off x="731520"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Define in portal
or SDK</a:t>
            </a:r>
          </a:p>
        </p:txBody>
      </p:sp>
      <p:sp>
        <p:nvSpPr>
          <p:cNvPr id="12" name="Right Arrow 11"/>
          <p:cNvSpPr/>
          <p:nvPr/>
        </p:nvSpPr>
        <p:spPr>
          <a:xfrm>
            <a:off x="2395728" y="3063240"/>
            <a:ext cx="914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96312" y="2286000"/>
            <a:ext cx="1828800" cy="18288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96312"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Test</a:t>
            </a:r>
          </a:p>
        </p:txBody>
      </p:sp>
      <p:sp>
        <p:nvSpPr>
          <p:cNvPr id="15" name="TextBox 14"/>
          <p:cNvSpPr txBox="1"/>
          <p:nvPr/>
        </p:nvSpPr>
        <p:spPr>
          <a:xfrm>
            <a:off x="2679192"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Playground
or local run</a:t>
            </a:r>
          </a:p>
        </p:txBody>
      </p:sp>
      <p:sp>
        <p:nvSpPr>
          <p:cNvPr id="16" name="Right Arrow 15"/>
          <p:cNvSpPr/>
          <p:nvPr/>
        </p:nvSpPr>
        <p:spPr>
          <a:xfrm>
            <a:off x="4343400" y="3063240"/>
            <a:ext cx="914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43984" y="2286000"/>
            <a:ext cx="1828800" cy="1828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3984"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Trace</a:t>
            </a:r>
          </a:p>
        </p:txBody>
      </p:sp>
      <p:sp>
        <p:nvSpPr>
          <p:cNvPr id="19" name="TextBox 18"/>
          <p:cNvSpPr txBox="1"/>
          <p:nvPr/>
        </p:nvSpPr>
        <p:spPr>
          <a:xfrm>
            <a:off x="4626864"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See every model
call + tool use</a:t>
            </a:r>
          </a:p>
        </p:txBody>
      </p:sp>
      <p:sp>
        <p:nvSpPr>
          <p:cNvPr id="20" name="Right Arrow 19"/>
          <p:cNvSpPr/>
          <p:nvPr/>
        </p:nvSpPr>
        <p:spPr>
          <a:xfrm>
            <a:off x="6291072" y="3063240"/>
            <a:ext cx="914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91656" y="2286000"/>
            <a:ext cx="1828800" cy="18288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1656"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Evaluate</a:t>
            </a:r>
          </a:p>
        </p:txBody>
      </p:sp>
      <p:sp>
        <p:nvSpPr>
          <p:cNvPr id="23" name="TextBox 22"/>
          <p:cNvSpPr txBox="1"/>
          <p:nvPr/>
        </p:nvSpPr>
        <p:spPr>
          <a:xfrm>
            <a:off x="6574536"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Run golden set
measure quality</a:t>
            </a:r>
          </a:p>
        </p:txBody>
      </p:sp>
      <p:sp>
        <p:nvSpPr>
          <p:cNvPr id="24" name="Right Arrow 23"/>
          <p:cNvSpPr/>
          <p:nvPr/>
        </p:nvSpPr>
        <p:spPr>
          <a:xfrm>
            <a:off x="8238744" y="3063240"/>
            <a:ext cx="914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39328" y="2286000"/>
            <a:ext cx="1828800" cy="1828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9328"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Publish</a:t>
            </a:r>
          </a:p>
        </p:txBody>
      </p:sp>
      <p:sp>
        <p:nvSpPr>
          <p:cNvPr id="27" name="TextBox 26"/>
          <p:cNvSpPr txBox="1"/>
          <p:nvPr/>
        </p:nvSpPr>
        <p:spPr>
          <a:xfrm>
            <a:off x="8522208"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Stable endpoint
versioned</a:t>
            </a:r>
          </a:p>
        </p:txBody>
      </p:sp>
      <p:sp>
        <p:nvSpPr>
          <p:cNvPr id="28" name="Right Arrow 27"/>
          <p:cNvSpPr/>
          <p:nvPr/>
        </p:nvSpPr>
        <p:spPr>
          <a:xfrm>
            <a:off x="10186416" y="3063240"/>
            <a:ext cx="914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87000" y="2286000"/>
            <a:ext cx="1828800" cy="18288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87000"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Monitor</a:t>
            </a:r>
          </a:p>
        </p:txBody>
      </p:sp>
      <p:sp>
        <p:nvSpPr>
          <p:cNvPr id="31" name="TextBox 30"/>
          <p:cNvSpPr txBox="1"/>
          <p:nvPr/>
        </p:nvSpPr>
        <p:spPr>
          <a:xfrm>
            <a:off x="10469880"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App Insights
service metrics</a:t>
            </a:r>
          </a:p>
        </p:txBody>
      </p:sp>
      <p:sp>
        <p:nvSpPr>
          <p:cNvPr id="32" name="TextBox 31"/>
          <p:cNvSpPr txBox="1"/>
          <p:nvPr/>
        </p:nvSpPr>
        <p:spPr>
          <a:xfrm>
            <a:off x="548640" y="4754880"/>
            <a:ext cx="10972800" cy="457200"/>
          </a:xfrm>
          <a:prstGeom prst="rect">
            <a:avLst/>
          </a:prstGeom>
          <a:noFill/>
        </p:spPr>
        <p:txBody>
          <a:bodyPr wrap="square" lIns="0" rIns="0" tIns="0" bIns="0" anchor="t">
            <a:spAutoFit/>
          </a:bodyPr>
          <a:lstStyle/>
          <a:p>
            <a:pPr algn="ctr"/>
            <a:r>
              <a:rPr sz="1400" b="0" i="1">
                <a:solidFill>
                  <a:srgbClr val="475569"/>
                </a:solidFill>
                <a:latin typeface="Calibri"/>
              </a:rPr>
              <a:t>Each stage has a Foundry portal surface; each is also scriptable via the Foundry SDK.</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ARCHITECTURE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Production architecture — five lanes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228600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002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Edge</a:t>
            </a:r>
          </a:p>
        </p:txBody>
      </p:sp>
      <p:sp>
        <p:nvSpPr>
          <p:cNvPr id="10" name="Rectangle 9"/>
          <p:cNvSpPr/>
          <p:nvPr/>
        </p:nvSpPr>
        <p:spPr>
          <a:xfrm>
            <a:off x="2926080" y="14173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1600200"/>
            <a:ext cx="8595360" cy="548640"/>
          </a:xfrm>
          <a:prstGeom prst="rect">
            <a:avLst/>
          </a:prstGeom>
          <a:noFill/>
        </p:spPr>
        <p:txBody>
          <a:bodyPr wrap="square" lIns="0" rIns="0" tIns="0" bIns="0" anchor="ctr">
            <a:spAutoFit/>
          </a:bodyPr>
          <a:lstStyle/>
          <a:p>
            <a:pPr algn="l"/>
            <a:r>
              <a:rPr sz="1400" b="0" i="0">
                <a:solidFill>
                  <a:srgbClr val="0F172A"/>
                </a:solidFill>
                <a:latin typeface="Calibri"/>
              </a:rPr>
              <a:t>Web UI · file watcher · Teams / M365 channels</a:t>
            </a:r>
          </a:p>
        </p:txBody>
      </p:sp>
      <p:sp>
        <p:nvSpPr>
          <p:cNvPr id="12" name="Rectangle 11"/>
          <p:cNvSpPr/>
          <p:nvPr/>
        </p:nvSpPr>
        <p:spPr>
          <a:xfrm>
            <a:off x="548640" y="2331720"/>
            <a:ext cx="228600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5146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Gateway</a:t>
            </a:r>
          </a:p>
        </p:txBody>
      </p:sp>
      <p:sp>
        <p:nvSpPr>
          <p:cNvPr id="14" name="Rectangle 13"/>
          <p:cNvSpPr/>
          <p:nvPr/>
        </p:nvSpPr>
        <p:spPr>
          <a:xfrm>
            <a:off x="2926080" y="23317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0" y="2514600"/>
            <a:ext cx="8595360" cy="548640"/>
          </a:xfrm>
          <a:prstGeom prst="rect">
            <a:avLst/>
          </a:prstGeom>
          <a:noFill/>
        </p:spPr>
        <p:txBody>
          <a:bodyPr wrap="square" lIns="0" rIns="0" tIns="0" bIns="0" anchor="ctr">
            <a:spAutoFit/>
          </a:bodyPr>
          <a:lstStyle/>
          <a:p>
            <a:pPr algn="l"/>
            <a:r>
              <a:rPr sz="1400" b="0" i="0">
                <a:solidFill>
                  <a:srgbClr val="0F172A"/>
                </a:solidFill>
                <a:latin typeface="Calibri"/>
              </a:rPr>
              <a:t>Azure API Management — AI gateway policies</a:t>
            </a:r>
          </a:p>
        </p:txBody>
      </p:sp>
      <p:sp>
        <p:nvSpPr>
          <p:cNvPr id="16" name="Rectangle 15"/>
          <p:cNvSpPr/>
          <p:nvPr/>
        </p:nvSpPr>
        <p:spPr>
          <a:xfrm>
            <a:off x="548640" y="3246120"/>
            <a:ext cx="228600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4290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Compute</a:t>
            </a:r>
          </a:p>
        </p:txBody>
      </p:sp>
      <p:sp>
        <p:nvSpPr>
          <p:cNvPr id="18" name="Rectangle 17"/>
          <p:cNvSpPr/>
          <p:nvPr/>
        </p:nvSpPr>
        <p:spPr>
          <a:xfrm>
            <a:off x="2926080" y="32461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3429000"/>
            <a:ext cx="8595360" cy="548640"/>
          </a:xfrm>
          <a:prstGeom prst="rect">
            <a:avLst/>
          </a:prstGeom>
          <a:noFill/>
        </p:spPr>
        <p:txBody>
          <a:bodyPr wrap="square" lIns="0" rIns="0" tIns="0" bIns="0" anchor="ctr">
            <a:spAutoFit/>
          </a:bodyPr>
          <a:lstStyle/>
          <a:p>
            <a:pPr algn="l"/>
            <a:r>
              <a:rPr sz="1400" b="0" i="0">
                <a:solidFill>
                  <a:srgbClr val="0F172A"/>
                </a:solidFill>
                <a:latin typeface="Calibri"/>
              </a:rPr>
              <a:t>Azure Container Apps · Foundry Agent Service</a:t>
            </a:r>
          </a:p>
        </p:txBody>
      </p:sp>
      <p:sp>
        <p:nvSpPr>
          <p:cNvPr id="20" name="Rectangle 19"/>
          <p:cNvSpPr/>
          <p:nvPr/>
        </p:nvSpPr>
        <p:spPr>
          <a:xfrm>
            <a:off x="548640" y="4160520"/>
            <a:ext cx="228600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3434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Data</a:t>
            </a:r>
          </a:p>
        </p:txBody>
      </p:sp>
      <p:sp>
        <p:nvSpPr>
          <p:cNvPr id="22" name="Rectangle 21"/>
          <p:cNvSpPr/>
          <p:nvPr/>
        </p:nvSpPr>
        <p:spPr>
          <a:xfrm>
            <a:off x="2926080" y="41605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08960" y="4343400"/>
            <a:ext cx="8595360" cy="548640"/>
          </a:xfrm>
          <a:prstGeom prst="rect">
            <a:avLst/>
          </a:prstGeom>
          <a:noFill/>
        </p:spPr>
        <p:txBody>
          <a:bodyPr wrap="square" lIns="0" rIns="0" tIns="0" bIns="0" anchor="ctr">
            <a:spAutoFit/>
          </a:bodyPr>
          <a:lstStyle/>
          <a:p>
            <a:pPr algn="l"/>
            <a:r>
              <a:rPr sz="1400" b="0" i="0">
                <a:solidFill>
                  <a:srgbClr val="0F172A"/>
                </a:solidFill>
                <a:latin typeface="Calibri"/>
              </a:rPr>
              <a:t>Cosmos DB (state) · Azure AI Search (vectors) · Key Vault</a:t>
            </a:r>
          </a:p>
        </p:txBody>
      </p:sp>
      <p:sp>
        <p:nvSpPr>
          <p:cNvPr id="24" name="Rectangle 23"/>
          <p:cNvSpPr/>
          <p:nvPr/>
        </p:nvSpPr>
        <p:spPr>
          <a:xfrm>
            <a:off x="548640" y="5074920"/>
            <a:ext cx="228600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2578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Observability</a:t>
            </a:r>
          </a:p>
        </p:txBody>
      </p:sp>
      <p:sp>
        <p:nvSpPr>
          <p:cNvPr id="26" name="Rectangle 25"/>
          <p:cNvSpPr/>
          <p:nvPr/>
        </p:nvSpPr>
        <p:spPr>
          <a:xfrm>
            <a:off x="2926080" y="50749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0" y="5257800"/>
            <a:ext cx="8595360" cy="548640"/>
          </a:xfrm>
          <a:prstGeom prst="rect">
            <a:avLst/>
          </a:prstGeom>
          <a:noFill/>
        </p:spPr>
        <p:txBody>
          <a:bodyPr wrap="square" lIns="0" rIns="0" tIns="0" bIns="0" anchor="ctr">
            <a:spAutoFit/>
          </a:bodyPr>
          <a:lstStyle/>
          <a:p>
            <a:pPr algn="l"/>
            <a:r>
              <a:rPr sz="1400" b="0" i="0">
                <a:solidFill>
                  <a:srgbClr val="0F172A"/>
                </a:solidFill>
                <a:latin typeface="Calibri"/>
              </a:rPr>
              <a:t>Application Insights · Foundry tracing · evaluations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ARCHITECTURE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Production topology · the full Azure picture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1828800" cy="640080"/>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828800" cy="640080"/>
          </a:xfrm>
          <a:prstGeom prst="rect">
            <a:avLst/>
          </a:prstGeom>
          <a:noFill/>
        </p:spPr>
        <p:txBody>
          <a:bodyPr wrap="square" lIns="0" rIns="0" tIns="0" bIns="0" anchor="ctr">
            <a:spAutoFit/>
          </a:bodyPr>
          <a:lstStyle/>
          <a:p>
            <a:pPr algn="ctr"/>
            <a:r>
              <a:rPr sz="1400" b="1" i="0">
                <a:solidFill>
                  <a:srgbClr val="FFFFFF"/>
                </a:solidFill>
                <a:latin typeface="Calibri"/>
              </a:rPr>
              <a:t>Users</a:t>
            </a:r>
          </a:p>
        </p:txBody>
      </p:sp>
      <p:sp>
        <p:nvSpPr>
          <p:cNvPr id="10" name="Right Arrow 9"/>
          <p:cNvSpPr/>
          <p:nvPr/>
        </p:nvSpPr>
        <p:spPr>
          <a:xfrm>
            <a:off x="2468880" y="1600200"/>
            <a:ext cx="36576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6080" y="1417320"/>
            <a:ext cx="2194560" cy="6400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417320"/>
            <a:ext cx="2194560" cy="640080"/>
          </a:xfrm>
          <a:prstGeom prst="rect">
            <a:avLst/>
          </a:prstGeom>
          <a:noFill/>
        </p:spPr>
        <p:txBody>
          <a:bodyPr wrap="square" lIns="0" rIns="0" tIns="0" bIns="0" anchor="ctr">
            <a:spAutoFit/>
          </a:bodyPr>
          <a:lstStyle/>
          <a:p>
            <a:pPr algn="ctr"/>
            <a:r>
              <a:rPr sz="1400" b="1" i="0">
                <a:solidFill>
                  <a:srgbClr val="07122C"/>
                </a:solidFill>
                <a:latin typeface="Calibri"/>
              </a:rPr>
              <a:t>APIM AI Gateway</a:t>
            </a:r>
          </a:p>
        </p:txBody>
      </p:sp>
      <p:sp>
        <p:nvSpPr>
          <p:cNvPr id="13" name="Right Arrow 12"/>
          <p:cNvSpPr/>
          <p:nvPr/>
        </p:nvSpPr>
        <p:spPr>
          <a:xfrm>
            <a:off x="5212080" y="1600200"/>
            <a:ext cx="36576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0" y="1417320"/>
            <a:ext cx="23774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1417320"/>
            <a:ext cx="2377440" cy="640080"/>
          </a:xfrm>
          <a:prstGeom prst="rect">
            <a:avLst/>
          </a:prstGeom>
          <a:noFill/>
        </p:spPr>
        <p:txBody>
          <a:bodyPr wrap="square" lIns="0" rIns="0" tIns="0" bIns="0" anchor="ctr">
            <a:spAutoFit/>
          </a:bodyPr>
          <a:lstStyle/>
          <a:p>
            <a:pPr algn="ctr"/>
            <a:r>
              <a:rPr sz="1400" b="1" i="0">
                <a:solidFill>
                  <a:srgbClr val="FFFFFF"/>
                </a:solidFill>
                <a:latin typeface="Calibri"/>
              </a:rPr>
              <a:t>Container Apps</a:t>
            </a:r>
          </a:p>
        </p:txBody>
      </p:sp>
      <p:sp>
        <p:nvSpPr>
          <p:cNvPr id="16" name="Right Arrow 15"/>
          <p:cNvSpPr/>
          <p:nvPr/>
        </p:nvSpPr>
        <p:spPr>
          <a:xfrm>
            <a:off x="8138160" y="1600200"/>
            <a:ext cx="36576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5360" y="1417320"/>
            <a:ext cx="310896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417320"/>
            <a:ext cx="3108960" cy="640080"/>
          </a:xfrm>
          <a:prstGeom prst="rect">
            <a:avLst/>
          </a:prstGeom>
          <a:noFill/>
        </p:spPr>
        <p:txBody>
          <a:bodyPr wrap="square" lIns="0" rIns="0" tIns="0" bIns="0" anchor="ctr">
            <a:spAutoFit/>
          </a:bodyPr>
          <a:lstStyle/>
          <a:p>
            <a:pPr algn="ctr"/>
            <a:r>
              <a:rPr sz="1400" b="1" i="0">
                <a:solidFill>
                  <a:srgbClr val="FFB703"/>
                </a:solidFill>
                <a:latin typeface="Calibri"/>
              </a:rPr>
              <a:t>Foundry Agent Service</a:t>
            </a:r>
          </a:p>
        </p:txBody>
      </p:sp>
      <p:sp>
        <p:nvSpPr>
          <p:cNvPr id="19" name="Rectangle 18"/>
          <p:cNvSpPr/>
          <p:nvPr/>
        </p:nvSpPr>
        <p:spPr>
          <a:xfrm>
            <a:off x="548640" y="2468880"/>
            <a:ext cx="11155680" cy="36576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468880"/>
            <a:ext cx="11155680" cy="365760"/>
          </a:xfrm>
          <a:prstGeom prst="rect">
            <a:avLst/>
          </a:prstGeom>
          <a:noFill/>
        </p:spPr>
        <p:txBody>
          <a:bodyPr wrap="square" lIns="0" rIns="0" tIns="0" bIns="0" anchor="ctr">
            <a:spAutoFit/>
          </a:bodyPr>
          <a:lstStyle/>
          <a:p>
            <a:pPr algn="ctr"/>
            <a:r>
              <a:rPr sz="1100" b="1" i="0">
                <a:solidFill>
                  <a:srgbClr val="FFB703"/>
                </a:solidFill>
                <a:latin typeface="Calibri"/>
              </a:rPr>
              <a:t>DATA PLANE — managed identity → all stores</a:t>
            </a:r>
          </a:p>
        </p:txBody>
      </p:sp>
      <p:sp>
        <p:nvSpPr>
          <p:cNvPr id="21" name="Rectangle 20"/>
          <p:cNvSpPr/>
          <p:nvPr/>
        </p:nvSpPr>
        <p:spPr>
          <a:xfrm>
            <a:off x="548640" y="2926080"/>
            <a:ext cx="2148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017520"/>
            <a:ext cx="2148840" cy="365760"/>
          </a:xfrm>
          <a:prstGeom prst="rect">
            <a:avLst/>
          </a:prstGeom>
          <a:noFill/>
        </p:spPr>
        <p:txBody>
          <a:bodyPr wrap="square" lIns="0" rIns="0" tIns="0" bIns="0" anchor="t">
            <a:spAutoFit/>
          </a:bodyPr>
          <a:lstStyle/>
          <a:p>
            <a:pPr algn="ctr"/>
            <a:r>
              <a:rPr sz="1400" b="1" i="0">
                <a:solidFill>
                  <a:srgbClr val="07122C"/>
                </a:solidFill>
                <a:latin typeface="Calibri"/>
              </a:rPr>
              <a:t>Cosmos DB</a:t>
            </a:r>
          </a:p>
        </p:txBody>
      </p:sp>
      <p:sp>
        <p:nvSpPr>
          <p:cNvPr id="23" name="TextBox 22"/>
          <p:cNvSpPr txBox="1"/>
          <p:nvPr/>
        </p:nvSpPr>
        <p:spPr>
          <a:xfrm>
            <a:off x="548640" y="3383280"/>
            <a:ext cx="2148840" cy="502920"/>
          </a:xfrm>
          <a:prstGeom prst="rect">
            <a:avLst/>
          </a:prstGeom>
          <a:noFill/>
        </p:spPr>
        <p:txBody>
          <a:bodyPr wrap="square" lIns="0" rIns="0" tIns="0" bIns="0" anchor="t">
            <a:spAutoFit/>
          </a:bodyPr>
          <a:lstStyle/>
          <a:p>
            <a:pPr algn="ctr"/>
            <a:r>
              <a:rPr sz="1100" b="0" i="0">
                <a:solidFill>
                  <a:srgbClr val="07122C"/>
                </a:solidFill>
                <a:latin typeface="Calibri"/>
              </a:rPr>
              <a:t>evaluations
chat sessions</a:t>
            </a:r>
          </a:p>
        </p:txBody>
      </p:sp>
      <p:sp>
        <p:nvSpPr>
          <p:cNvPr id="24" name="Rectangle 23"/>
          <p:cNvSpPr/>
          <p:nvPr/>
        </p:nvSpPr>
        <p:spPr>
          <a:xfrm>
            <a:off x="2788920" y="2926080"/>
            <a:ext cx="2148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88920" y="3017520"/>
            <a:ext cx="2148840" cy="365760"/>
          </a:xfrm>
          <a:prstGeom prst="rect">
            <a:avLst/>
          </a:prstGeom>
          <a:noFill/>
        </p:spPr>
        <p:txBody>
          <a:bodyPr wrap="square" lIns="0" rIns="0" tIns="0" bIns="0" anchor="t">
            <a:spAutoFit/>
          </a:bodyPr>
          <a:lstStyle/>
          <a:p>
            <a:pPr algn="ctr"/>
            <a:r>
              <a:rPr sz="1400" b="1" i="0">
                <a:solidFill>
                  <a:srgbClr val="07122C"/>
                </a:solidFill>
                <a:latin typeface="Calibri"/>
              </a:rPr>
              <a:t>AI Search</a:t>
            </a:r>
          </a:p>
        </p:txBody>
      </p:sp>
      <p:sp>
        <p:nvSpPr>
          <p:cNvPr id="26" name="TextBox 25"/>
          <p:cNvSpPr txBox="1"/>
          <p:nvPr/>
        </p:nvSpPr>
        <p:spPr>
          <a:xfrm>
            <a:off x="2788920" y="3383280"/>
            <a:ext cx="2148840" cy="502920"/>
          </a:xfrm>
          <a:prstGeom prst="rect">
            <a:avLst/>
          </a:prstGeom>
          <a:noFill/>
        </p:spPr>
        <p:txBody>
          <a:bodyPr wrap="square" lIns="0" rIns="0" tIns="0" bIns="0" anchor="t">
            <a:spAutoFit/>
          </a:bodyPr>
          <a:lstStyle/>
          <a:p>
            <a:pPr algn="ctr"/>
            <a:r>
              <a:rPr sz="1100" b="0" i="0">
                <a:solidFill>
                  <a:srgbClr val="07122C"/>
                </a:solidFill>
                <a:latin typeface="Calibri"/>
              </a:rPr>
              <a:t>policy vectors
hybrid search</a:t>
            </a:r>
          </a:p>
        </p:txBody>
      </p:sp>
      <p:sp>
        <p:nvSpPr>
          <p:cNvPr id="27" name="Rectangle 26"/>
          <p:cNvSpPr/>
          <p:nvPr/>
        </p:nvSpPr>
        <p:spPr>
          <a:xfrm>
            <a:off x="5029200" y="2926080"/>
            <a:ext cx="2148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0" y="3017520"/>
            <a:ext cx="2148840" cy="365760"/>
          </a:xfrm>
          <a:prstGeom prst="rect">
            <a:avLst/>
          </a:prstGeom>
          <a:noFill/>
        </p:spPr>
        <p:txBody>
          <a:bodyPr wrap="square" lIns="0" rIns="0" tIns="0" bIns="0" anchor="t">
            <a:spAutoFit/>
          </a:bodyPr>
          <a:lstStyle/>
          <a:p>
            <a:pPr algn="ctr"/>
            <a:r>
              <a:rPr sz="1400" b="1" i="0">
                <a:solidFill>
                  <a:srgbClr val="07122C"/>
                </a:solidFill>
                <a:latin typeface="Calibri"/>
              </a:rPr>
              <a:t>Key Vault</a:t>
            </a:r>
          </a:p>
        </p:txBody>
      </p:sp>
      <p:sp>
        <p:nvSpPr>
          <p:cNvPr id="29" name="TextBox 28"/>
          <p:cNvSpPr txBox="1"/>
          <p:nvPr/>
        </p:nvSpPr>
        <p:spPr>
          <a:xfrm>
            <a:off x="5029200" y="3383280"/>
            <a:ext cx="2148840" cy="502920"/>
          </a:xfrm>
          <a:prstGeom prst="rect">
            <a:avLst/>
          </a:prstGeom>
          <a:noFill/>
        </p:spPr>
        <p:txBody>
          <a:bodyPr wrap="square" lIns="0" rIns="0" tIns="0" bIns="0" anchor="t">
            <a:spAutoFit/>
          </a:bodyPr>
          <a:lstStyle/>
          <a:p>
            <a:pPr algn="ctr"/>
            <a:r>
              <a:rPr sz="1100" b="0" i="0">
                <a:solidFill>
                  <a:srgbClr val="07122C"/>
                </a:solidFill>
                <a:latin typeface="Calibri"/>
              </a:rPr>
              <a:t>Foundry key
Brave key</a:t>
            </a:r>
          </a:p>
        </p:txBody>
      </p:sp>
      <p:sp>
        <p:nvSpPr>
          <p:cNvPr id="30" name="Rectangle 29"/>
          <p:cNvSpPr/>
          <p:nvPr/>
        </p:nvSpPr>
        <p:spPr>
          <a:xfrm>
            <a:off x="7269480" y="2926080"/>
            <a:ext cx="2148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69480" y="3017520"/>
            <a:ext cx="2148840" cy="365760"/>
          </a:xfrm>
          <a:prstGeom prst="rect">
            <a:avLst/>
          </a:prstGeom>
          <a:noFill/>
        </p:spPr>
        <p:txBody>
          <a:bodyPr wrap="square" lIns="0" rIns="0" tIns="0" bIns="0" anchor="t">
            <a:spAutoFit/>
          </a:bodyPr>
          <a:lstStyle/>
          <a:p>
            <a:pPr algn="ctr"/>
            <a:r>
              <a:rPr sz="1400" b="1" i="0">
                <a:solidFill>
                  <a:srgbClr val="07122C"/>
                </a:solidFill>
                <a:latin typeface="Calibri"/>
              </a:rPr>
              <a:t>App Insights</a:t>
            </a:r>
          </a:p>
        </p:txBody>
      </p:sp>
      <p:sp>
        <p:nvSpPr>
          <p:cNvPr id="32" name="TextBox 31"/>
          <p:cNvSpPr txBox="1"/>
          <p:nvPr/>
        </p:nvSpPr>
        <p:spPr>
          <a:xfrm>
            <a:off x="7269480" y="3383280"/>
            <a:ext cx="2148840" cy="502920"/>
          </a:xfrm>
          <a:prstGeom prst="rect">
            <a:avLst/>
          </a:prstGeom>
          <a:noFill/>
        </p:spPr>
        <p:txBody>
          <a:bodyPr wrap="square" lIns="0" rIns="0" tIns="0" bIns="0" anchor="t">
            <a:spAutoFit/>
          </a:bodyPr>
          <a:lstStyle/>
          <a:p>
            <a:pPr algn="ctr"/>
            <a:r>
              <a:rPr sz="1100" b="0" i="0">
                <a:solidFill>
                  <a:srgbClr val="07122C"/>
                </a:solidFill>
                <a:latin typeface="Calibri"/>
              </a:rPr>
              <a:t>logs · metrics
traces · evals</a:t>
            </a:r>
          </a:p>
        </p:txBody>
      </p:sp>
      <p:sp>
        <p:nvSpPr>
          <p:cNvPr id="33" name="Rectangle 32"/>
          <p:cNvSpPr/>
          <p:nvPr/>
        </p:nvSpPr>
        <p:spPr>
          <a:xfrm>
            <a:off x="9509760" y="2926080"/>
            <a:ext cx="2148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09760" y="3017520"/>
            <a:ext cx="2148840" cy="365760"/>
          </a:xfrm>
          <a:prstGeom prst="rect">
            <a:avLst/>
          </a:prstGeom>
          <a:noFill/>
        </p:spPr>
        <p:txBody>
          <a:bodyPr wrap="square" lIns="0" rIns="0" tIns="0" bIns="0" anchor="t">
            <a:spAutoFit/>
          </a:bodyPr>
          <a:lstStyle/>
          <a:p>
            <a:pPr algn="ctr"/>
            <a:r>
              <a:rPr sz="1400" b="1" i="0">
                <a:solidFill>
                  <a:srgbClr val="07122C"/>
                </a:solidFill>
                <a:latin typeface="Calibri"/>
              </a:rPr>
              <a:t>Storage</a:t>
            </a:r>
          </a:p>
        </p:txBody>
      </p:sp>
      <p:sp>
        <p:nvSpPr>
          <p:cNvPr id="35" name="TextBox 34"/>
          <p:cNvSpPr txBox="1"/>
          <p:nvPr/>
        </p:nvSpPr>
        <p:spPr>
          <a:xfrm>
            <a:off x="9509760" y="3383280"/>
            <a:ext cx="2148840" cy="502920"/>
          </a:xfrm>
          <a:prstGeom prst="rect">
            <a:avLst/>
          </a:prstGeom>
          <a:noFill/>
        </p:spPr>
        <p:txBody>
          <a:bodyPr wrap="square" lIns="0" rIns="0" tIns="0" bIns="0" anchor="t">
            <a:spAutoFit/>
          </a:bodyPr>
          <a:lstStyle/>
          <a:p>
            <a:pPr algn="ctr"/>
            <a:r>
              <a:rPr sz="1100" b="0" i="0">
                <a:solidFill>
                  <a:srgbClr val="07122C"/>
                </a:solidFill>
                <a:latin typeface="Calibri"/>
              </a:rPr>
              <a:t>resume blobs
artifacts</a:t>
            </a:r>
          </a:p>
        </p:txBody>
      </p:sp>
      <p:sp>
        <p:nvSpPr>
          <p:cNvPr id="36" name="Rectangle 35"/>
          <p:cNvSpPr/>
          <p:nvPr/>
        </p:nvSpPr>
        <p:spPr>
          <a:xfrm>
            <a:off x="548640" y="4160520"/>
            <a:ext cx="11155680" cy="365760"/>
          </a:xfrm>
          <a:prstGeom prst="rect">
            <a:avLst/>
          </a:prstGeom>
          <a:solidFill>
            <a:srgbClr val="CC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160520"/>
            <a:ext cx="11155680" cy="365760"/>
          </a:xfrm>
          <a:prstGeom prst="rect">
            <a:avLst/>
          </a:prstGeom>
          <a:noFill/>
        </p:spPr>
        <p:txBody>
          <a:bodyPr wrap="square" lIns="0" rIns="0" tIns="0" bIns="0" anchor="ctr">
            <a:spAutoFit/>
          </a:bodyPr>
          <a:lstStyle/>
          <a:p>
            <a:pPr algn="ctr"/>
            <a:r>
              <a:rPr sz="1100" b="1" i="0">
                <a:solidFill>
                  <a:srgbClr val="FFFFFF"/>
                </a:solidFill>
                <a:latin typeface="Calibri"/>
              </a:rPr>
              <a:t>SECURITY PERIMETER — VNet · private endpoints · NSGs · Defender for Cloud</a:t>
            </a:r>
          </a:p>
        </p:txBody>
      </p:sp>
      <p:sp>
        <p:nvSpPr>
          <p:cNvPr id="38" name="Rectangle 37"/>
          <p:cNvSpPr/>
          <p:nvPr/>
        </p:nvSpPr>
        <p:spPr>
          <a:xfrm>
            <a:off x="548640" y="4617720"/>
            <a:ext cx="11155680" cy="36576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617720"/>
            <a:ext cx="11155680" cy="365760"/>
          </a:xfrm>
          <a:prstGeom prst="rect">
            <a:avLst/>
          </a:prstGeom>
          <a:noFill/>
        </p:spPr>
        <p:txBody>
          <a:bodyPr wrap="square" lIns="0" rIns="0" tIns="0" bIns="0" anchor="ctr">
            <a:spAutoFit/>
          </a:bodyPr>
          <a:lstStyle/>
          <a:p>
            <a:pPr algn="ctr"/>
            <a:r>
              <a:rPr sz="1100" b="1" i="0">
                <a:solidFill>
                  <a:srgbClr val="FFFFFF"/>
                </a:solidFill>
                <a:latin typeface="Calibri"/>
              </a:rPr>
              <a:t>OBSERVABILITY — App Insights · Foundry tracing · evaluation pipeline</a:t>
            </a:r>
          </a:p>
        </p:txBody>
      </p:sp>
      <p:sp>
        <p:nvSpPr>
          <p:cNvPr id="40" name="Rectangle 39"/>
          <p:cNvSpPr/>
          <p:nvPr/>
        </p:nvSpPr>
        <p:spPr>
          <a:xfrm>
            <a:off x="548640" y="5074920"/>
            <a:ext cx="11155680"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166360"/>
            <a:ext cx="11155680" cy="365760"/>
          </a:xfrm>
          <a:prstGeom prst="rect">
            <a:avLst/>
          </a:prstGeom>
          <a:noFill/>
        </p:spPr>
        <p:txBody>
          <a:bodyPr wrap="square" lIns="0" rIns="0" tIns="0" bIns="0" anchor="t">
            <a:spAutoFit/>
          </a:bodyPr>
          <a:lstStyle/>
          <a:p>
            <a:pPr algn="ctr"/>
            <a:r>
              <a:rPr sz="1200" b="1" i="0">
                <a:solidFill>
                  <a:srgbClr val="FFB703"/>
                </a:solidFill>
                <a:latin typeface="Calibri"/>
              </a:rPr>
              <a:t>CI/CD — GitHub Actions · ACR build → ACA deploy</a:t>
            </a:r>
          </a:p>
        </p:txBody>
      </p:sp>
      <p:sp>
        <p:nvSpPr>
          <p:cNvPr id="42" name="TextBox 41"/>
          <p:cNvSpPr txBox="1"/>
          <p:nvPr/>
        </p:nvSpPr>
        <p:spPr>
          <a:xfrm>
            <a:off x="914400" y="5532120"/>
            <a:ext cx="10515600" cy="548640"/>
          </a:xfrm>
          <a:prstGeom prst="rect">
            <a:avLst/>
          </a:prstGeom>
          <a:noFill/>
        </p:spPr>
        <p:txBody>
          <a:bodyPr wrap="square" lIns="0" rIns="0" tIns="0" bIns="0">
            <a:spAutoFit/>
          </a:bodyPr>
          <a:lstStyle/>
          <a:p>
            <a:pPr algn="ctr">
              <a:spcAft>
                <a:spcPts val="600"/>
              </a:spcAft>
            </a:pPr>
            <a:r>
              <a:rPr sz="1100">
                <a:solidFill>
                  <a:srgbClr val="FFFFFF"/>
                </a:solidFill>
                <a:latin typeface="Consolas"/>
              </a:rPr>
              <a:t>git push → ruff + pytest + golden eval → docker build → az acr push → az containerapp update → smoke test → app insights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COMPUTE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Azure Container Apps for agents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500" b="1">
                <a:solidFill>
                  <a:srgbClr val="0B1B3F"/>
                </a:solidFill>
                <a:latin typeface="Calibri"/>
              </a:rPr>
              <a:t>Serverless containers</a:t>
            </a:r>
            <a:r>
              <a:rPr sz="1500">
                <a:solidFill>
                  <a:srgbClr val="0F172A"/>
                </a:solidFill>
                <a:latin typeface="Calibri"/>
              </a:rPr>
              <a:t>  Scale to zero between requests; pay only for active replicas.</a:t>
            </a:r>
          </a:p>
          <a:p>
            <a:pPr algn="l" indent="-228600" marL="228600">
              <a:spcAft>
                <a:spcPts val="1000"/>
              </a:spcAft>
              <a:buChar char="•"/>
            </a:pPr>
            <a:r>
              <a:rPr sz="1500" b="1">
                <a:solidFill>
                  <a:srgbClr val="0B1B3F"/>
                </a:solidFill>
                <a:latin typeface="Calibri"/>
              </a:rPr>
              <a:t>GPU profiles (preview)</a:t>
            </a:r>
            <a:r>
              <a:rPr sz="1500">
                <a:solidFill>
                  <a:srgbClr val="0F172A"/>
                </a:solidFill>
                <a:latin typeface="Calibri"/>
              </a:rPr>
              <a:t>  Serverless GPU for inference workloads · dedicated GPU for low-latency.</a:t>
            </a:r>
          </a:p>
          <a:p>
            <a:pPr algn="l" indent="-228600" marL="228600">
              <a:spcAft>
                <a:spcPts val="1000"/>
              </a:spcAft>
              <a:buChar char="•"/>
            </a:pPr>
            <a:r>
              <a:rPr sz="1500" b="1">
                <a:solidFill>
                  <a:srgbClr val="0B1B3F"/>
                </a:solidFill>
                <a:latin typeface="Calibri"/>
              </a:rPr>
              <a:t>Dynamic sessions</a:t>
            </a:r>
            <a:r>
              <a:rPr sz="1500">
                <a:solidFill>
                  <a:srgbClr val="0F172A"/>
                </a:solidFill>
                <a:latin typeface="Calibri"/>
              </a:rPr>
              <a:t>  Hyper-V isolated sandbox per request — perfect for AI-generated code execution.</a:t>
            </a:r>
          </a:p>
          <a:p>
            <a:pPr algn="l" indent="-228600" marL="228600">
              <a:spcAft>
                <a:spcPts val="1000"/>
              </a:spcAft>
              <a:buChar char="•"/>
            </a:pPr>
            <a:r>
              <a:rPr sz="1500" b="1">
                <a:solidFill>
                  <a:srgbClr val="0B1B3F"/>
                </a:solidFill>
                <a:latin typeface="Calibri"/>
              </a:rPr>
              <a:t>Managed identities</a:t>
            </a:r>
            <a:r>
              <a:rPr sz="1500">
                <a:solidFill>
                  <a:srgbClr val="0F172A"/>
                </a:solidFill>
                <a:latin typeface="Calibri"/>
              </a:rPr>
              <a:t>  No keys baked into containers; agents authenticate to Foundry via Entra.</a:t>
            </a:r>
          </a:p>
          <a:p>
            <a:pPr algn="l" indent="-228600" marL="228600">
              <a:spcAft>
                <a:spcPts val="1000"/>
              </a:spcAft>
              <a:buChar char="•"/>
            </a:pPr>
            <a:r>
              <a:rPr sz="1500" b="1">
                <a:solidFill>
                  <a:srgbClr val="0B1B3F"/>
                </a:solidFill>
                <a:latin typeface="Calibri"/>
              </a:rPr>
              <a:t>Network isolation</a:t>
            </a:r>
            <a:r>
              <a:rPr sz="1500">
                <a:solidFill>
                  <a:srgbClr val="0F172A"/>
                </a:solidFill>
                <a:latin typeface="Calibri"/>
              </a:rPr>
              <a:t>  VNet integration · internal-only ingress · private endpoints to Foundry.</a:t>
            </a:r>
          </a:p>
          <a:p>
            <a:pPr algn="l" indent="-228600" marL="228600">
              <a:spcAft>
                <a:spcPts val="1000"/>
              </a:spcAft>
              <a:buChar char="•"/>
            </a:pPr>
            <a:r>
              <a:rPr sz="1500" b="1">
                <a:solidFill>
                  <a:srgbClr val="0B1B3F"/>
                </a:solidFill>
                <a:latin typeface="Calibri"/>
              </a:rPr>
              <a:t>Reference samples</a:t>
            </a:r>
            <a:r>
              <a:rPr sz="1500">
                <a:solidFill>
                  <a:srgbClr val="0F172A"/>
                </a:solidFill>
                <a:latin typeface="Calibri"/>
              </a:rPr>
              <a:t>  Azure-Samples/azure-container-apps-ai-mcp · openai-mcp-agent-dotnet · mcp-container-ts.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DEPLOY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Deploy with Bicep · the Container App + secrets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infra/main.bicep — declarative ARM. Run with: az deployment group create.</a:t>
            </a:r>
          </a:p>
        </p:txBody>
      </p:sp>
      <p:sp>
        <p:nvSpPr>
          <p:cNvPr id="9" name="Rectangle 8"/>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38528"/>
            <a:ext cx="10698480" cy="3986784"/>
          </a:xfrm>
          <a:prstGeom prst="rect">
            <a:avLst/>
          </a:prstGeom>
          <a:noFill/>
        </p:spPr>
        <p:txBody>
          <a:bodyPr wrap="square" lIns="0" rIns="0" tIns="0" bIns="0">
            <a:spAutoFit/>
          </a:bodyPr>
          <a:lstStyle/>
          <a:p>
            <a:pPr>
              <a:spcAft>
                <a:spcPts val="0"/>
              </a:spcAft>
            </a:pPr>
            <a:r>
              <a:rPr sz="1200">
                <a:solidFill>
                  <a:srgbClr val="FFFFFF"/>
                </a:solidFill>
                <a:latin typeface="Consolas"/>
              </a:rPr>
              <a:t>resource containerApp 'Microsoft.App/containerApps@2024-03-01' = {</a:t>
            </a:r>
          </a:p>
          <a:p>
            <a:pPr>
              <a:spcAft>
                <a:spcPts val="0"/>
              </a:spcAft>
            </a:pPr>
            <a:r>
              <a:rPr sz="1200">
                <a:solidFill>
                  <a:srgbClr val="FFFFFF"/>
                </a:solidFill>
                <a:latin typeface="Consolas"/>
              </a:rPr>
              <a:t>  name: 'ca-hr-engine'</a:t>
            </a:r>
          </a:p>
          <a:p>
            <a:pPr>
              <a:spcAft>
                <a:spcPts val="0"/>
              </a:spcAft>
            </a:pPr>
            <a:r>
              <a:rPr sz="1200">
                <a:solidFill>
                  <a:srgbClr val="FFFFFF"/>
                </a:solidFill>
                <a:latin typeface="Consolas"/>
              </a:rPr>
              <a:t>  location: location</a:t>
            </a:r>
          </a:p>
          <a:p>
            <a:pPr>
              <a:spcAft>
                <a:spcPts val="0"/>
              </a:spcAft>
            </a:pPr>
            <a:r>
              <a:rPr sz="1200">
                <a:solidFill>
                  <a:srgbClr val="FFFFFF"/>
                </a:solidFill>
                <a:latin typeface="Consolas"/>
              </a:rPr>
              <a:t>  identity: { type: 'SystemAssigned' }     // managed identity, no keys</a:t>
            </a:r>
          </a:p>
          <a:p>
            <a:pPr>
              <a:spcAft>
                <a:spcPts val="0"/>
              </a:spcAft>
            </a:pPr>
            <a:r>
              <a:rPr sz="1200">
                <a:solidFill>
                  <a:srgbClr val="FFFFFF"/>
                </a:solidFill>
                <a:latin typeface="Consolas"/>
              </a:rPr>
              <a:t>  properties: {</a:t>
            </a:r>
          </a:p>
          <a:p>
            <a:pPr>
              <a:spcAft>
                <a:spcPts val="0"/>
              </a:spcAft>
            </a:pPr>
            <a:r>
              <a:rPr sz="1200">
                <a:solidFill>
                  <a:srgbClr val="FFFFFF"/>
                </a:solidFill>
                <a:latin typeface="Consolas"/>
              </a:rPr>
              <a:t>    managedEnvironmentId: caEnv.id</a:t>
            </a:r>
          </a:p>
          <a:p>
            <a:pPr>
              <a:spcAft>
                <a:spcPts val="0"/>
              </a:spcAft>
            </a:pPr>
            <a:r>
              <a:rPr sz="1200">
                <a:solidFill>
                  <a:srgbClr val="FFFFFF"/>
                </a:solidFill>
                <a:latin typeface="Consolas"/>
              </a:rPr>
              <a:t>    configuration: {</a:t>
            </a:r>
          </a:p>
          <a:p>
            <a:pPr>
              <a:spcAft>
                <a:spcPts val="0"/>
              </a:spcAft>
            </a:pPr>
            <a:r>
              <a:rPr sz="1200">
                <a:solidFill>
                  <a:srgbClr val="FFFFFF"/>
                </a:solidFill>
                <a:latin typeface="Consolas"/>
              </a:rPr>
              <a:t>      ingress: {</a:t>
            </a:r>
          </a:p>
          <a:p>
            <a:pPr>
              <a:spcAft>
                <a:spcPts val="0"/>
              </a:spcAft>
            </a:pPr>
            <a:r>
              <a:rPr sz="1200">
                <a:solidFill>
                  <a:srgbClr val="FFFFFF"/>
                </a:solidFill>
                <a:latin typeface="Consolas"/>
              </a:rPr>
              <a:t>        external: true</a:t>
            </a:r>
          </a:p>
          <a:p>
            <a:pPr>
              <a:spcAft>
                <a:spcPts val="0"/>
              </a:spcAft>
            </a:pPr>
            <a:r>
              <a:rPr sz="1200">
                <a:solidFill>
                  <a:srgbClr val="FFFFFF"/>
                </a:solidFill>
                <a:latin typeface="Consolas"/>
              </a:rPr>
              <a:t>        targetPort: 8090</a:t>
            </a:r>
          </a:p>
          <a:p>
            <a:pPr>
              <a:spcAft>
                <a:spcPts val="0"/>
              </a:spcAft>
            </a:pPr>
            <a:r>
              <a:rPr sz="1200">
                <a:solidFill>
                  <a:srgbClr val="FFFFFF"/>
                </a:solidFill>
                <a:latin typeface="Consolas"/>
              </a:rPr>
              <a:t>        transport: 'http'</a:t>
            </a:r>
          </a:p>
          <a:p>
            <a:pPr>
              <a:spcAft>
                <a:spcPts val="0"/>
              </a:spcAft>
            </a:pPr>
            <a:r>
              <a:rPr sz="1200">
                <a:solidFill>
                  <a:srgbClr val="FFFFFF"/>
                </a:solidFill>
                <a:latin typeface="Consolas"/>
              </a:rPr>
              <a:t>      }</a:t>
            </a:r>
          </a:p>
          <a:p>
            <a:pPr>
              <a:spcAft>
                <a:spcPts val="0"/>
              </a:spcAft>
            </a:pPr>
            <a:r>
              <a:rPr sz="1200">
                <a:solidFill>
                  <a:srgbClr val="FFFFFF"/>
                </a:solidFill>
                <a:latin typeface="Consolas"/>
              </a:rPr>
              <a:t>      secrets: [</a:t>
            </a:r>
          </a:p>
          <a:p>
            <a:pPr>
              <a:spcAft>
                <a:spcPts val="0"/>
              </a:spcAft>
            </a:pPr>
            <a:r>
              <a:rPr sz="1200">
                <a:solidFill>
                  <a:srgbClr val="FFFFFF"/>
                </a:solidFill>
                <a:latin typeface="Consolas"/>
              </a:rPr>
              <a:t>        { name: 'foundry-key',   keyVaultUrl: '${kv.uri}/secrets/foundry-key',</a:t>
            </a:r>
          </a:p>
          <a:p>
            <a:pPr>
              <a:spcAft>
                <a:spcPts val="0"/>
              </a:spcAft>
            </a:pPr>
            <a:r>
              <a:rPr sz="1200">
                <a:solidFill>
                  <a:srgbClr val="FFFFFF"/>
                </a:solidFill>
                <a:latin typeface="Consolas"/>
              </a:rPr>
              <a:t>                                  identity: 'system' }</a:t>
            </a:r>
          </a:p>
          <a:p>
            <a:pPr>
              <a:spcAft>
                <a:spcPts val="0"/>
              </a:spcAft>
            </a:pPr>
            <a:r>
              <a:rPr sz="1200">
                <a:solidFill>
                  <a:srgbClr val="FFFFFF"/>
                </a:solidFill>
                <a:latin typeface="Consolas"/>
              </a:rPr>
              <a:t>        { name: 'brave-key',     keyVaultUrl: '${kv.uri}/secrets/brave-key',</a:t>
            </a:r>
          </a:p>
          <a:p>
            <a:pPr>
              <a:spcAft>
                <a:spcPts val="0"/>
              </a:spcAft>
            </a:pPr>
            <a:r>
              <a:rPr sz="1200">
                <a:solidFill>
                  <a:srgbClr val="FFFFFF"/>
                </a:solidFill>
                <a:latin typeface="Consolas"/>
              </a:rPr>
              <a:t>                                  identity: 'system' }</a:t>
            </a:r>
          </a:p>
          <a:p>
            <a:pPr>
              <a:spcAft>
                <a:spcPts val="0"/>
              </a:spcAft>
            </a:pPr>
            <a:r>
              <a:rPr sz="1200">
                <a:solidFill>
                  <a:srgbClr val="FFFFFF"/>
                </a:solidFill>
                <a:latin typeface="Consolas"/>
              </a:rPr>
              <a:t>      ]</a:t>
            </a:r>
          </a:p>
          <a:p>
            <a:pPr>
              <a:spcAft>
                <a:spcPts val="0"/>
              </a:spcAft>
            </a:pPr>
            <a:r>
              <a:rPr sz="1200">
                <a:solidFill>
                  <a:srgbClr val="FFFFFF"/>
                </a:solidFill>
                <a:latin typeface="Consolas"/>
              </a:rPr>
              <a:t>    }</a:t>
            </a:r>
          </a:p>
          <a:p>
            <a:pPr>
              <a:spcAft>
                <a:spcPts val="0"/>
              </a:spcAft>
            </a:pPr>
            <a:r>
              <a:rPr sz="1200">
                <a:solidFill>
                  <a:srgbClr val="FFFFFF"/>
                </a:solidFill>
                <a:latin typeface="Consolas"/>
              </a:rPr>
              <a:t>    template: {</a:t>
            </a:r>
          </a:p>
          <a:p>
            <a:pPr>
              <a:spcAft>
                <a:spcPts val="0"/>
              </a:spcAft>
            </a:pPr>
            <a:r>
              <a:rPr sz="1200">
                <a:solidFill>
                  <a:srgbClr val="FFFFFF"/>
                </a:solidFill>
                <a:latin typeface="Consolas"/>
              </a:rPr>
              <a:t>      containers: [{</a:t>
            </a:r>
          </a:p>
          <a:p>
            <a:pPr>
              <a:spcAft>
                <a:spcPts val="0"/>
              </a:spcAft>
            </a:pPr>
            <a:r>
              <a:rPr sz="1200">
                <a:solidFill>
                  <a:srgbClr val="FFFFFF"/>
                </a:solidFill>
                <a:latin typeface="Consolas"/>
              </a:rPr>
              <a:t>        name: 'engine'</a:t>
            </a:r>
          </a:p>
          <a:p>
            <a:pPr>
              <a:spcAft>
                <a:spcPts val="0"/>
              </a:spcAft>
            </a:pPr>
            <a:r>
              <a:rPr sz="1200">
                <a:solidFill>
                  <a:srgbClr val="FFFFFF"/>
                </a:solidFill>
                <a:latin typeface="Consolas"/>
              </a:rPr>
              <a:t>        image: '${acr.name}.azurecr.io/contoso-hr-engine:${imageTag}'</a:t>
            </a:r>
          </a:p>
          <a:p>
            <a:pPr>
              <a:spcAft>
                <a:spcPts val="0"/>
              </a:spcAft>
            </a:pPr>
            <a:r>
              <a:rPr sz="1200">
                <a:solidFill>
                  <a:srgbClr val="FFFFFF"/>
                </a:solidFill>
                <a:latin typeface="Consolas"/>
              </a:rPr>
              <a:t>        resources: { cpu: 1, memory: '2Gi' }</a:t>
            </a:r>
          </a:p>
          <a:p>
            <a:pPr>
              <a:spcAft>
                <a:spcPts val="0"/>
              </a:spcAft>
            </a:pPr>
            <a:r>
              <a:rPr sz="1200">
                <a:solidFill>
                  <a:srgbClr val="FFFFFF"/>
                </a:solidFill>
                <a:latin typeface="Consolas"/>
              </a:rPr>
              <a:t>        env: [</a:t>
            </a:r>
          </a:p>
          <a:p>
            <a:pPr>
              <a:spcAft>
                <a:spcPts val="0"/>
              </a:spcAft>
            </a:pPr>
            <a:r>
              <a:rPr sz="1200">
                <a:solidFill>
                  <a:srgbClr val="FFFFFF"/>
                </a:solidFill>
                <a:latin typeface="Consolas"/>
              </a:rPr>
              <a:t>          { name: 'AZURE_AI_FOUNDRY_ENDPOINT', value: foundryEndpoint }</a:t>
            </a:r>
          </a:p>
          <a:p>
            <a:pPr>
              <a:spcAft>
                <a:spcPts val="0"/>
              </a:spcAft>
            </a:pPr>
            <a:r>
              <a:rPr sz="1200">
                <a:solidFill>
                  <a:srgbClr val="FFFFFF"/>
                </a:solidFill>
                <a:latin typeface="Consolas"/>
              </a:rPr>
              <a:t>          { name: 'AZURE_AI_FOUNDRY_KEY',      secretRef: 'foundry-key' }</a:t>
            </a:r>
          </a:p>
          <a:p>
            <a:pPr>
              <a:spcAft>
                <a:spcPts val="0"/>
              </a:spcAft>
            </a:pPr>
            <a:r>
              <a:rPr sz="1200">
                <a:solidFill>
                  <a:srgbClr val="FFFFFF"/>
                </a:solidFill>
                <a:latin typeface="Consolas"/>
              </a:rPr>
              <a:t>          { name: 'BRAVE_API_KEY',             secretRef: 'brave-key' }</a:t>
            </a:r>
          </a:p>
          <a:p>
            <a:pPr>
              <a:spcAft>
                <a:spcPts val="0"/>
              </a:spcAft>
            </a:pPr>
            <a:r>
              <a:rPr sz="1200">
                <a:solidFill>
                  <a:srgbClr val="FFFFFF"/>
                </a:solidFill>
                <a:latin typeface="Consolas"/>
              </a:rPr>
              <a:t>        ]</a:t>
            </a:r>
          </a:p>
          <a:p>
            <a:pPr>
              <a:spcAft>
                <a:spcPts val="0"/>
              </a:spcAft>
            </a:pPr>
            <a:r>
              <a:rPr sz="1200">
                <a:solidFill>
                  <a:srgbClr val="FFFFFF"/>
                </a:solidFill>
                <a:latin typeface="Consolas"/>
              </a:rPr>
              <a:t>      }]</a:t>
            </a:r>
          </a:p>
          <a:p>
            <a:pPr>
              <a:spcAft>
                <a:spcPts val="0"/>
              </a:spcAft>
            </a:pPr>
            <a:r>
              <a:rPr sz="1200">
                <a:solidFill>
                  <a:srgbClr val="FFFFFF"/>
                </a:solidFill>
                <a:latin typeface="Consolas"/>
              </a:rPr>
              <a:t>      scale: { minReplicas: 0, maxReplicas: 5 }</a:t>
            </a:r>
          </a:p>
          <a:p>
            <a:pPr>
              <a:spcAft>
                <a:spcPts val="0"/>
              </a:spcAft>
            </a:pPr>
            <a:r>
              <a:rPr sz="1200">
                <a:solidFill>
                  <a:srgbClr val="FFFFFF"/>
                </a:solidFill>
                <a:latin typeface="Consolas"/>
              </a:rPr>
              <a:t>    }</a:t>
            </a:r>
          </a:p>
          <a:p>
            <a:pPr>
              <a:spcAft>
                <a:spcPts val="0"/>
              </a:spcAft>
            </a:pPr>
            <a:r>
              <a:rPr sz="1200">
                <a:solidFill>
                  <a:srgbClr val="FFFFFF"/>
                </a:solidFill>
                <a:latin typeface="Consolas"/>
              </a:rPr>
              <a:t>  }</a:t>
            </a:r>
          </a:p>
          <a:p>
            <a:pPr>
              <a:spcAft>
                <a:spcPts val="0"/>
              </a:spcAft>
            </a:pPr>
            <a:r>
              <a:rPr sz="1200">
                <a:solidFill>
                  <a:srgbClr val="FFFFFF"/>
                </a:solidFill>
                <a:latin typeface="Consolas"/>
              </a:rPr>
              <a: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GATEWAY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Azure API Management as the AI gateway</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000"/>
              </a:spcAft>
              <a:buChar char="•"/>
            </a:pPr>
            <a:r>
              <a:rPr sz="1400" b="1">
                <a:solidFill>
                  <a:srgbClr val="0B1B3F"/>
                </a:solidFill>
                <a:latin typeface="Calibri"/>
              </a:rPr>
              <a:t>Token rate limiting</a:t>
            </a:r>
            <a:r>
              <a:rPr sz="1400">
                <a:solidFill>
                  <a:srgbClr val="0F172A"/>
                </a:solidFill>
                <a:latin typeface="Calibri"/>
              </a:rPr>
              <a:t>  llm-token-limit policy — TPM cap per subscription / IP / custom key.</a:t>
            </a:r>
          </a:p>
          <a:p>
            <a:pPr algn="l" indent="-228600" marL="228600">
              <a:spcAft>
                <a:spcPts val="1000"/>
              </a:spcAft>
              <a:buChar char="•"/>
            </a:pPr>
            <a:r>
              <a:rPr sz="1400" b="1">
                <a:solidFill>
                  <a:srgbClr val="0B1B3F"/>
                </a:solidFill>
                <a:latin typeface="Calibri"/>
              </a:rPr>
              <a:t>Quota enforcement</a:t>
            </a:r>
            <a:r>
              <a:rPr sz="1400">
                <a:solidFill>
                  <a:srgbClr val="0F172A"/>
                </a:solidFill>
                <a:latin typeface="Calibri"/>
              </a:rPr>
              <a:t>  llm-token-quota — daily / weekly / monthly limits per consumer.</a:t>
            </a:r>
          </a:p>
          <a:p>
            <a:pPr algn="l" indent="-228600" marL="228600">
              <a:spcAft>
                <a:spcPts val="1000"/>
              </a:spcAft>
              <a:buChar char="•"/>
            </a:pPr>
            <a:r>
              <a:rPr sz="1400" b="1">
                <a:solidFill>
                  <a:srgbClr val="0B1B3F"/>
                </a:solidFill>
                <a:latin typeface="Calibri"/>
              </a:rPr>
              <a:t>Semantic cache</a:t>
            </a:r>
            <a:r>
              <a:rPr sz="1400">
                <a:solidFill>
                  <a:srgbClr val="0F172A"/>
                </a:solidFill>
                <a:latin typeface="Calibri"/>
              </a:rPr>
              <a:t>  llm-semantic-cache-store — embed-then-cache; reuse near-duplicate prompts.</a:t>
            </a:r>
          </a:p>
          <a:p>
            <a:pPr algn="l" indent="-228600" marL="228600">
              <a:spcAft>
                <a:spcPts val="1000"/>
              </a:spcAft>
              <a:buChar char="•"/>
            </a:pPr>
            <a:r>
              <a:rPr sz="1400" b="1">
                <a:solidFill>
                  <a:srgbClr val="0B1B3F"/>
                </a:solidFill>
                <a:latin typeface="Calibri"/>
              </a:rPr>
              <a:t>Content safety</a:t>
            </a:r>
            <a:r>
              <a:rPr sz="1400">
                <a:solidFill>
                  <a:srgbClr val="0F172A"/>
                </a:solidFill>
                <a:latin typeface="Calibri"/>
              </a:rPr>
              <a:t>  llm-content-safety policy → calls Azure AI Content Safety on inbound + outbound.</a:t>
            </a:r>
          </a:p>
          <a:p>
            <a:pPr algn="l" indent="-228600" marL="228600">
              <a:spcAft>
                <a:spcPts val="1000"/>
              </a:spcAft>
              <a:buChar char="•"/>
            </a:pPr>
            <a:r>
              <a:rPr sz="1400" b="1">
                <a:solidFill>
                  <a:srgbClr val="0B1B3F"/>
                </a:solidFill>
                <a:latin typeface="Calibri"/>
              </a:rPr>
              <a:t>Token telemetry</a:t>
            </a:r>
            <a:r>
              <a:rPr sz="1400">
                <a:solidFill>
                  <a:srgbClr val="0F172A"/>
                </a:solidFill>
                <a:latin typeface="Calibri"/>
              </a:rPr>
              <a:t>  llm-emit-token-metric → Application Insights with custom dimensions.</a:t>
            </a:r>
          </a:p>
          <a:p>
            <a:pPr algn="l" indent="-228600" marL="228600">
              <a:spcAft>
                <a:spcPts val="1000"/>
              </a:spcAft>
              <a:buChar char="•"/>
            </a:pPr>
            <a:r>
              <a:rPr sz="1400" b="1">
                <a:solidFill>
                  <a:srgbClr val="0B1B3F"/>
                </a:solidFill>
                <a:latin typeface="Calibri"/>
              </a:rPr>
              <a:t>MCP governance</a:t>
            </a:r>
            <a:r>
              <a:rPr sz="1400">
                <a:solidFill>
                  <a:srgbClr val="0F172A"/>
                </a:solidFill>
                <a:latin typeface="Calibri"/>
              </a:rPr>
              <a:t>  Expose REST as MCP server · govern existing MCP via APIM (preview).</a:t>
            </a:r>
          </a:p>
        </p:txBody>
      </p:sp>
      <p:sp>
        <p:nvSpPr>
          <p:cNvPr id="9" name="Rectangle 8"/>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The five gateway jobs</a:t>
            </a:r>
          </a:p>
        </p:txBody>
      </p:sp>
      <p:sp>
        <p:nvSpPr>
          <p:cNvPr id="11" name="TextBox 10"/>
          <p:cNvSpPr txBox="1"/>
          <p:nvPr/>
        </p:nvSpPr>
        <p:spPr>
          <a:xfrm>
            <a:off x="7909560" y="2331720"/>
            <a:ext cx="3657600" cy="3657600"/>
          </a:xfrm>
          <a:prstGeom prst="rect">
            <a:avLst/>
          </a:prstGeom>
          <a:noFill/>
        </p:spPr>
        <p:txBody>
          <a:bodyPr wrap="square" lIns="0" rIns="0" tIns="0" bIns="0">
            <a:spAutoFit/>
          </a:bodyPr>
          <a:lstStyle/>
          <a:p>
            <a:pPr algn="l" indent="-228600" marL="228600">
              <a:spcAft>
                <a:spcPts val="1000"/>
              </a:spcAft>
              <a:buChar char="•"/>
            </a:pPr>
            <a:r>
              <a:rPr sz="1400">
                <a:solidFill>
                  <a:srgbClr val="FFFFFF"/>
                </a:solidFill>
                <a:latin typeface="Calibri"/>
              </a:rPr>
              <a:t>1. Authenticate</a:t>
            </a:r>
          </a:p>
          <a:p>
            <a:pPr algn="l" indent="-228600" marL="228600">
              <a:spcAft>
                <a:spcPts val="1000"/>
              </a:spcAft>
              <a:buChar char="•"/>
            </a:pPr>
            <a:r>
              <a:rPr sz="1400">
                <a:solidFill>
                  <a:srgbClr val="FFFFFF"/>
                </a:solidFill>
                <a:latin typeface="Calibri"/>
              </a:rPr>
              <a:t>2. Rate-limit</a:t>
            </a:r>
          </a:p>
          <a:p>
            <a:pPr algn="l" indent="-228600" marL="228600">
              <a:spcAft>
                <a:spcPts val="1000"/>
              </a:spcAft>
              <a:buChar char="•"/>
            </a:pPr>
            <a:r>
              <a:rPr sz="1400">
                <a:solidFill>
                  <a:srgbClr val="FFFFFF"/>
                </a:solidFill>
                <a:latin typeface="Calibri"/>
              </a:rPr>
              <a:t>3. Cache</a:t>
            </a:r>
          </a:p>
          <a:p>
            <a:pPr algn="l" indent="-228600" marL="228600">
              <a:spcAft>
                <a:spcPts val="1000"/>
              </a:spcAft>
              <a:buChar char="•"/>
            </a:pPr>
            <a:r>
              <a:rPr sz="1400">
                <a:solidFill>
                  <a:srgbClr val="FFFFFF"/>
                </a:solidFill>
                <a:latin typeface="Calibri"/>
              </a:rPr>
              <a:t>4. Inspect (content safety)</a:t>
            </a:r>
          </a:p>
          <a:p>
            <a:pPr algn="l" indent="-228600" marL="228600">
              <a:spcAft>
                <a:spcPts val="1000"/>
              </a:spcAft>
              <a:buChar char="•"/>
            </a:pPr>
            <a:r>
              <a:rPr sz="1400">
                <a:solidFill>
                  <a:srgbClr val="FFFFFF"/>
                </a:solidFill>
                <a:latin typeface="Calibri"/>
              </a:rPr>
              <a:t>5. Observe (token telemetry)</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GATEWAY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APIM policy chain · what runs on every request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828800"/>
            <a:ext cx="1828800" cy="365760"/>
          </a:xfrm>
          <a:prstGeom prst="rect">
            <a:avLst/>
          </a:prstGeom>
          <a:noFill/>
        </p:spPr>
        <p:txBody>
          <a:bodyPr wrap="square" lIns="0" rIns="0" tIns="0" bIns="0" anchor="t">
            <a:spAutoFit/>
          </a:bodyPr>
          <a:lstStyle/>
          <a:p>
            <a:pPr algn="l"/>
            <a:r>
              <a:rPr sz="1400" b="1" i="0">
                <a:solidFill>
                  <a:srgbClr val="FFB703"/>
                </a:solidFill>
                <a:latin typeface="Calibri"/>
              </a:rPr>
              <a:t>INBOUND</a:t>
            </a:r>
          </a:p>
        </p:txBody>
      </p:sp>
      <p:sp>
        <p:nvSpPr>
          <p:cNvPr id="9" name="Rectangle 8"/>
          <p:cNvSpPr/>
          <p:nvPr/>
        </p:nvSpPr>
        <p:spPr>
          <a:xfrm>
            <a:off x="548640" y="2286000"/>
            <a:ext cx="2377440" cy="4572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8600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validate-jwt</a:t>
            </a:r>
          </a:p>
        </p:txBody>
      </p:sp>
      <p:sp>
        <p:nvSpPr>
          <p:cNvPr id="11" name="TextBox 10"/>
          <p:cNvSpPr txBox="1"/>
          <p:nvPr/>
        </p:nvSpPr>
        <p:spPr>
          <a:xfrm>
            <a:off x="3017520" y="2286000"/>
            <a:ext cx="3200400" cy="457200"/>
          </a:xfrm>
          <a:prstGeom prst="rect">
            <a:avLst/>
          </a:prstGeom>
          <a:noFill/>
        </p:spPr>
        <p:txBody>
          <a:bodyPr wrap="square" lIns="0" rIns="0" tIns="0" bIns="0" anchor="ctr">
            <a:spAutoFit/>
          </a:bodyPr>
          <a:lstStyle/>
          <a:p>
            <a:pPr algn="l"/>
            <a:r>
              <a:rPr sz="1100" b="0" i="0">
                <a:solidFill>
                  <a:srgbClr val="0F172A"/>
                </a:solidFill>
                <a:latin typeface="Calibri"/>
              </a:rPr>
              <a:t>Verify caller identity</a:t>
            </a:r>
          </a:p>
        </p:txBody>
      </p:sp>
      <p:sp>
        <p:nvSpPr>
          <p:cNvPr id="12" name="Rectangle 11"/>
          <p:cNvSpPr/>
          <p:nvPr/>
        </p:nvSpPr>
        <p:spPr>
          <a:xfrm>
            <a:off x="548640" y="2788920"/>
            <a:ext cx="2377440" cy="4572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78892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rate-limit-by-key</a:t>
            </a:r>
          </a:p>
        </p:txBody>
      </p:sp>
      <p:sp>
        <p:nvSpPr>
          <p:cNvPr id="14" name="TextBox 13"/>
          <p:cNvSpPr txBox="1"/>
          <p:nvPr/>
        </p:nvSpPr>
        <p:spPr>
          <a:xfrm>
            <a:off x="3017520" y="2788920"/>
            <a:ext cx="3200400" cy="457200"/>
          </a:xfrm>
          <a:prstGeom prst="rect">
            <a:avLst/>
          </a:prstGeom>
          <a:noFill/>
        </p:spPr>
        <p:txBody>
          <a:bodyPr wrap="square" lIns="0" rIns="0" tIns="0" bIns="0" anchor="ctr">
            <a:spAutoFit/>
          </a:bodyPr>
          <a:lstStyle/>
          <a:p>
            <a:pPr algn="l"/>
            <a:r>
              <a:rPr sz="1100" b="0" i="0">
                <a:solidFill>
                  <a:srgbClr val="0F172A"/>
                </a:solidFill>
                <a:latin typeface="Calibri"/>
              </a:rPr>
              <a:t>10 req/min per subscription</a:t>
            </a:r>
          </a:p>
        </p:txBody>
      </p:sp>
      <p:sp>
        <p:nvSpPr>
          <p:cNvPr id="15" name="Rectangle 14"/>
          <p:cNvSpPr/>
          <p:nvPr/>
        </p:nvSpPr>
        <p:spPr>
          <a:xfrm>
            <a:off x="548640" y="3291840"/>
            <a:ext cx="2377440" cy="4572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29184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llm-token-limit</a:t>
            </a:r>
          </a:p>
        </p:txBody>
      </p:sp>
      <p:sp>
        <p:nvSpPr>
          <p:cNvPr id="17" name="TextBox 16"/>
          <p:cNvSpPr txBox="1"/>
          <p:nvPr/>
        </p:nvSpPr>
        <p:spPr>
          <a:xfrm>
            <a:off x="3017520" y="3291840"/>
            <a:ext cx="3200400" cy="457200"/>
          </a:xfrm>
          <a:prstGeom prst="rect">
            <a:avLst/>
          </a:prstGeom>
          <a:noFill/>
        </p:spPr>
        <p:txBody>
          <a:bodyPr wrap="square" lIns="0" rIns="0" tIns="0" bIns="0" anchor="ctr">
            <a:spAutoFit/>
          </a:bodyPr>
          <a:lstStyle/>
          <a:p>
            <a:pPr algn="l"/>
            <a:r>
              <a:rPr sz="1100" b="0" i="0">
                <a:solidFill>
                  <a:srgbClr val="0F172A"/>
                </a:solidFill>
                <a:latin typeface="Calibri"/>
              </a:rPr>
              <a:t>500 TPM cap</a:t>
            </a:r>
          </a:p>
        </p:txBody>
      </p:sp>
      <p:sp>
        <p:nvSpPr>
          <p:cNvPr id="18" name="Rectangle 17"/>
          <p:cNvSpPr/>
          <p:nvPr/>
        </p:nvSpPr>
        <p:spPr>
          <a:xfrm>
            <a:off x="548640" y="3794760"/>
            <a:ext cx="2377440" cy="4572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9476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llm-content-safety</a:t>
            </a:r>
          </a:p>
        </p:txBody>
      </p:sp>
      <p:sp>
        <p:nvSpPr>
          <p:cNvPr id="20" name="TextBox 19"/>
          <p:cNvSpPr txBox="1"/>
          <p:nvPr/>
        </p:nvSpPr>
        <p:spPr>
          <a:xfrm>
            <a:off x="3017520" y="3794760"/>
            <a:ext cx="3200400" cy="457200"/>
          </a:xfrm>
          <a:prstGeom prst="rect">
            <a:avLst/>
          </a:prstGeom>
          <a:noFill/>
        </p:spPr>
        <p:txBody>
          <a:bodyPr wrap="square" lIns="0" rIns="0" tIns="0" bIns="0" anchor="ctr">
            <a:spAutoFit/>
          </a:bodyPr>
          <a:lstStyle/>
          <a:p>
            <a:pPr algn="l"/>
            <a:r>
              <a:rPr sz="1100" b="0" i="0">
                <a:solidFill>
                  <a:srgbClr val="0F172A"/>
                </a:solidFill>
                <a:latin typeface="Calibri"/>
              </a:rPr>
              <a:t>Hate · sexual · violence · self-harm</a:t>
            </a:r>
          </a:p>
        </p:txBody>
      </p:sp>
      <p:sp>
        <p:nvSpPr>
          <p:cNvPr id="21" name="Rectangle 20"/>
          <p:cNvSpPr/>
          <p:nvPr/>
        </p:nvSpPr>
        <p:spPr>
          <a:xfrm>
            <a:off x="548640" y="4297680"/>
            <a:ext cx="2377440" cy="4572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29768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llm-semantic-cache-lookup</a:t>
            </a:r>
          </a:p>
        </p:txBody>
      </p:sp>
      <p:sp>
        <p:nvSpPr>
          <p:cNvPr id="23" name="TextBox 22"/>
          <p:cNvSpPr txBox="1"/>
          <p:nvPr/>
        </p:nvSpPr>
        <p:spPr>
          <a:xfrm>
            <a:off x="3017520" y="4297680"/>
            <a:ext cx="3200400" cy="457200"/>
          </a:xfrm>
          <a:prstGeom prst="rect">
            <a:avLst/>
          </a:prstGeom>
          <a:noFill/>
        </p:spPr>
        <p:txBody>
          <a:bodyPr wrap="square" lIns="0" rIns="0" tIns="0" bIns="0" anchor="ctr">
            <a:spAutoFit/>
          </a:bodyPr>
          <a:lstStyle/>
          <a:p>
            <a:pPr algn="l"/>
            <a:r>
              <a:rPr sz="1100" b="0" i="0">
                <a:solidFill>
                  <a:srgbClr val="0F172A"/>
                </a:solidFill>
                <a:latin typeface="Calibri"/>
              </a:rPr>
              <a:t>Embed prompt → return cached if hit</a:t>
            </a:r>
          </a:p>
        </p:txBody>
      </p:sp>
      <p:sp>
        <p:nvSpPr>
          <p:cNvPr id="24" name="Rectangle 23"/>
          <p:cNvSpPr/>
          <p:nvPr/>
        </p:nvSpPr>
        <p:spPr>
          <a:xfrm>
            <a:off x="6858000" y="2286000"/>
            <a:ext cx="2286000" cy="7315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2286000"/>
            <a:ext cx="2286000" cy="731520"/>
          </a:xfrm>
          <a:prstGeom prst="rect">
            <a:avLst/>
          </a:prstGeom>
          <a:noFill/>
        </p:spPr>
        <p:txBody>
          <a:bodyPr wrap="square" lIns="0" rIns="0" tIns="0" bIns="0" anchor="ctr">
            <a:spAutoFit/>
          </a:bodyPr>
          <a:lstStyle/>
          <a:p>
            <a:pPr algn="ctr"/>
            <a:r>
              <a:rPr sz="1200" b="1" i="0">
                <a:solidFill>
                  <a:srgbClr val="FFB703"/>
                </a:solidFill>
                <a:latin typeface="Calibri"/>
              </a:rPr>
              <a:t>BACKEND
Foundry / Container App</a:t>
            </a:r>
          </a:p>
        </p:txBody>
      </p:sp>
      <p:sp>
        <p:nvSpPr>
          <p:cNvPr id="26" name="Right Arrow 25"/>
          <p:cNvSpPr/>
          <p:nvPr/>
        </p:nvSpPr>
        <p:spPr>
          <a:xfrm>
            <a:off x="6263640" y="2606040"/>
            <a:ext cx="5486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3291840"/>
            <a:ext cx="1828800" cy="365760"/>
          </a:xfrm>
          <a:prstGeom prst="rect">
            <a:avLst/>
          </a:prstGeom>
          <a:noFill/>
        </p:spPr>
        <p:txBody>
          <a:bodyPr wrap="square" lIns="0" rIns="0" tIns="0" bIns="0" anchor="t">
            <a:spAutoFit/>
          </a:bodyPr>
          <a:lstStyle/>
          <a:p>
            <a:pPr algn="l"/>
            <a:r>
              <a:rPr sz="1400" b="1" i="0">
                <a:solidFill>
                  <a:srgbClr val="03708A"/>
                </a:solidFill>
                <a:latin typeface="Calibri"/>
              </a:rPr>
              <a:t>OUTBOUND</a:t>
            </a:r>
          </a:p>
        </p:txBody>
      </p:sp>
      <p:sp>
        <p:nvSpPr>
          <p:cNvPr id="28" name="Rectangle 27"/>
          <p:cNvSpPr/>
          <p:nvPr/>
        </p:nvSpPr>
        <p:spPr>
          <a:xfrm>
            <a:off x="6858000" y="3657600"/>
            <a:ext cx="237744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0" y="365760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llm-content-safety</a:t>
            </a:r>
          </a:p>
        </p:txBody>
      </p:sp>
      <p:sp>
        <p:nvSpPr>
          <p:cNvPr id="30" name="TextBox 29"/>
          <p:cNvSpPr txBox="1"/>
          <p:nvPr/>
        </p:nvSpPr>
        <p:spPr>
          <a:xfrm>
            <a:off x="9326880" y="3657600"/>
            <a:ext cx="2377440" cy="457200"/>
          </a:xfrm>
          <a:prstGeom prst="rect">
            <a:avLst/>
          </a:prstGeom>
          <a:noFill/>
        </p:spPr>
        <p:txBody>
          <a:bodyPr wrap="square" lIns="0" rIns="0" tIns="0" bIns="0" anchor="ctr">
            <a:spAutoFit/>
          </a:bodyPr>
          <a:lstStyle/>
          <a:p>
            <a:pPr algn="l"/>
            <a:r>
              <a:rPr sz="1100" b="0" i="0">
                <a:solidFill>
                  <a:srgbClr val="0F172A"/>
                </a:solidFill>
                <a:latin typeface="Calibri"/>
              </a:rPr>
              <a:t>Scan model output</a:t>
            </a:r>
          </a:p>
        </p:txBody>
      </p:sp>
      <p:sp>
        <p:nvSpPr>
          <p:cNvPr id="31" name="Rectangle 30"/>
          <p:cNvSpPr/>
          <p:nvPr/>
        </p:nvSpPr>
        <p:spPr>
          <a:xfrm>
            <a:off x="6858000" y="4160520"/>
            <a:ext cx="237744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0" y="416052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llm-semantic-cache-store</a:t>
            </a:r>
          </a:p>
        </p:txBody>
      </p:sp>
      <p:sp>
        <p:nvSpPr>
          <p:cNvPr id="33" name="TextBox 32"/>
          <p:cNvSpPr txBox="1"/>
          <p:nvPr/>
        </p:nvSpPr>
        <p:spPr>
          <a:xfrm>
            <a:off x="9326880" y="4160520"/>
            <a:ext cx="2377440" cy="457200"/>
          </a:xfrm>
          <a:prstGeom prst="rect">
            <a:avLst/>
          </a:prstGeom>
          <a:noFill/>
        </p:spPr>
        <p:txBody>
          <a:bodyPr wrap="square" lIns="0" rIns="0" tIns="0" bIns="0" anchor="ctr">
            <a:spAutoFit/>
          </a:bodyPr>
          <a:lstStyle/>
          <a:p>
            <a:pPr algn="l"/>
            <a:r>
              <a:rPr sz="1100" b="0" i="0">
                <a:solidFill>
                  <a:srgbClr val="0F172A"/>
                </a:solidFill>
                <a:latin typeface="Calibri"/>
              </a:rPr>
              <a:t>Cache the response</a:t>
            </a:r>
          </a:p>
        </p:txBody>
      </p:sp>
      <p:sp>
        <p:nvSpPr>
          <p:cNvPr id="34" name="Rectangle 33"/>
          <p:cNvSpPr/>
          <p:nvPr/>
        </p:nvSpPr>
        <p:spPr>
          <a:xfrm>
            <a:off x="6858000" y="4663440"/>
            <a:ext cx="237744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0" y="466344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llm-emit-token-metric</a:t>
            </a:r>
          </a:p>
        </p:txBody>
      </p:sp>
      <p:sp>
        <p:nvSpPr>
          <p:cNvPr id="36" name="TextBox 35"/>
          <p:cNvSpPr txBox="1"/>
          <p:nvPr/>
        </p:nvSpPr>
        <p:spPr>
          <a:xfrm>
            <a:off x="9326880" y="4663440"/>
            <a:ext cx="2377440" cy="457200"/>
          </a:xfrm>
          <a:prstGeom prst="rect">
            <a:avLst/>
          </a:prstGeom>
          <a:noFill/>
        </p:spPr>
        <p:txBody>
          <a:bodyPr wrap="square" lIns="0" rIns="0" tIns="0" bIns="0" anchor="ctr">
            <a:spAutoFit/>
          </a:bodyPr>
          <a:lstStyle/>
          <a:p>
            <a:pPr algn="l"/>
            <a:r>
              <a:rPr sz="1100" b="0" i="0">
                <a:solidFill>
                  <a:srgbClr val="0F172A"/>
                </a:solidFill>
                <a:latin typeface="Calibri"/>
              </a:rPr>
              <a:t>App Insights telemetry</a:t>
            </a:r>
          </a:p>
        </p:txBody>
      </p:sp>
      <p:sp>
        <p:nvSpPr>
          <p:cNvPr id="37" name="Rectangle 36"/>
          <p:cNvSpPr/>
          <p:nvPr/>
        </p:nvSpPr>
        <p:spPr>
          <a:xfrm>
            <a:off x="6858000" y="5166360"/>
            <a:ext cx="237744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0" y="516636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set-header</a:t>
            </a:r>
          </a:p>
        </p:txBody>
      </p:sp>
      <p:sp>
        <p:nvSpPr>
          <p:cNvPr id="39" name="TextBox 38"/>
          <p:cNvSpPr txBox="1"/>
          <p:nvPr/>
        </p:nvSpPr>
        <p:spPr>
          <a:xfrm>
            <a:off x="9326880" y="5166360"/>
            <a:ext cx="2377440" cy="457200"/>
          </a:xfrm>
          <a:prstGeom prst="rect">
            <a:avLst/>
          </a:prstGeom>
          <a:noFill/>
        </p:spPr>
        <p:txBody>
          <a:bodyPr wrap="square" lIns="0" rIns="0" tIns="0" bIns="0" anchor="ctr">
            <a:spAutoFit/>
          </a:bodyPr>
          <a:lstStyle/>
          <a:p>
            <a:pPr algn="l"/>
            <a:r>
              <a:rPr sz="1100" b="0" i="0">
                <a:solidFill>
                  <a:srgbClr val="0F172A"/>
                </a:solidFill>
                <a:latin typeface="Calibri"/>
              </a:rPr>
              <a:t>X-Request-ID for tracing</a:t>
            </a:r>
          </a:p>
        </p:txBody>
      </p:sp>
      <p:sp>
        <p:nvSpPr>
          <p:cNvPr id="40" name="TextBox 39"/>
          <p:cNvSpPr txBox="1"/>
          <p:nvPr/>
        </p:nvSpPr>
        <p:spPr>
          <a:xfrm>
            <a:off x="548640" y="1371600"/>
            <a:ext cx="10972800" cy="365760"/>
          </a:xfrm>
          <a:prstGeom prst="rect">
            <a:avLst/>
          </a:prstGeom>
          <a:noFill/>
        </p:spPr>
        <p:txBody>
          <a:bodyPr wrap="square" lIns="0" rIns="0" tIns="0" bIns="0" anchor="t">
            <a:spAutoFit/>
          </a:bodyPr>
          <a:lstStyle/>
          <a:p>
            <a:pPr algn="l"/>
            <a:r>
              <a:rPr sz="1300" b="0" i="1">
                <a:solidFill>
                  <a:srgbClr val="475569"/>
                </a:solidFill>
                <a:latin typeface="Calibri"/>
              </a:rPr>
              <a:t>Inbound stack runs BEFORE Foundry sees the request. Outbound runs on the way back.</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GATEWAY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APIM policy XML · token limit + telemetry</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Drop-in policy fragment: TPM cap + per-consumer dimensions in App Insights.</a:t>
            </a:r>
          </a:p>
        </p:txBody>
      </p:sp>
      <p:sp>
        <p:nvSpPr>
          <p:cNvPr id="9" name="Rectangle 8"/>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38528"/>
            <a:ext cx="10698480" cy="3986784"/>
          </a:xfrm>
          <a:prstGeom prst="rect">
            <a:avLst/>
          </a:prstGeom>
          <a:noFill/>
        </p:spPr>
        <p:txBody>
          <a:bodyPr wrap="square" lIns="0" rIns="0" tIns="0" bIns="0">
            <a:spAutoFit/>
          </a:bodyPr>
          <a:lstStyle/>
          <a:p>
            <a:pPr>
              <a:spcAft>
                <a:spcPts val="0"/>
              </a:spcAft>
            </a:pPr>
            <a:r>
              <a:rPr sz="1100">
                <a:solidFill>
                  <a:srgbClr val="FFFFFF"/>
                </a:solidFill>
                <a:latin typeface="Consolas"/>
              </a:rPr>
              <a:t>&lt;policies&gt;</a:t>
            </a:r>
          </a:p>
          <a:p>
            <a:pPr>
              <a:spcAft>
                <a:spcPts val="0"/>
              </a:spcAft>
            </a:pPr>
            <a:r>
              <a:rPr sz="1100">
                <a:solidFill>
                  <a:srgbClr val="FFFFFF"/>
                </a:solidFill>
                <a:latin typeface="Consolas"/>
              </a:rPr>
              <a:t>  &lt;inbound&gt;</a:t>
            </a:r>
          </a:p>
          <a:p>
            <a:pPr>
              <a:spcAft>
                <a:spcPts val="0"/>
              </a:spcAft>
            </a:pPr>
            <a:r>
              <a:rPr sz="1100">
                <a:solidFill>
                  <a:srgbClr val="FFFFFF"/>
                </a:solidFill>
                <a:latin typeface="Consolas"/>
              </a:rPr>
              <a:t>    &lt;base /&gt;</a:t>
            </a:r>
          </a:p>
          <a:p>
            <a:pPr>
              <a:spcAft>
                <a:spcPts val="0"/>
              </a:spcAft>
            </a:pPr>
            <a:r>
              <a:rPr sz="1100">
                <a:solidFill>
                  <a:srgbClr val="FFFFFF"/>
                </a:solidFill>
                <a:latin typeface="Consolas"/>
              </a:rPr>
              <a:t>    &lt;validate-jwt header-name="Authorization" require-scheme="Bearer"&gt;</a:t>
            </a:r>
          </a:p>
          <a:p>
            <a:pPr>
              <a:spcAft>
                <a:spcPts val="0"/>
              </a:spcAft>
            </a:pPr>
            <a:r>
              <a:rPr sz="1100">
                <a:solidFill>
                  <a:srgbClr val="FFFFFF"/>
                </a:solidFill>
                <a:latin typeface="Consolas"/>
              </a:rPr>
              <a:t>      &lt;openid-config url="https://login.microsoftonline.com/{{tenant}}/v2.0/.well-known/openid-configuration" /&gt;</a:t>
            </a:r>
          </a:p>
          <a:p>
            <a:pPr>
              <a:spcAft>
                <a:spcPts val="0"/>
              </a:spcAft>
            </a:pPr>
            <a:r>
              <a:rPr sz="1100">
                <a:solidFill>
                  <a:srgbClr val="FFFFFF"/>
                </a:solidFill>
                <a:latin typeface="Consolas"/>
              </a:rPr>
              <a:t>    &lt;/validate-jwt&gt;</a:t>
            </a:r>
          </a:p>
          <a:p>
            <a:pPr>
              <a:spcAft>
                <a:spcPts val="0"/>
              </a:spcAft>
            </a:pPr>
            <a:r>
              <a:rPr sz="1100">
                <a:solidFill>
                  <a:srgbClr val="FFFFFF"/>
                </a:solidFill>
                <a:latin typeface="Consolas"/>
              </a:rPr>
              <a:t>    &lt;llm-token-limit</a:t>
            </a:r>
          </a:p>
          <a:p>
            <a:pPr>
              <a:spcAft>
                <a:spcPts val="0"/>
              </a:spcAft>
            </a:pPr>
            <a:r>
              <a:rPr sz="1100">
                <a:solidFill>
                  <a:srgbClr val="FFFFFF"/>
                </a:solidFill>
                <a:latin typeface="Consolas"/>
              </a:rPr>
              <a:t>        counter-key="@(context.Subscription.Id)"</a:t>
            </a:r>
          </a:p>
          <a:p>
            <a:pPr>
              <a:spcAft>
                <a:spcPts val="0"/>
              </a:spcAft>
            </a:pPr>
            <a:r>
              <a:rPr sz="1100">
                <a:solidFill>
                  <a:srgbClr val="FFFFFF"/>
                </a:solidFill>
                <a:latin typeface="Consolas"/>
              </a:rPr>
              <a:t>        tokens-per-minute="500"</a:t>
            </a:r>
          </a:p>
          <a:p>
            <a:pPr>
              <a:spcAft>
                <a:spcPts val="0"/>
              </a:spcAft>
            </a:pPr>
            <a:r>
              <a:rPr sz="1100">
                <a:solidFill>
                  <a:srgbClr val="FFFFFF"/>
                </a:solidFill>
                <a:latin typeface="Consolas"/>
              </a:rPr>
              <a:t>        estimate-prompt-tokens="false" /&gt;</a:t>
            </a:r>
          </a:p>
          <a:p>
            <a:pPr>
              <a:spcAft>
                <a:spcPts val="0"/>
              </a:spcAft>
            </a:pPr>
            <a:r>
              <a:rPr sz="1100">
                <a:solidFill>
                  <a:srgbClr val="FFFFFF"/>
                </a:solidFill>
                <a:latin typeface="Consolas"/>
              </a:rPr>
              <a:t>    &lt;llm-content-safety&gt;</a:t>
            </a:r>
          </a:p>
          <a:p>
            <a:pPr>
              <a:spcAft>
                <a:spcPts val="0"/>
              </a:spcAft>
            </a:pPr>
            <a:r>
              <a:rPr sz="1100">
                <a:solidFill>
                  <a:srgbClr val="FFFFFF"/>
                </a:solidFill>
                <a:latin typeface="Consolas"/>
              </a:rPr>
              <a:t>      &lt;categories&gt;</a:t>
            </a:r>
          </a:p>
          <a:p>
            <a:pPr>
              <a:spcAft>
                <a:spcPts val="0"/>
              </a:spcAft>
            </a:pPr>
            <a:r>
              <a:rPr sz="1100">
                <a:solidFill>
                  <a:srgbClr val="FFFFFF"/>
                </a:solidFill>
                <a:latin typeface="Consolas"/>
              </a:rPr>
              <a:t>        &lt;category name="Hate"     threshold="2" /&gt;</a:t>
            </a:r>
          </a:p>
          <a:p>
            <a:pPr>
              <a:spcAft>
                <a:spcPts val="0"/>
              </a:spcAft>
            </a:pPr>
            <a:r>
              <a:rPr sz="1100">
                <a:solidFill>
                  <a:srgbClr val="FFFFFF"/>
                </a:solidFill>
                <a:latin typeface="Consolas"/>
              </a:rPr>
              <a:t>        &lt;category name="Violence" threshold="2" /&gt;</a:t>
            </a:r>
          </a:p>
          <a:p>
            <a:pPr>
              <a:spcAft>
                <a:spcPts val="0"/>
              </a:spcAft>
            </a:pPr>
            <a:r>
              <a:rPr sz="1100">
                <a:solidFill>
                  <a:srgbClr val="FFFFFF"/>
                </a:solidFill>
                <a:latin typeface="Consolas"/>
              </a:rPr>
              <a:t>      &lt;/categories&gt;</a:t>
            </a:r>
          </a:p>
          <a:p>
            <a:pPr>
              <a:spcAft>
                <a:spcPts val="0"/>
              </a:spcAft>
            </a:pPr>
            <a:r>
              <a:rPr sz="1100">
                <a:solidFill>
                  <a:srgbClr val="FFFFFF"/>
                </a:solidFill>
                <a:latin typeface="Consolas"/>
              </a:rPr>
              <a:t>    &lt;/llm-content-safety&gt;</a:t>
            </a:r>
          </a:p>
          <a:p>
            <a:pPr>
              <a:spcAft>
                <a:spcPts val="0"/>
              </a:spcAft>
            </a:pPr>
            <a:r>
              <a:rPr sz="1100">
                <a:solidFill>
                  <a:srgbClr val="FFFFFF"/>
                </a:solidFill>
                <a:latin typeface="Consolas"/>
              </a:rPr>
              <a:t>    &lt;llm-semantic-cache-lookup score-threshold="0.05" /&gt;</a:t>
            </a:r>
          </a:p>
          <a:p>
            <a:pPr>
              <a:spcAft>
                <a:spcPts val="0"/>
              </a:spcAft>
            </a:pPr>
            <a:r>
              <a:rPr sz="1100">
                <a:solidFill>
                  <a:srgbClr val="FFFFFF"/>
                </a:solidFill>
                <a:latin typeface="Consolas"/>
              </a:rPr>
              <a:t>  &lt;/inbound&gt;</a:t>
            </a:r>
          </a:p>
          <a:p>
            <a:pPr>
              <a:spcAft>
                <a:spcPts val="0"/>
              </a:spcAft>
            </a:pPr>
            <a:r>
              <a:rPr sz="1100">
                <a:solidFill>
                  <a:srgbClr val="FFFFFF"/>
                </a:solidFill>
                <a:latin typeface="Consolas"/>
              </a:rPr>
              <a:t>  &lt;outbound&gt;</a:t>
            </a:r>
          </a:p>
          <a:p>
            <a:pPr>
              <a:spcAft>
                <a:spcPts val="0"/>
              </a:spcAft>
            </a:pPr>
            <a:r>
              <a:rPr sz="1100">
                <a:solidFill>
                  <a:srgbClr val="FFFFFF"/>
                </a:solidFill>
                <a:latin typeface="Consolas"/>
              </a:rPr>
              <a:t>    &lt;base /&gt;</a:t>
            </a:r>
          </a:p>
          <a:p>
            <a:pPr>
              <a:spcAft>
                <a:spcPts val="0"/>
              </a:spcAft>
            </a:pPr>
            <a:r>
              <a:rPr sz="1100">
                <a:solidFill>
                  <a:srgbClr val="FFFFFF"/>
                </a:solidFill>
                <a:latin typeface="Consolas"/>
              </a:rPr>
              <a:t>    &lt;llm-semantic-cache-store duration="3600" /&gt;</a:t>
            </a:r>
          </a:p>
          <a:p>
            <a:pPr>
              <a:spcAft>
                <a:spcPts val="0"/>
              </a:spcAft>
            </a:pPr>
            <a:r>
              <a:rPr sz="1100">
                <a:solidFill>
                  <a:srgbClr val="FFFFFF"/>
                </a:solidFill>
                <a:latin typeface="Consolas"/>
              </a:rPr>
              <a:t>    &lt;llm-emit-token-metric namespace="llm-metrics"&gt;</a:t>
            </a:r>
          </a:p>
          <a:p>
            <a:pPr>
              <a:spcAft>
                <a:spcPts val="0"/>
              </a:spcAft>
            </a:pPr>
            <a:r>
              <a:rPr sz="1100">
                <a:solidFill>
                  <a:srgbClr val="FFFFFF"/>
                </a:solidFill>
                <a:latin typeface="Consolas"/>
              </a:rPr>
              <a:t>      &lt;dimension name="Subscription" value="@(context.Subscription.Id)" /&gt;</a:t>
            </a:r>
          </a:p>
          <a:p>
            <a:pPr>
              <a:spcAft>
                <a:spcPts val="0"/>
              </a:spcAft>
            </a:pPr>
            <a:r>
              <a:rPr sz="1100">
                <a:solidFill>
                  <a:srgbClr val="FFFFFF"/>
                </a:solidFill>
                <a:latin typeface="Consolas"/>
              </a:rPr>
              <a:t>      &lt;dimension name="API"          value="@(context.Api.Id)" /&gt;</a:t>
            </a:r>
          </a:p>
          <a:p>
            <a:pPr>
              <a:spcAft>
                <a:spcPts val="0"/>
              </a:spcAft>
            </a:pPr>
            <a:r>
              <a:rPr sz="1100">
                <a:solidFill>
                  <a:srgbClr val="FFFFFF"/>
                </a:solidFill>
                <a:latin typeface="Consolas"/>
              </a:rPr>
              <a:t>    &lt;/llm-emit-token-metric&gt;</a:t>
            </a:r>
          </a:p>
          <a:p>
            <a:pPr>
              <a:spcAft>
                <a:spcPts val="0"/>
              </a:spcAft>
            </a:pPr>
            <a:r>
              <a:rPr sz="1100">
                <a:solidFill>
                  <a:srgbClr val="FFFFFF"/>
                </a:solidFill>
                <a:latin typeface="Consolas"/>
              </a:rPr>
              <a:t>  &lt;/outbound&gt;</a:t>
            </a:r>
          </a:p>
          <a:p>
            <a:pPr>
              <a:spcAft>
                <a:spcPts val="0"/>
              </a:spcAft>
            </a:pPr>
            <a:r>
              <a:rPr sz="1100">
                <a:solidFill>
                  <a:srgbClr val="FFFFFF"/>
                </a:solidFill>
                <a:latin typeface="Consolas"/>
              </a:rPr>
              <a:t>&lt;/policies&gt;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GUARDRAILS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Foundry Guardrails — controls × intervention points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A guardrail is a named collection of controls. A control = risk + intervention point + action.</a:t>
            </a:r>
          </a:p>
        </p:txBody>
      </p:sp>
      <p:graphicFrame>
        <p:nvGraphicFramePr>
          <p:cNvPr id="9" name="Table 8"/>
          <p:cNvGraphicFramePr>
            <a:graphicFrameLocks noGrp="1"/>
          </p:cNvGraphicFramePr>
          <p:nvPr/>
        </p:nvGraphicFramePr>
        <p:xfrm>
          <a:off x="640080" y="1874519"/>
          <a:ext cx="10972800" cy="352044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502920">
                <a:tc>
                  <a:txBody>
                    <a:bodyPr/>
                    <a:lstStyle/>
                    <a:p>
                      <a:pPr algn="l"/>
                      <a:r>
                        <a:rPr sz="1300" b="1">
                          <a:solidFill>
                            <a:srgbClr val="FFFFFF"/>
                          </a:solidFill>
                          <a:latin typeface="Calibri"/>
                        </a:rPr>
                        <a:t>Risk</a:t>
                      </a:r>
                    </a:p>
                  </a:txBody>
                  <a:tcPr>
                    <a:solidFill>
                      <a:srgbClr val="0B1B3F"/>
                    </a:solidFill>
                  </a:tcPr>
                </a:tc>
                <a:tc>
                  <a:txBody>
                    <a:bodyPr/>
                    <a:lstStyle/>
                    <a:p>
                      <a:pPr algn="ctr"/>
                      <a:r>
                        <a:rPr sz="1300" b="1">
                          <a:solidFill>
                            <a:srgbClr val="FFFFFF"/>
                          </a:solidFill>
                          <a:latin typeface="Calibri"/>
                        </a:rPr>
                        <a:t>User input</a:t>
                      </a:r>
                    </a:p>
                  </a:txBody>
                  <a:tcPr>
                    <a:solidFill>
                      <a:srgbClr val="0B1B3F"/>
                    </a:solidFill>
                  </a:tcPr>
                </a:tc>
                <a:tc>
                  <a:txBody>
                    <a:bodyPr/>
                    <a:lstStyle/>
                    <a:p>
                      <a:pPr algn="ctr"/>
                      <a:r>
                        <a:rPr sz="1300" b="1">
                          <a:solidFill>
                            <a:srgbClr val="FFFFFF"/>
                          </a:solidFill>
                          <a:latin typeface="Calibri"/>
                        </a:rPr>
                        <a:t>Tool call</a:t>
                      </a:r>
                    </a:p>
                  </a:txBody>
                  <a:tcPr>
                    <a:solidFill>
                      <a:srgbClr val="0B1B3F"/>
                    </a:solidFill>
                  </a:tcPr>
                </a:tc>
                <a:tc>
                  <a:txBody>
                    <a:bodyPr/>
                    <a:lstStyle/>
                    <a:p>
                      <a:pPr algn="ctr"/>
                      <a:r>
                        <a:rPr sz="1300" b="1">
                          <a:solidFill>
                            <a:srgbClr val="FFFFFF"/>
                          </a:solidFill>
                          <a:latin typeface="Calibri"/>
                        </a:rPr>
                        <a:t>Tool response</a:t>
                      </a:r>
                    </a:p>
                  </a:txBody>
                  <a:tcPr>
                    <a:solidFill>
                      <a:srgbClr val="0B1B3F"/>
                    </a:solidFill>
                  </a:tcPr>
                </a:tc>
                <a:tc>
                  <a:txBody>
                    <a:bodyPr/>
                    <a:lstStyle/>
                    <a:p>
                      <a:pPr algn="ctr"/>
                      <a:r>
                        <a:rPr sz="1300" b="1">
                          <a:solidFill>
                            <a:srgbClr val="FFFFFF"/>
                          </a:solidFill>
                          <a:latin typeface="Calibri"/>
                        </a:rPr>
                        <a:t>Output</a:t>
                      </a:r>
                    </a:p>
                  </a:txBody>
                  <a:tcPr>
                    <a:solidFill>
                      <a:srgbClr val="0B1B3F"/>
                    </a:solidFill>
                  </a:tcPr>
                </a:tc>
              </a:tr>
              <a:tr h="502920">
                <a:tc>
                  <a:txBody>
                    <a:bodyPr/>
                    <a:lstStyle/>
                    <a:p>
                      <a:pPr algn="l"/>
                      <a:r>
                        <a:rPr sz="1100" b="1">
                          <a:solidFill>
                            <a:srgbClr val="0B1B3F"/>
                          </a:solidFill>
                          <a:latin typeface="Calibri"/>
                        </a:rPr>
                        <a:t>Hate / Sexual / Violence / Self-harm</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r>
              <a:tr h="502920">
                <a:tc>
                  <a:txBody>
                    <a:bodyPr/>
                    <a:lstStyle/>
                    <a:p>
                      <a:pPr algn="l"/>
                      <a:r>
                        <a:rPr sz="1100" b="1">
                          <a:solidFill>
                            <a:srgbClr val="0B1B3F"/>
                          </a:solidFill>
                          <a:latin typeface="Calibri"/>
                        </a:rPr>
                        <a:t>Prompt injection (user attacks)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r>
              <a:tr h="502920">
                <a:tc>
                  <a:txBody>
                    <a:bodyPr/>
                    <a:lstStyle/>
                    <a:p>
                      <a:pPr algn="l"/>
                      <a:r>
                        <a:rPr sz="1100" b="1">
                          <a:solidFill>
                            <a:srgbClr val="0B1B3F"/>
                          </a:solidFill>
                          <a:latin typeface="Calibri"/>
                        </a:rPr>
                        <a:t>Indirect prompt injection (XPIA)</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r>
              <a:tr h="502920">
                <a:tc>
                  <a:txBody>
                    <a:bodyPr/>
                    <a:lstStyle/>
                    <a:p>
                      <a:pPr algn="l"/>
                      <a:r>
                        <a:rPr sz="1100" b="1">
                          <a:solidFill>
                            <a:srgbClr val="0B1B3F"/>
                          </a:solidFill>
                          <a:latin typeface="Calibri"/>
                        </a:rPr>
                        <a:t>PII detection</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r>
              <a:tr h="502920">
                <a:tc>
                  <a:txBody>
                    <a:bodyPr/>
                    <a:lstStyle/>
                    <a:p>
                      <a:pPr algn="l"/>
                      <a:r>
                        <a:rPr sz="1100" b="1">
                          <a:solidFill>
                            <a:srgbClr val="0B1B3F"/>
                          </a:solidFill>
                          <a:latin typeface="Calibri"/>
                        </a:rPr>
                        <a:t>Protected material (text + code)</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r>
              <a:tr h="502920">
                <a:tc>
                  <a:txBody>
                    <a:bodyPr/>
                    <a:lstStyle/>
                    <a:p>
                      <a:pPr algn="l"/>
                      <a:r>
                        <a:rPr sz="1100" b="1">
                          <a:solidFill>
                            <a:srgbClr val="0B1B3F"/>
                          </a:solidFill>
                          <a:latin typeface="Calibri"/>
                        </a:rPr>
                        <a:t>Task adherence</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r>
            </a:tbl>
          </a:graphicData>
        </a:graphic>
      </p:graphicFrame>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SECURITY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Agent threat model · what to defend against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14173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463040"/>
            <a:ext cx="3017520" cy="274320"/>
          </a:xfrm>
          <a:prstGeom prst="rect">
            <a:avLst/>
          </a:prstGeom>
          <a:noFill/>
        </p:spPr>
        <p:txBody>
          <a:bodyPr wrap="square" lIns="0" rIns="0" tIns="0" bIns="0" anchor="t">
            <a:spAutoFit/>
          </a:bodyPr>
          <a:lstStyle/>
          <a:p>
            <a:pPr algn="l"/>
            <a:r>
              <a:rPr sz="1300" b="1" i="0">
                <a:solidFill>
                  <a:srgbClr val="0B1B3F"/>
                </a:solidFill>
                <a:latin typeface="Calibri"/>
              </a:rPr>
              <a:t>Prompt injection (direct)</a:t>
            </a:r>
          </a:p>
        </p:txBody>
      </p:sp>
      <p:sp>
        <p:nvSpPr>
          <p:cNvPr id="11" name="TextBox 10"/>
          <p:cNvSpPr txBox="1"/>
          <p:nvPr/>
        </p:nvSpPr>
        <p:spPr>
          <a:xfrm>
            <a:off x="1005840" y="1783080"/>
            <a:ext cx="10515600" cy="274320"/>
          </a:xfrm>
          <a:prstGeom prst="rect">
            <a:avLst/>
          </a:prstGeom>
          <a:noFill/>
        </p:spPr>
        <p:txBody>
          <a:bodyPr wrap="square" lIns="0" rIns="0" tIns="0" bIns="0" anchor="t">
            <a:spAutoFit/>
          </a:bodyPr>
          <a:lstStyle/>
          <a:p>
            <a:pPr algn="l"/>
            <a:r>
              <a:rPr sz="1100" b="0" i="1">
                <a:solidFill>
                  <a:srgbClr val="0F172A"/>
                </a:solidFill>
                <a:latin typeface="Calibri"/>
              </a:rPr>
              <a:t>User input that hijacks the system prompt.</a:t>
            </a:r>
          </a:p>
        </p:txBody>
      </p:sp>
      <p:sp>
        <p:nvSpPr>
          <p:cNvPr id="12" name="TextBox 11"/>
          <p:cNvSpPr txBox="1"/>
          <p:nvPr/>
        </p:nvSpPr>
        <p:spPr>
          <a:xfrm>
            <a:off x="4114800" y="1463040"/>
            <a:ext cx="7498079" cy="274320"/>
          </a:xfrm>
          <a:prstGeom prst="rect">
            <a:avLst/>
          </a:prstGeom>
          <a:noFill/>
        </p:spPr>
        <p:txBody>
          <a:bodyPr wrap="square" lIns="0" rIns="0" tIns="0" bIns="0" anchor="t">
            <a:spAutoFit/>
          </a:bodyPr>
          <a:lstStyle/>
          <a:p>
            <a:pPr algn="l"/>
            <a:r>
              <a:rPr sz="1100" b="1" i="0">
                <a:solidFill>
                  <a:srgbClr val="CC9000"/>
                </a:solidFill>
                <a:latin typeface="Calibri"/>
              </a:rPr>
              <a:t>Input intervention + tight system prompt + content safety</a:t>
            </a:r>
          </a:p>
        </p:txBody>
      </p:sp>
      <p:sp>
        <p:nvSpPr>
          <p:cNvPr id="13" name="Rectangle 12"/>
          <p:cNvSpPr/>
          <p:nvPr/>
        </p:nvSpPr>
        <p:spPr>
          <a:xfrm>
            <a:off x="640080" y="219456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 y="219456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240280"/>
            <a:ext cx="3017520" cy="274320"/>
          </a:xfrm>
          <a:prstGeom prst="rect">
            <a:avLst/>
          </a:prstGeom>
          <a:noFill/>
        </p:spPr>
        <p:txBody>
          <a:bodyPr wrap="square" lIns="0" rIns="0" tIns="0" bIns="0" anchor="t">
            <a:spAutoFit/>
          </a:bodyPr>
          <a:lstStyle/>
          <a:p>
            <a:pPr algn="l"/>
            <a:r>
              <a:rPr sz="1300" b="1" i="0">
                <a:solidFill>
                  <a:srgbClr val="0B1B3F"/>
                </a:solidFill>
                <a:latin typeface="Calibri"/>
              </a:rPr>
              <a:t>Indirect injection (XPIA)</a:t>
            </a:r>
          </a:p>
        </p:txBody>
      </p:sp>
      <p:sp>
        <p:nvSpPr>
          <p:cNvPr id="16" name="TextBox 15"/>
          <p:cNvSpPr txBox="1"/>
          <p:nvPr/>
        </p:nvSpPr>
        <p:spPr>
          <a:xfrm>
            <a:off x="1005840" y="2560320"/>
            <a:ext cx="10515600" cy="274320"/>
          </a:xfrm>
          <a:prstGeom prst="rect">
            <a:avLst/>
          </a:prstGeom>
          <a:noFill/>
        </p:spPr>
        <p:txBody>
          <a:bodyPr wrap="square" lIns="0" rIns="0" tIns="0" bIns="0" anchor="t">
            <a:spAutoFit/>
          </a:bodyPr>
          <a:lstStyle/>
          <a:p>
            <a:pPr algn="l"/>
            <a:r>
              <a:rPr sz="1100" b="0" i="1">
                <a:solidFill>
                  <a:srgbClr val="0F172A"/>
                </a:solidFill>
                <a:latin typeface="Calibri"/>
              </a:rPr>
              <a:t>Hostile content fetched by a tool (web page, doc).</a:t>
            </a:r>
          </a:p>
        </p:txBody>
      </p:sp>
      <p:sp>
        <p:nvSpPr>
          <p:cNvPr id="17" name="TextBox 16"/>
          <p:cNvSpPr txBox="1"/>
          <p:nvPr/>
        </p:nvSpPr>
        <p:spPr>
          <a:xfrm>
            <a:off x="4114800" y="2240280"/>
            <a:ext cx="7498079" cy="274320"/>
          </a:xfrm>
          <a:prstGeom prst="rect">
            <a:avLst/>
          </a:prstGeom>
          <a:noFill/>
        </p:spPr>
        <p:txBody>
          <a:bodyPr wrap="square" lIns="0" rIns="0" tIns="0" bIns="0" anchor="t">
            <a:spAutoFit/>
          </a:bodyPr>
          <a:lstStyle/>
          <a:p>
            <a:pPr algn="l"/>
            <a:r>
              <a:rPr sz="1100" b="1" i="0">
                <a:solidFill>
                  <a:srgbClr val="CC9000"/>
                </a:solidFill>
                <a:latin typeface="Calibri"/>
              </a:rPr>
              <a:t>Tool-response intervention + sanitize fetched content</a:t>
            </a:r>
          </a:p>
        </p:txBody>
      </p:sp>
      <p:sp>
        <p:nvSpPr>
          <p:cNvPr id="18" name="Rectangle 17"/>
          <p:cNvSpPr/>
          <p:nvPr/>
        </p:nvSpPr>
        <p:spPr>
          <a:xfrm>
            <a:off x="640080" y="297180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 y="297180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017520"/>
            <a:ext cx="3017520" cy="274320"/>
          </a:xfrm>
          <a:prstGeom prst="rect">
            <a:avLst/>
          </a:prstGeom>
          <a:noFill/>
        </p:spPr>
        <p:txBody>
          <a:bodyPr wrap="square" lIns="0" rIns="0" tIns="0" bIns="0" anchor="t">
            <a:spAutoFit/>
          </a:bodyPr>
          <a:lstStyle/>
          <a:p>
            <a:pPr algn="l"/>
            <a:r>
              <a:rPr sz="1300" b="1" i="0">
                <a:solidFill>
                  <a:srgbClr val="0B1B3F"/>
                </a:solidFill>
                <a:latin typeface="Calibri"/>
              </a:rPr>
              <a:t>PII leakage</a:t>
            </a:r>
          </a:p>
        </p:txBody>
      </p:sp>
      <p:sp>
        <p:nvSpPr>
          <p:cNvPr id="21" name="TextBox 20"/>
          <p:cNvSpPr txBox="1"/>
          <p:nvPr/>
        </p:nvSpPr>
        <p:spPr>
          <a:xfrm>
            <a:off x="1005840" y="3337560"/>
            <a:ext cx="10515600" cy="274320"/>
          </a:xfrm>
          <a:prstGeom prst="rect">
            <a:avLst/>
          </a:prstGeom>
          <a:noFill/>
        </p:spPr>
        <p:txBody>
          <a:bodyPr wrap="square" lIns="0" rIns="0" tIns="0" bIns="0" anchor="t">
            <a:spAutoFit/>
          </a:bodyPr>
          <a:lstStyle/>
          <a:p>
            <a:pPr algn="l"/>
            <a:r>
              <a:rPr sz="1100" b="0" i="1">
                <a:solidFill>
                  <a:srgbClr val="0F172A"/>
                </a:solidFill>
                <a:latin typeface="Calibri"/>
              </a:rPr>
              <a:t>Agent echoes private data into logs / responses.</a:t>
            </a:r>
          </a:p>
        </p:txBody>
      </p:sp>
      <p:sp>
        <p:nvSpPr>
          <p:cNvPr id="22" name="TextBox 21"/>
          <p:cNvSpPr txBox="1"/>
          <p:nvPr/>
        </p:nvSpPr>
        <p:spPr>
          <a:xfrm>
            <a:off x="4114800" y="3017520"/>
            <a:ext cx="7498079" cy="274320"/>
          </a:xfrm>
          <a:prstGeom prst="rect">
            <a:avLst/>
          </a:prstGeom>
          <a:noFill/>
        </p:spPr>
        <p:txBody>
          <a:bodyPr wrap="square" lIns="0" rIns="0" tIns="0" bIns="0" anchor="t">
            <a:spAutoFit/>
          </a:bodyPr>
          <a:lstStyle/>
          <a:p>
            <a:pPr algn="l"/>
            <a:r>
              <a:rPr sz="1100" b="1" i="0">
                <a:solidFill>
                  <a:srgbClr val="CC9000"/>
                </a:solidFill>
                <a:latin typeface="Calibri"/>
              </a:rPr>
              <a:t>PII detection at output + redact in App Insights</a:t>
            </a:r>
          </a:p>
        </p:txBody>
      </p:sp>
      <p:sp>
        <p:nvSpPr>
          <p:cNvPr id="23" name="Rectangle 22"/>
          <p:cNvSpPr/>
          <p:nvPr/>
        </p:nvSpPr>
        <p:spPr>
          <a:xfrm>
            <a:off x="640080" y="374904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4672" y="374904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794760"/>
            <a:ext cx="3017520" cy="274320"/>
          </a:xfrm>
          <a:prstGeom prst="rect">
            <a:avLst/>
          </a:prstGeom>
          <a:noFill/>
        </p:spPr>
        <p:txBody>
          <a:bodyPr wrap="square" lIns="0" rIns="0" tIns="0" bIns="0" anchor="t">
            <a:spAutoFit/>
          </a:bodyPr>
          <a:lstStyle/>
          <a:p>
            <a:pPr algn="l"/>
            <a:r>
              <a:rPr sz="1300" b="1" i="0">
                <a:solidFill>
                  <a:srgbClr val="0B1B3F"/>
                </a:solidFill>
                <a:latin typeface="Calibri"/>
              </a:rPr>
              <a:t>Tool abuse</a:t>
            </a:r>
          </a:p>
        </p:txBody>
      </p:sp>
      <p:sp>
        <p:nvSpPr>
          <p:cNvPr id="26" name="TextBox 25"/>
          <p:cNvSpPr txBox="1"/>
          <p:nvPr/>
        </p:nvSpPr>
        <p:spPr>
          <a:xfrm>
            <a:off x="1005840" y="4114800"/>
            <a:ext cx="10515600" cy="274320"/>
          </a:xfrm>
          <a:prstGeom prst="rect">
            <a:avLst/>
          </a:prstGeom>
          <a:noFill/>
        </p:spPr>
        <p:txBody>
          <a:bodyPr wrap="square" lIns="0" rIns="0" tIns="0" bIns="0" anchor="t">
            <a:spAutoFit/>
          </a:bodyPr>
          <a:lstStyle/>
          <a:p>
            <a:pPr algn="l"/>
            <a:r>
              <a:rPr sz="1100" b="0" i="1">
                <a:solidFill>
                  <a:srgbClr val="0F172A"/>
                </a:solidFill>
                <a:latin typeface="Calibri"/>
              </a:rPr>
              <a:t>Agent calls dangerous tools beyond intent.</a:t>
            </a:r>
          </a:p>
        </p:txBody>
      </p:sp>
      <p:sp>
        <p:nvSpPr>
          <p:cNvPr id="27" name="TextBox 26"/>
          <p:cNvSpPr txBox="1"/>
          <p:nvPr/>
        </p:nvSpPr>
        <p:spPr>
          <a:xfrm>
            <a:off x="4114800" y="3794760"/>
            <a:ext cx="7498079" cy="274320"/>
          </a:xfrm>
          <a:prstGeom prst="rect">
            <a:avLst/>
          </a:prstGeom>
          <a:noFill/>
        </p:spPr>
        <p:txBody>
          <a:bodyPr wrap="square" lIns="0" rIns="0" tIns="0" bIns="0" anchor="t">
            <a:spAutoFit/>
          </a:bodyPr>
          <a:lstStyle/>
          <a:p>
            <a:pPr algn="l"/>
            <a:r>
              <a:rPr sz="1100" b="1" i="0">
                <a:solidFill>
                  <a:srgbClr val="CC9000"/>
                </a:solidFill>
                <a:latin typeface="Calibri"/>
              </a:rPr>
              <a:t>Narrow tool scope + elicitation gates on destructive ops</a:t>
            </a:r>
          </a:p>
        </p:txBody>
      </p:sp>
      <p:sp>
        <p:nvSpPr>
          <p:cNvPr id="28" name="Rectangle 27"/>
          <p:cNvSpPr/>
          <p:nvPr/>
        </p:nvSpPr>
        <p:spPr>
          <a:xfrm>
            <a:off x="640080" y="452628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 y="452628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572000"/>
            <a:ext cx="3017520" cy="274320"/>
          </a:xfrm>
          <a:prstGeom prst="rect">
            <a:avLst/>
          </a:prstGeom>
          <a:noFill/>
        </p:spPr>
        <p:txBody>
          <a:bodyPr wrap="square" lIns="0" rIns="0" tIns="0" bIns="0" anchor="t">
            <a:spAutoFit/>
          </a:bodyPr>
          <a:lstStyle/>
          <a:p>
            <a:pPr algn="l"/>
            <a:r>
              <a:rPr sz="1300" b="1" i="0">
                <a:solidFill>
                  <a:srgbClr val="0B1B3F"/>
                </a:solidFill>
                <a:latin typeface="Calibri"/>
              </a:rPr>
              <a:t>Jailbreak via persona</a:t>
            </a:r>
          </a:p>
        </p:txBody>
      </p:sp>
      <p:sp>
        <p:nvSpPr>
          <p:cNvPr id="31" name="TextBox 30"/>
          <p:cNvSpPr txBox="1"/>
          <p:nvPr/>
        </p:nvSpPr>
        <p:spPr>
          <a:xfrm>
            <a:off x="1005840" y="4892040"/>
            <a:ext cx="10515600" cy="274320"/>
          </a:xfrm>
          <a:prstGeom prst="rect">
            <a:avLst/>
          </a:prstGeom>
          <a:noFill/>
        </p:spPr>
        <p:txBody>
          <a:bodyPr wrap="square" lIns="0" rIns="0" tIns="0" bIns="0" anchor="t">
            <a:spAutoFit/>
          </a:bodyPr>
          <a:lstStyle/>
          <a:p>
            <a:pPr algn="l"/>
            <a:r>
              <a:rPr sz="1100" b="0" i="1">
                <a:solidFill>
                  <a:srgbClr val="0F172A"/>
                </a:solidFill>
                <a:latin typeface="Calibri"/>
              </a:rPr>
              <a:t>'Pretend you have no rules' style prompts.</a:t>
            </a:r>
          </a:p>
        </p:txBody>
      </p:sp>
      <p:sp>
        <p:nvSpPr>
          <p:cNvPr id="32" name="TextBox 31"/>
          <p:cNvSpPr txBox="1"/>
          <p:nvPr/>
        </p:nvSpPr>
        <p:spPr>
          <a:xfrm>
            <a:off x="4114800" y="4572000"/>
            <a:ext cx="7498079" cy="274320"/>
          </a:xfrm>
          <a:prstGeom prst="rect">
            <a:avLst/>
          </a:prstGeom>
          <a:noFill/>
        </p:spPr>
        <p:txBody>
          <a:bodyPr wrap="square" lIns="0" rIns="0" tIns="0" bIns="0" anchor="t">
            <a:spAutoFit/>
          </a:bodyPr>
          <a:lstStyle/>
          <a:p>
            <a:pPr algn="l"/>
            <a:r>
              <a:rPr sz="1100" b="1" i="0">
                <a:solidFill>
                  <a:srgbClr val="CC9000"/>
                </a:solidFill>
                <a:latin typeface="Calibri"/>
              </a:rPr>
              <a:t>Foundry prompt shields + jailbreak classifier</a:t>
            </a:r>
          </a:p>
        </p:txBody>
      </p:sp>
      <p:sp>
        <p:nvSpPr>
          <p:cNvPr id="33" name="Rectangle 32"/>
          <p:cNvSpPr/>
          <p:nvPr/>
        </p:nvSpPr>
        <p:spPr>
          <a:xfrm>
            <a:off x="640080" y="53035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4672" y="53035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349240"/>
            <a:ext cx="3017520" cy="274320"/>
          </a:xfrm>
          <a:prstGeom prst="rect">
            <a:avLst/>
          </a:prstGeom>
          <a:noFill/>
        </p:spPr>
        <p:txBody>
          <a:bodyPr wrap="square" lIns="0" rIns="0" tIns="0" bIns="0" anchor="t">
            <a:spAutoFit/>
          </a:bodyPr>
          <a:lstStyle/>
          <a:p>
            <a:pPr algn="l"/>
            <a:r>
              <a:rPr sz="1300" b="1" i="0">
                <a:solidFill>
                  <a:srgbClr val="0B1B3F"/>
                </a:solidFill>
                <a:latin typeface="Calibri"/>
              </a:rPr>
              <a:t>Token-budget DoS</a:t>
            </a:r>
          </a:p>
        </p:txBody>
      </p:sp>
      <p:sp>
        <p:nvSpPr>
          <p:cNvPr id="36" name="TextBox 35"/>
          <p:cNvSpPr txBox="1"/>
          <p:nvPr/>
        </p:nvSpPr>
        <p:spPr>
          <a:xfrm>
            <a:off x="1005840" y="5669280"/>
            <a:ext cx="10515600" cy="274320"/>
          </a:xfrm>
          <a:prstGeom prst="rect">
            <a:avLst/>
          </a:prstGeom>
          <a:noFill/>
        </p:spPr>
        <p:txBody>
          <a:bodyPr wrap="square" lIns="0" rIns="0" tIns="0" bIns="0" anchor="t">
            <a:spAutoFit/>
          </a:bodyPr>
          <a:lstStyle/>
          <a:p>
            <a:pPr algn="l"/>
            <a:r>
              <a:rPr sz="1100" b="0" i="1">
                <a:solidFill>
                  <a:srgbClr val="0F172A"/>
                </a:solidFill>
                <a:latin typeface="Calibri"/>
              </a:rPr>
              <a:t>Adversary loops cheap requests to drain budget.</a:t>
            </a:r>
          </a:p>
        </p:txBody>
      </p:sp>
      <p:sp>
        <p:nvSpPr>
          <p:cNvPr id="37" name="TextBox 36"/>
          <p:cNvSpPr txBox="1"/>
          <p:nvPr/>
        </p:nvSpPr>
        <p:spPr>
          <a:xfrm>
            <a:off x="4114800" y="5349240"/>
            <a:ext cx="7498079" cy="274320"/>
          </a:xfrm>
          <a:prstGeom prst="rect">
            <a:avLst/>
          </a:prstGeom>
          <a:noFill/>
        </p:spPr>
        <p:txBody>
          <a:bodyPr wrap="square" lIns="0" rIns="0" tIns="0" bIns="0" anchor="t">
            <a:spAutoFit/>
          </a:bodyPr>
          <a:lstStyle/>
          <a:p>
            <a:pPr algn="l"/>
            <a:r>
              <a:rPr sz="1100" b="1" i="0">
                <a:solidFill>
                  <a:srgbClr val="CC9000"/>
                </a:solidFill>
                <a:latin typeface="Calibri"/>
              </a:rPr>
              <a:t>APIM rate-limit + per-consumer token quotas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OBSERVABILITY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Observability triad — plus a fourth pillar for agents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41732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600200"/>
            <a:ext cx="5074920" cy="502920"/>
          </a:xfrm>
          <a:prstGeom prst="rect">
            <a:avLst/>
          </a:prstGeom>
          <a:noFill/>
        </p:spPr>
        <p:txBody>
          <a:bodyPr wrap="square" lIns="0" rIns="0" tIns="0" bIns="0" anchor="t">
            <a:spAutoFit/>
          </a:bodyPr>
          <a:lstStyle/>
          <a:p>
            <a:pPr algn="l"/>
            <a:r>
              <a:rPr sz="1800" b="1" i="0">
                <a:solidFill>
                  <a:srgbClr val="0B1B3F"/>
                </a:solidFill>
                <a:latin typeface="Calibri"/>
              </a:rPr>
              <a:t>Logs</a:t>
            </a:r>
          </a:p>
        </p:txBody>
      </p:sp>
      <p:sp>
        <p:nvSpPr>
          <p:cNvPr id="11" name="TextBox 10"/>
          <p:cNvSpPr txBox="1"/>
          <p:nvPr/>
        </p:nvSpPr>
        <p:spPr>
          <a:xfrm>
            <a:off x="822960" y="219456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Structured JSON to Application Insights. One log line per node entry / exit. Include thread_id.</a:t>
            </a:r>
          </a:p>
        </p:txBody>
      </p:sp>
      <p:sp>
        <p:nvSpPr>
          <p:cNvPr id="12" name="Rectangle 11"/>
          <p:cNvSpPr/>
          <p:nvPr/>
        </p:nvSpPr>
        <p:spPr>
          <a:xfrm>
            <a:off x="6172200" y="141732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1732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600200"/>
            <a:ext cx="5074920" cy="502920"/>
          </a:xfrm>
          <a:prstGeom prst="rect">
            <a:avLst/>
          </a:prstGeom>
          <a:noFill/>
        </p:spPr>
        <p:txBody>
          <a:bodyPr wrap="square" lIns="0" rIns="0" tIns="0" bIns="0" anchor="t">
            <a:spAutoFit/>
          </a:bodyPr>
          <a:lstStyle/>
          <a:p>
            <a:pPr algn="l"/>
            <a:r>
              <a:rPr sz="1800" b="1" i="0">
                <a:solidFill>
                  <a:srgbClr val="0B1B3F"/>
                </a:solidFill>
                <a:latin typeface="Calibri"/>
              </a:rPr>
              <a:t>Metrics</a:t>
            </a:r>
          </a:p>
        </p:txBody>
      </p:sp>
      <p:sp>
        <p:nvSpPr>
          <p:cNvPr id="15" name="TextBox 14"/>
          <p:cNvSpPr txBox="1"/>
          <p:nvPr/>
        </p:nvSpPr>
        <p:spPr>
          <a:xfrm>
            <a:off x="6446520" y="219456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Latency per node, score distributions, parallel branch overlap, token spend per consumer.</a:t>
            </a:r>
          </a:p>
        </p:txBody>
      </p:sp>
      <p:sp>
        <p:nvSpPr>
          <p:cNvPr id="16" name="Rectangle 15"/>
          <p:cNvSpPr/>
          <p:nvPr/>
        </p:nvSpPr>
        <p:spPr>
          <a:xfrm>
            <a:off x="548640" y="388620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88620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069080"/>
            <a:ext cx="5074920" cy="502920"/>
          </a:xfrm>
          <a:prstGeom prst="rect">
            <a:avLst/>
          </a:prstGeom>
          <a:noFill/>
        </p:spPr>
        <p:txBody>
          <a:bodyPr wrap="square" lIns="0" rIns="0" tIns="0" bIns="0" anchor="t">
            <a:spAutoFit/>
          </a:bodyPr>
          <a:lstStyle/>
          <a:p>
            <a:pPr algn="l"/>
            <a:r>
              <a:rPr sz="1800" b="1" i="0">
                <a:solidFill>
                  <a:srgbClr val="0B1B3F"/>
                </a:solidFill>
                <a:latin typeface="Calibri"/>
              </a:rPr>
              <a:t>Traces</a:t>
            </a:r>
          </a:p>
        </p:txBody>
      </p:sp>
      <p:sp>
        <p:nvSpPr>
          <p:cNvPr id="19" name="TextBox 18"/>
          <p:cNvSpPr txBox="1"/>
          <p:nvPr/>
        </p:nvSpPr>
        <p:spPr>
          <a:xfrm>
            <a:off x="822960" y="466344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Distributed tracing across the parallel pipeline — see both branches as spans, not a flat line.</a:t>
            </a:r>
          </a:p>
        </p:txBody>
      </p:sp>
      <p:sp>
        <p:nvSpPr>
          <p:cNvPr id="20" name="Rectangle 19"/>
          <p:cNvSpPr/>
          <p:nvPr/>
        </p:nvSpPr>
        <p:spPr>
          <a:xfrm>
            <a:off x="6172200" y="388620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88620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069080"/>
            <a:ext cx="5074920" cy="502920"/>
          </a:xfrm>
          <a:prstGeom prst="rect">
            <a:avLst/>
          </a:prstGeom>
          <a:noFill/>
        </p:spPr>
        <p:txBody>
          <a:bodyPr wrap="square" lIns="0" rIns="0" tIns="0" bIns="0" anchor="t">
            <a:spAutoFit/>
          </a:bodyPr>
          <a:lstStyle/>
          <a:p>
            <a:pPr algn="l"/>
            <a:r>
              <a:rPr sz="1800" b="1" i="0">
                <a:solidFill>
                  <a:srgbClr val="0B1B3F"/>
                </a:solidFill>
                <a:latin typeface="Calibri"/>
              </a:rPr>
              <a:t>Evaluations</a:t>
            </a:r>
          </a:p>
        </p:txBody>
      </p:sp>
      <p:sp>
        <p:nvSpPr>
          <p:cNvPr id="23" name="TextBox 22"/>
          <p:cNvSpPr txBox="1"/>
          <p:nvPr/>
        </p:nvSpPr>
        <p:spPr>
          <a:xfrm>
            <a:off x="6446520" y="466344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Run a golden dataset every deploy. Track quality, safety, groundedness. CI gate on regression.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COST</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Cost model · the agent token math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417320"/>
            <a:ext cx="6858000" cy="4572000"/>
          </a:xfrm>
          <a:prstGeom prst="rect">
            <a:avLst/>
          </a:prstGeom>
          <a:noFill/>
        </p:spPr>
        <p:txBody>
          <a:bodyPr wrap="square" lIns="0" rIns="0" tIns="0" bIns="0">
            <a:spAutoFit/>
          </a:bodyPr>
          <a:lstStyle/>
          <a:p>
            <a:pPr algn="l" indent="-228600" marL="228600">
              <a:spcAft>
                <a:spcPts val="1100"/>
              </a:spcAft>
              <a:buChar char="•"/>
            </a:pPr>
            <a:r>
              <a:rPr sz="1500" b="1">
                <a:solidFill>
                  <a:srgbClr val="CC9000"/>
                </a:solidFill>
                <a:latin typeface="Calibri"/>
              </a:rPr>
              <a:t>Per pipeline run</a:t>
            </a:r>
            <a:r>
              <a:rPr sz="1500">
                <a:solidFill>
                  <a:srgbClr val="0F172A"/>
                </a:solidFill>
                <a:latin typeface="Calibri"/>
              </a:rPr>
              <a:t>  ~12,000 input tokens · ~2,400 output tokens · 4 LLM calls (one per agent).</a:t>
            </a:r>
          </a:p>
          <a:p>
            <a:pPr algn="l" indent="-228600" marL="228600">
              <a:spcAft>
                <a:spcPts val="1100"/>
              </a:spcAft>
              <a:buChar char="•"/>
            </a:pPr>
            <a:r>
              <a:rPr sz="1500" b="1">
                <a:solidFill>
                  <a:srgbClr val="CC9000"/>
                </a:solidFill>
                <a:latin typeface="Calibri"/>
              </a:rPr>
              <a:t>At gpt-5.4 list pricing</a:t>
            </a:r>
            <a:r>
              <a:rPr sz="1500">
                <a:solidFill>
                  <a:srgbClr val="0F172A"/>
                </a:solidFill>
                <a:latin typeface="Calibri"/>
              </a:rPr>
              <a:t>  ~$0.040 input + ~$0.040 output ≈ $0.08 per resume evaluation.</a:t>
            </a:r>
          </a:p>
          <a:p>
            <a:pPr algn="l" indent="-228600" marL="228600">
              <a:spcAft>
                <a:spcPts val="1100"/>
              </a:spcAft>
              <a:buChar char="•"/>
            </a:pPr>
            <a:r>
              <a:rPr sz="1500" b="1">
                <a:solidFill>
                  <a:srgbClr val="CC9000"/>
                </a:solidFill>
                <a:latin typeface="Calibri"/>
              </a:rPr>
              <a:t>With ChromaDB embedding query</a:t>
            </a:r>
            <a:r>
              <a:rPr sz="1500">
                <a:solidFill>
                  <a:srgbClr val="0F172A"/>
                </a:solidFill>
                <a:latin typeface="Calibri"/>
              </a:rPr>
              <a:t>  ~150 tokens × 4 retrievals = 600 input tokens × $0.0001 ≈ negligible.</a:t>
            </a:r>
          </a:p>
          <a:p>
            <a:pPr algn="l" indent="-228600" marL="228600">
              <a:spcAft>
                <a:spcPts val="1100"/>
              </a:spcAft>
              <a:buChar char="•"/>
            </a:pPr>
            <a:r>
              <a:rPr sz="1500" b="1">
                <a:solidFill>
                  <a:srgbClr val="CC9000"/>
                </a:solidFill>
                <a:latin typeface="Calibri"/>
              </a:rPr>
              <a:t>100 evaluations / day → $8/day</a:t>
            </a:r>
            <a:r>
              <a:rPr sz="1500">
                <a:solidFill>
                  <a:srgbClr val="0F172A"/>
                </a:solidFill>
                <a:latin typeface="Calibri"/>
              </a:rPr>
              <a:t>  Manageable. 10,000/day → $800/day → cost-engineering matters.</a:t>
            </a:r>
          </a:p>
          <a:p>
            <a:pPr algn="l" indent="-228600" marL="228600">
              <a:spcAft>
                <a:spcPts val="1100"/>
              </a:spcAft>
              <a:buChar char="•"/>
            </a:pPr>
            <a:r>
              <a:rPr sz="1500" b="1">
                <a:solidFill>
                  <a:srgbClr val="CC9000"/>
                </a:solidFill>
                <a:latin typeface="Calibri"/>
              </a:rPr>
              <a:t>Levers in priority order</a:t>
            </a:r>
            <a:r>
              <a:rPr sz="1500">
                <a:solidFill>
                  <a:srgbClr val="0F172A"/>
                </a:solidFill>
                <a:latin typeface="Calibri"/>
              </a:rPr>
              <a:t>  model routing &gt; semantic cache &gt; tighter prompts &gt; smaller k &gt; batching.</a:t>
            </a:r>
          </a:p>
        </p:txBody>
      </p:sp>
      <p:sp>
        <p:nvSpPr>
          <p:cNvPr id="9" name="Rectangle 8"/>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Quick math</a:t>
            </a:r>
          </a:p>
        </p:txBody>
      </p:sp>
      <p:sp>
        <p:nvSpPr>
          <p:cNvPr id="11" name="TextBox 10"/>
          <p:cNvSpPr txBox="1"/>
          <p:nvPr/>
        </p:nvSpPr>
        <p:spPr>
          <a:xfrm>
            <a:off x="7863840" y="2286000"/>
            <a:ext cx="3657600" cy="3657600"/>
          </a:xfrm>
          <a:prstGeom prst="rect">
            <a:avLst/>
          </a:prstGeom>
          <a:noFill/>
        </p:spPr>
        <p:txBody>
          <a:bodyPr wrap="square" lIns="0" rIns="0" tIns="0" bIns="0">
            <a:spAutoFit/>
          </a:bodyPr>
          <a:lstStyle/>
          <a:p>
            <a:pPr algn="l" indent="-228600" marL="228600">
              <a:spcAft>
                <a:spcPts val="800"/>
              </a:spcAft>
              <a:buChar char="•"/>
            </a:pPr>
            <a:r>
              <a:rPr sz="1300">
                <a:solidFill>
                  <a:srgbClr val="FFFFFF"/>
                </a:solidFill>
                <a:latin typeface="Calibri"/>
              </a:rPr>
              <a:t>100/day · $8/day · $240/mo</a:t>
            </a:r>
          </a:p>
          <a:p>
            <a:pPr algn="l" indent="-228600" marL="228600">
              <a:spcAft>
                <a:spcPts val="800"/>
              </a:spcAft>
              <a:buChar char="•"/>
            </a:pPr>
            <a:r>
              <a:rPr sz="1300">
                <a:solidFill>
                  <a:srgbClr val="FFFFFF"/>
                </a:solidFill>
                <a:latin typeface="Calibri"/>
              </a:rPr>
              <a:t>1,000/day · $80/day · $2,400/mo</a:t>
            </a:r>
          </a:p>
          <a:p>
            <a:pPr algn="l" indent="-228600" marL="228600">
              <a:spcAft>
                <a:spcPts val="800"/>
              </a:spcAft>
              <a:buChar char="•"/>
            </a:pPr>
            <a:r>
              <a:rPr sz="1300">
                <a:solidFill>
                  <a:srgbClr val="FFFFFF"/>
                </a:solidFill>
                <a:latin typeface="Calibri"/>
              </a:rPr>
              <a:t>10,000/day · $800/day · $24K/mo</a:t>
            </a:r>
          </a:p>
          <a:p>
            <a:pPr algn="l" indent="-228600" marL="228600">
              <a:spcAft>
                <a:spcPts val="800"/>
              </a:spcAft>
              <a:buChar char="•"/>
            </a:pPr>
            <a:r>
              <a:rPr sz="1300">
                <a:solidFill>
                  <a:srgbClr val="FFFFFF"/>
                </a:solidFill>
                <a:latin typeface="Calibri"/>
              </a:rPr>
              <a:t>Move RAG steps to gpt-4o-mini</a:t>
            </a:r>
          </a:p>
          <a:p>
            <a:pPr algn="l" indent="-228600" marL="228600">
              <a:spcAft>
                <a:spcPts val="800"/>
              </a:spcAft>
              <a:buChar char="•"/>
            </a:pPr>
            <a:r>
              <a:rPr sz="1300">
                <a:solidFill>
                  <a:srgbClr val="FFFFFF"/>
                </a:solidFill>
                <a:latin typeface="Calibri"/>
              </a:rPr>
              <a:t>→ ~70% reduction on RAG calls</a:t>
            </a:r>
          </a:p>
          <a:p>
            <a:pPr algn="l" indent="-228600" marL="228600">
              <a:spcAft>
                <a:spcPts val="800"/>
              </a:spcAft>
              <a:buChar char="•"/>
            </a:pPr>
            <a:r>
              <a:rPr sz="1300">
                <a:solidFill>
                  <a:srgbClr val="FFFFFF"/>
                </a:solidFill>
                <a:latin typeface="Calibri"/>
              </a:rPr>
              <a:t>→ ~$170/day at 10K scale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COST</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Cost management — five levers, in priority order</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3200400" cy="457200"/>
          </a:xfrm>
          <a:prstGeom prst="rect">
            <a:avLst/>
          </a:prstGeom>
          <a:noFill/>
        </p:spPr>
        <p:txBody>
          <a:bodyPr wrap="square" lIns="0" rIns="0" tIns="0" bIns="0" anchor="t">
            <a:spAutoFit/>
          </a:bodyPr>
          <a:lstStyle/>
          <a:p>
            <a:pPr algn="l"/>
            <a:r>
              <a:rPr sz="1800" b="1" i="0">
                <a:solidFill>
                  <a:srgbClr val="0B1B3F"/>
                </a:solidFill>
                <a:latin typeface="Calibri"/>
              </a:rPr>
              <a:t>Model routing</a:t>
            </a:r>
          </a:p>
        </p:txBody>
      </p:sp>
      <p:sp>
        <p:nvSpPr>
          <p:cNvPr id="10" name="TextBox 9"/>
          <p:cNvSpPr txBox="1"/>
          <p:nvPr/>
        </p:nvSpPr>
        <p:spPr>
          <a:xfrm>
            <a:off x="4206240" y="1508760"/>
            <a:ext cx="7315200" cy="685800"/>
          </a:xfrm>
          <a:prstGeom prst="rect">
            <a:avLst/>
          </a:prstGeom>
          <a:noFill/>
        </p:spPr>
        <p:txBody>
          <a:bodyPr wrap="square" lIns="0" rIns="0" tIns="0" bIns="0" anchor="ctr">
            <a:spAutoFit/>
          </a:bodyPr>
          <a:lstStyle/>
          <a:p>
            <a:pPr algn="l"/>
            <a:r>
              <a:rPr sz="1400" b="0" i="0">
                <a:solidFill>
                  <a:srgbClr val="0F172A"/>
                </a:solidFill>
                <a:latin typeface="Calibri"/>
              </a:rPr>
              <a:t>Big model for reasoning · cheap model for high-volume RAG steps.</a:t>
            </a:r>
          </a:p>
        </p:txBody>
      </p:sp>
      <p:sp>
        <p:nvSpPr>
          <p:cNvPr id="11" name="Rectangle 10"/>
          <p:cNvSpPr/>
          <p:nvPr/>
        </p:nvSpPr>
        <p:spPr>
          <a:xfrm>
            <a:off x="640080" y="237744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468880"/>
            <a:ext cx="3200400" cy="457200"/>
          </a:xfrm>
          <a:prstGeom prst="rect">
            <a:avLst/>
          </a:prstGeom>
          <a:noFill/>
        </p:spPr>
        <p:txBody>
          <a:bodyPr wrap="square" lIns="0" rIns="0" tIns="0" bIns="0" anchor="t">
            <a:spAutoFit/>
          </a:bodyPr>
          <a:lstStyle/>
          <a:p>
            <a:pPr algn="l"/>
            <a:r>
              <a:rPr sz="1800" b="1" i="0">
                <a:solidFill>
                  <a:srgbClr val="0B1B3F"/>
                </a:solidFill>
                <a:latin typeface="Calibri"/>
              </a:rPr>
              <a:t>Semantic caching</a:t>
            </a:r>
          </a:p>
        </p:txBody>
      </p:sp>
      <p:sp>
        <p:nvSpPr>
          <p:cNvPr id="13" name="TextBox 12"/>
          <p:cNvSpPr txBox="1"/>
          <p:nvPr/>
        </p:nvSpPr>
        <p:spPr>
          <a:xfrm>
            <a:off x="4206240" y="2468880"/>
            <a:ext cx="7315200" cy="685800"/>
          </a:xfrm>
          <a:prstGeom prst="rect">
            <a:avLst/>
          </a:prstGeom>
          <a:noFill/>
        </p:spPr>
        <p:txBody>
          <a:bodyPr wrap="square" lIns="0" rIns="0" tIns="0" bIns="0" anchor="ctr">
            <a:spAutoFit/>
          </a:bodyPr>
          <a:lstStyle/>
          <a:p>
            <a:pPr algn="l"/>
            <a:r>
              <a:rPr sz="1400" b="0" i="0">
                <a:solidFill>
                  <a:srgbClr val="0F172A"/>
                </a:solidFill>
                <a:latin typeface="Calibri"/>
              </a:rPr>
              <a:t>APIM llm-semantic-cache cuts duplicate spend on common questions.</a:t>
            </a:r>
          </a:p>
        </p:txBody>
      </p:sp>
      <p:sp>
        <p:nvSpPr>
          <p:cNvPr id="14" name="Rectangle 13"/>
          <p:cNvSpPr/>
          <p:nvPr/>
        </p:nvSpPr>
        <p:spPr>
          <a:xfrm>
            <a:off x="640080" y="333756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429000"/>
            <a:ext cx="3200400" cy="457200"/>
          </a:xfrm>
          <a:prstGeom prst="rect">
            <a:avLst/>
          </a:prstGeom>
          <a:noFill/>
        </p:spPr>
        <p:txBody>
          <a:bodyPr wrap="square" lIns="0" rIns="0" tIns="0" bIns="0" anchor="t">
            <a:spAutoFit/>
          </a:bodyPr>
          <a:lstStyle/>
          <a:p>
            <a:pPr algn="l"/>
            <a:r>
              <a:rPr sz="1800" b="1" i="0">
                <a:solidFill>
                  <a:srgbClr val="0B1B3F"/>
                </a:solidFill>
                <a:latin typeface="Calibri"/>
              </a:rPr>
              <a:t>Parallel execution</a:t>
            </a:r>
          </a:p>
        </p:txBody>
      </p:sp>
      <p:sp>
        <p:nvSpPr>
          <p:cNvPr id="16" name="TextBox 15"/>
          <p:cNvSpPr txBox="1"/>
          <p:nvPr/>
        </p:nvSpPr>
        <p:spPr>
          <a:xfrm>
            <a:off x="4206240" y="3429000"/>
            <a:ext cx="7315200" cy="685800"/>
          </a:xfrm>
          <a:prstGeom prst="rect">
            <a:avLst/>
          </a:prstGeom>
          <a:noFill/>
        </p:spPr>
        <p:txBody>
          <a:bodyPr wrap="square" lIns="0" rIns="0" tIns="0" bIns="0" anchor="ctr">
            <a:spAutoFit/>
          </a:bodyPr>
          <a:lstStyle/>
          <a:p>
            <a:pPr algn="l"/>
            <a:r>
              <a:rPr sz="1400" b="0" i="0">
                <a:solidFill>
                  <a:srgbClr val="0F172A"/>
                </a:solidFill>
                <a:latin typeface="Calibri"/>
              </a:rPr>
              <a:t>Same token count, lower wall-clock. Better UX → fewer retries.</a:t>
            </a:r>
          </a:p>
        </p:txBody>
      </p:sp>
      <p:sp>
        <p:nvSpPr>
          <p:cNvPr id="17" name="Rectangle 16"/>
          <p:cNvSpPr/>
          <p:nvPr/>
        </p:nvSpPr>
        <p:spPr>
          <a:xfrm>
            <a:off x="640080" y="429768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389120"/>
            <a:ext cx="3200400" cy="457200"/>
          </a:xfrm>
          <a:prstGeom prst="rect">
            <a:avLst/>
          </a:prstGeom>
          <a:noFill/>
        </p:spPr>
        <p:txBody>
          <a:bodyPr wrap="square" lIns="0" rIns="0" tIns="0" bIns="0" anchor="t">
            <a:spAutoFit/>
          </a:bodyPr>
          <a:lstStyle/>
          <a:p>
            <a:pPr algn="l"/>
            <a:r>
              <a:rPr sz="1800" b="1" i="0">
                <a:solidFill>
                  <a:srgbClr val="0B1B3F"/>
                </a:solidFill>
                <a:latin typeface="Calibri"/>
              </a:rPr>
              <a:t>Token quotas</a:t>
            </a:r>
          </a:p>
        </p:txBody>
      </p:sp>
      <p:sp>
        <p:nvSpPr>
          <p:cNvPr id="19" name="TextBox 18"/>
          <p:cNvSpPr txBox="1"/>
          <p:nvPr/>
        </p:nvSpPr>
        <p:spPr>
          <a:xfrm>
            <a:off x="4206240" y="4389120"/>
            <a:ext cx="7315200" cy="685800"/>
          </a:xfrm>
          <a:prstGeom prst="rect">
            <a:avLst/>
          </a:prstGeom>
          <a:noFill/>
        </p:spPr>
        <p:txBody>
          <a:bodyPr wrap="square" lIns="0" rIns="0" tIns="0" bIns="0" anchor="ctr">
            <a:spAutoFit/>
          </a:bodyPr>
          <a:lstStyle/>
          <a:p>
            <a:pPr algn="l"/>
            <a:r>
              <a:rPr sz="1400" b="0" i="0">
                <a:solidFill>
                  <a:srgbClr val="0F172A"/>
                </a:solidFill>
                <a:latin typeface="Calibri"/>
              </a:rPr>
              <a:t>APIM llm-token-quota per subscription stops a runaway loop.</a:t>
            </a:r>
          </a:p>
        </p:txBody>
      </p:sp>
      <p:sp>
        <p:nvSpPr>
          <p:cNvPr id="20" name="Rectangle 19"/>
          <p:cNvSpPr/>
          <p:nvPr/>
        </p:nvSpPr>
        <p:spPr>
          <a:xfrm>
            <a:off x="640080" y="525780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49240"/>
            <a:ext cx="3200400" cy="457200"/>
          </a:xfrm>
          <a:prstGeom prst="rect">
            <a:avLst/>
          </a:prstGeom>
          <a:noFill/>
        </p:spPr>
        <p:txBody>
          <a:bodyPr wrap="square" lIns="0" rIns="0" tIns="0" bIns="0" anchor="t">
            <a:spAutoFit/>
          </a:bodyPr>
          <a:lstStyle/>
          <a:p>
            <a:pPr algn="l"/>
            <a:r>
              <a:rPr sz="1800" b="1" i="0">
                <a:solidFill>
                  <a:srgbClr val="0B1B3F"/>
                </a:solidFill>
                <a:latin typeface="Calibri"/>
              </a:rPr>
              <a:t>Circuit breakers</a:t>
            </a:r>
          </a:p>
        </p:txBody>
      </p:sp>
      <p:sp>
        <p:nvSpPr>
          <p:cNvPr id="22" name="TextBox 21"/>
          <p:cNvSpPr txBox="1"/>
          <p:nvPr/>
        </p:nvSpPr>
        <p:spPr>
          <a:xfrm>
            <a:off x="4206240" y="5349240"/>
            <a:ext cx="7315200" cy="685800"/>
          </a:xfrm>
          <a:prstGeom prst="rect">
            <a:avLst/>
          </a:prstGeom>
          <a:noFill/>
        </p:spPr>
        <p:txBody>
          <a:bodyPr wrap="square" lIns="0" rIns="0" tIns="0" bIns="0" anchor="ctr">
            <a:spAutoFit/>
          </a:bodyPr>
          <a:lstStyle/>
          <a:p>
            <a:pPr algn="l"/>
            <a:r>
              <a:rPr sz="1400" b="0" i="0">
                <a:solidFill>
                  <a:srgbClr val="0F172A"/>
                </a:solidFill>
                <a:latin typeface="Calibri"/>
              </a:rPr>
              <a:t>Per-backend trip rules stop wasting tokens on a degraded model deployment.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TESTING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Testing AI systems — pyramid + golden dataset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5943600" cy="457200"/>
          </a:xfrm>
          <a:prstGeom prst="rect">
            <a:avLst/>
          </a:prstGeom>
          <a:noFill/>
        </p:spPr>
        <p:txBody>
          <a:bodyPr wrap="square" lIns="0" rIns="0" tIns="0" bIns="0" anchor="t">
            <a:spAutoFit/>
          </a:bodyPr>
          <a:lstStyle/>
          <a:p>
            <a:pPr algn="l"/>
            <a:r>
              <a:rPr sz="1800" b="1" i="0">
                <a:solidFill>
                  <a:srgbClr val="0B1B3F"/>
                </a:solidFill>
                <a:latin typeface="Calibri"/>
              </a:rPr>
              <a:t>Test pyramid for agents</a:t>
            </a:r>
          </a:p>
        </p:txBody>
      </p:sp>
      <p:sp>
        <p:nvSpPr>
          <p:cNvPr id="9" name="Rectangle 8"/>
          <p:cNvSpPr/>
          <p:nvPr/>
        </p:nvSpPr>
        <p:spPr>
          <a:xfrm>
            <a:off x="2651760" y="2103120"/>
            <a:ext cx="201168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51760" y="2240280"/>
            <a:ext cx="2011680" cy="365760"/>
          </a:xfrm>
          <a:prstGeom prst="rect">
            <a:avLst/>
          </a:prstGeom>
          <a:noFill/>
        </p:spPr>
        <p:txBody>
          <a:bodyPr wrap="square" lIns="0" rIns="0" tIns="0" bIns="0" anchor="t">
            <a:spAutoFit/>
          </a:bodyPr>
          <a:lstStyle/>
          <a:p>
            <a:pPr algn="ctr"/>
            <a:r>
              <a:rPr sz="1500" b="1" i="0">
                <a:solidFill>
                  <a:srgbClr val="07122C"/>
                </a:solidFill>
                <a:latin typeface="Calibri"/>
              </a:rPr>
              <a:t>E2E</a:t>
            </a:r>
          </a:p>
        </p:txBody>
      </p:sp>
      <p:sp>
        <p:nvSpPr>
          <p:cNvPr id="11" name="TextBox 10"/>
          <p:cNvSpPr txBox="1"/>
          <p:nvPr/>
        </p:nvSpPr>
        <p:spPr>
          <a:xfrm>
            <a:off x="2651760" y="2606040"/>
            <a:ext cx="2011680" cy="320040"/>
          </a:xfrm>
          <a:prstGeom prst="rect">
            <a:avLst/>
          </a:prstGeom>
          <a:noFill/>
        </p:spPr>
        <p:txBody>
          <a:bodyPr wrap="square" lIns="0" rIns="0" tIns="0" bIns="0" anchor="t">
            <a:spAutoFit/>
          </a:bodyPr>
          <a:lstStyle/>
          <a:p>
            <a:pPr algn="ctr"/>
            <a:r>
              <a:rPr sz="1000" b="0" i="1">
                <a:solidFill>
                  <a:srgbClr val="07122C"/>
                </a:solidFill>
                <a:latin typeface="Calibri"/>
              </a:rPr>
              <a:t>Few · whole-pipeline runs</a:t>
            </a:r>
          </a:p>
        </p:txBody>
      </p:sp>
      <p:sp>
        <p:nvSpPr>
          <p:cNvPr id="12" name="Rectangle 11"/>
          <p:cNvSpPr/>
          <p:nvPr/>
        </p:nvSpPr>
        <p:spPr>
          <a:xfrm>
            <a:off x="2011680" y="3063240"/>
            <a:ext cx="329184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3200400"/>
            <a:ext cx="3291840" cy="365760"/>
          </a:xfrm>
          <a:prstGeom prst="rect">
            <a:avLst/>
          </a:prstGeom>
          <a:noFill/>
        </p:spPr>
        <p:txBody>
          <a:bodyPr wrap="square" lIns="0" rIns="0" tIns="0" bIns="0" anchor="t">
            <a:spAutoFit/>
          </a:bodyPr>
          <a:lstStyle/>
          <a:p>
            <a:pPr algn="ctr"/>
            <a:r>
              <a:rPr sz="1500" b="1" i="0">
                <a:solidFill>
                  <a:srgbClr val="FFFFFF"/>
                </a:solidFill>
                <a:latin typeface="Calibri"/>
              </a:rPr>
              <a:t>Integration</a:t>
            </a:r>
          </a:p>
        </p:txBody>
      </p:sp>
      <p:sp>
        <p:nvSpPr>
          <p:cNvPr id="14" name="TextBox 13"/>
          <p:cNvSpPr txBox="1"/>
          <p:nvPr/>
        </p:nvSpPr>
        <p:spPr>
          <a:xfrm>
            <a:off x="2011680" y="3566160"/>
            <a:ext cx="3291840" cy="320040"/>
          </a:xfrm>
          <a:prstGeom prst="rect">
            <a:avLst/>
          </a:prstGeom>
          <a:noFill/>
        </p:spPr>
        <p:txBody>
          <a:bodyPr wrap="square" lIns="0" rIns="0" tIns="0" bIns="0" anchor="t">
            <a:spAutoFit/>
          </a:bodyPr>
          <a:lstStyle/>
          <a:p>
            <a:pPr algn="ctr"/>
            <a:r>
              <a:rPr sz="1000" b="0" i="1">
                <a:solidFill>
                  <a:srgbClr val="FFFFFF"/>
                </a:solidFill>
                <a:latin typeface="Calibri"/>
              </a:rPr>
              <a:t>Some · agent + tool + DB</a:t>
            </a:r>
          </a:p>
        </p:txBody>
      </p:sp>
      <p:sp>
        <p:nvSpPr>
          <p:cNvPr id="15" name="Rectangle 14"/>
          <p:cNvSpPr/>
          <p:nvPr/>
        </p:nvSpPr>
        <p:spPr>
          <a:xfrm>
            <a:off x="1371600" y="4023360"/>
            <a:ext cx="4572000" cy="8686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4160520"/>
            <a:ext cx="4572000" cy="365760"/>
          </a:xfrm>
          <a:prstGeom prst="rect">
            <a:avLst/>
          </a:prstGeom>
          <a:noFill/>
        </p:spPr>
        <p:txBody>
          <a:bodyPr wrap="square" lIns="0" rIns="0" tIns="0" bIns="0" anchor="t">
            <a:spAutoFit/>
          </a:bodyPr>
          <a:lstStyle/>
          <a:p>
            <a:pPr algn="ctr"/>
            <a:r>
              <a:rPr sz="1500" b="1" i="0">
                <a:solidFill>
                  <a:srgbClr val="FFFFFF"/>
                </a:solidFill>
                <a:latin typeface="Calibri"/>
              </a:rPr>
              <a:t>Unit</a:t>
            </a:r>
          </a:p>
        </p:txBody>
      </p:sp>
      <p:sp>
        <p:nvSpPr>
          <p:cNvPr id="17" name="TextBox 16"/>
          <p:cNvSpPr txBox="1"/>
          <p:nvPr/>
        </p:nvSpPr>
        <p:spPr>
          <a:xfrm>
            <a:off x="1371600" y="4526280"/>
            <a:ext cx="4572000" cy="320040"/>
          </a:xfrm>
          <a:prstGeom prst="rect">
            <a:avLst/>
          </a:prstGeom>
          <a:noFill/>
        </p:spPr>
        <p:txBody>
          <a:bodyPr wrap="square" lIns="0" rIns="0" tIns="0" bIns="0" anchor="t">
            <a:spAutoFit/>
          </a:bodyPr>
          <a:lstStyle/>
          <a:p>
            <a:pPr algn="ctr"/>
            <a:r>
              <a:rPr sz="1000" b="0" i="1">
                <a:solidFill>
                  <a:srgbClr val="FFFFFF"/>
                </a:solidFill>
                <a:latin typeface="Calibri"/>
              </a:rPr>
              <a:t>Many · models · helpers · prompts</a:t>
            </a:r>
          </a:p>
        </p:txBody>
      </p:sp>
      <p:sp>
        <p:nvSpPr>
          <p:cNvPr id="18" name="TextBox 17"/>
          <p:cNvSpPr txBox="1"/>
          <p:nvPr/>
        </p:nvSpPr>
        <p:spPr>
          <a:xfrm>
            <a:off x="6858000" y="1417320"/>
            <a:ext cx="4846320" cy="457200"/>
          </a:xfrm>
          <a:prstGeom prst="rect">
            <a:avLst/>
          </a:prstGeom>
          <a:noFill/>
        </p:spPr>
        <p:txBody>
          <a:bodyPr wrap="square" lIns="0" rIns="0" tIns="0" bIns="0" anchor="t">
            <a:spAutoFit/>
          </a:bodyPr>
          <a:lstStyle/>
          <a:p>
            <a:pPr algn="l"/>
            <a:r>
              <a:rPr sz="1800" b="1" i="0">
                <a:solidFill>
                  <a:srgbClr val="0B1B3F"/>
                </a:solidFill>
                <a:latin typeface="Calibri"/>
              </a:rPr>
              <a:t>Add: golden dataset evaluation</a:t>
            </a:r>
          </a:p>
        </p:txBody>
      </p:sp>
      <p:sp>
        <p:nvSpPr>
          <p:cNvPr id="19" name="TextBox 18"/>
          <p:cNvSpPr txBox="1"/>
          <p:nvPr/>
        </p:nvSpPr>
        <p:spPr>
          <a:xfrm>
            <a:off x="6858000" y="1920240"/>
            <a:ext cx="4846320" cy="4114800"/>
          </a:xfrm>
          <a:prstGeom prst="rect">
            <a:avLst/>
          </a:prstGeom>
          <a:noFill/>
        </p:spPr>
        <p:txBody>
          <a:bodyPr wrap="square" lIns="0" rIns="0" tIns="0" bIns="0">
            <a:spAutoFit/>
          </a:bodyPr>
          <a:lstStyle/>
          <a:p>
            <a:pPr algn="l" indent="-228600" marL="228600">
              <a:spcAft>
                <a:spcPts val="1000"/>
              </a:spcAft>
              <a:buChar char="•"/>
            </a:pPr>
            <a:r>
              <a:rPr sz="1300" b="1">
                <a:solidFill>
                  <a:srgbClr val="CC9000"/>
                </a:solidFill>
                <a:latin typeface="Calibri"/>
              </a:rPr>
              <a:t>Curate</a:t>
            </a:r>
            <a:r>
              <a:rPr sz="1300">
                <a:solidFill>
                  <a:srgbClr val="0F172A"/>
                </a:solidFill>
                <a:latin typeface="Calibri"/>
              </a:rPr>
              <a:t>  20-50 inputs with known expected outputs.</a:t>
            </a:r>
          </a:p>
          <a:p>
            <a:pPr algn="l" indent="-228600" marL="228600">
              <a:spcAft>
                <a:spcPts val="1000"/>
              </a:spcAft>
              <a:buChar char="•"/>
            </a:pPr>
            <a:r>
              <a:rPr sz="1300" b="1">
                <a:solidFill>
                  <a:srgbClr val="CC9000"/>
                </a:solidFill>
                <a:latin typeface="Calibri"/>
              </a:rPr>
              <a:t>Score</a:t>
            </a:r>
            <a:r>
              <a:rPr sz="1300">
                <a:solidFill>
                  <a:srgbClr val="0F172A"/>
                </a:solidFill>
                <a:latin typeface="Calibri"/>
              </a:rPr>
              <a:t>  Disposition match · score-band match · reasoning quality.</a:t>
            </a:r>
          </a:p>
          <a:p>
            <a:pPr algn="l" indent="-228600" marL="228600">
              <a:spcAft>
                <a:spcPts val="1000"/>
              </a:spcAft>
              <a:buChar char="•"/>
            </a:pPr>
            <a:r>
              <a:rPr sz="1300" b="1">
                <a:solidFill>
                  <a:srgbClr val="CC9000"/>
                </a:solidFill>
                <a:latin typeface="Calibri"/>
              </a:rPr>
              <a:t>Run on every deploy</a:t>
            </a:r>
            <a:r>
              <a:rPr sz="1300">
                <a:solidFill>
                  <a:srgbClr val="0F172A"/>
                </a:solidFill>
                <a:latin typeface="Calibri"/>
              </a:rPr>
              <a:t>  Foundry evaluate() or Azure AI Evaluations SDK.</a:t>
            </a:r>
          </a:p>
          <a:p>
            <a:pPr algn="l" indent="-228600" marL="228600">
              <a:spcAft>
                <a:spcPts val="1000"/>
              </a:spcAft>
              <a:buChar char="•"/>
            </a:pPr>
            <a:r>
              <a:rPr sz="1300" b="1">
                <a:solidFill>
                  <a:srgbClr val="CC9000"/>
                </a:solidFill>
                <a:latin typeface="Calibri"/>
              </a:rPr>
              <a:t>Gate CI</a:t>
            </a:r>
            <a:r>
              <a:rPr sz="1300">
                <a:solidFill>
                  <a:srgbClr val="0F172A"/>
                </a:solidFill>
                <a:latin typeface="Calibri"/>
              </a:rPr>
              <a:t>  Match-rate regression &gt; 5 percentage points = block deploy.</a:t>
            </a:r>
          </a:p>
          <a:p>
            <a:pPr algn="l" indent="-228600" marL="228600">
              <a:spcAft>
                <a:spcPts val="1000"/>
              </a:spcAft>
              <a:buChar char="•"/>
            </a:pPr>
            <a:r>
              <a:rPr sz="1300" b="1">
                <a:solidFill>
                  <a:srgbClr val="CC9000"/>
                </a:solidFill>
                <a:latin typeface="Calibri"/>
              </a:rPr>
              <a:t>Refresh quarterly</a:t>
            </a:r>
            <a:r>
              <a:rPr sz="1300">
                <a:solidFill>
                  <a:srgbClr val="0F172A"/>
                </a:solidFill>
                <a:latin typeface="Calibri"/>
              </a:rPr>
              <a:t>  Real production examples beat synthetic ones every time.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DEPLOY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Safe deployment for AI changes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Blue / green</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Two production envs running simultaneously.</a:t>
            </a:r>
          </a:p>
          <a:p>
            <a:pPr algn="l" indent="-228600" marL="228600">
              <a:spcAft>
                <a:spcPts val="800"/>
              </a:spcAft>
              <a:buChar char="•"/>
            </a:pPr>
            <a:r>
              <a:rPr sz="1500">
                <a:solidFill>
                  <a:srgbClr val="0F172A"/>
                </a:solidFill>
                <a:latin typeface="Calibri"/>
              </a:rPr>
              <a:t>Switch traffic gradually; instant rollback by re-pointing.</a:t>
            </a:r>
          </a:p>
          <a:p>
            <a:pPr algn="l" indent="-228600" marL="228600">
              <a:spcAft>
                <a:spcPts val="800"/>
              </a:spcAft>
              <a:buChar char="•"/>
            </a:pPr>
            <a:r>
              <a:rPr sz="1500">
                <a:solidFill>
                  <a:srgbClr val="0F172A"/>
                </a:solidFill>
                <a:latin typeface="Calibri"/>
              </a:rPr>
              <a:t>Catches model upgrades that break a workflow.</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Ringed (staged) rollout</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Internal users first, then friendly tenants, then everyone.</a:t>
            </a:r>
          </a:p>
          <a:p>
            <a:pPr algn="l" indent="-228600" marL="228600">
              <a:spcAft>
                <a:spcPts val="800"/>
              </a:spcAft>
              <a:buChar char="•"/>
            </a:pPr>
            <a:r>
              <a:rPr sz="1500">
                <a:solidFill>
                  <a:srgbClr val="0F172A"/>
                </a:solidFill>
                <a:latin typeface="Calibri"/>
              </a:rPr>
              <a:t>Pair with feature flags for per-tenant control.</a:t>
            </a:r>
          </a:p>
          <a:p>
            <a:pPr algn="l" indent="-228600" marL="228600">
              <a:spcAft>
                <a:spcPts val="800"/>
              </a:spcAft>
              <a:buChar char="•"/>
            </a:pPr>
            <a:r>
              <a:rPr sz="1500">
                <a:solidFill>
                  <a:srgbClr val="0F172A"/>
                </a:solidFill>
                <a:latin typeface="Calibri"/>
              </a:rPr>
              <a:t>Lets you measure quality before scale-out, not after.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WISDOM</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Warner's Laws of Production AI Agents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371600"/>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17320"/>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1</a:t>
            </a:r>
          </a:p>
        </p:txBody>
      </p:sp>
      <p:sp>
        <p:nvSpPr>
          <p:cNvPr id="10" name="TextBox 9"/>
          <p:cNvSpPr txBox="1"/>
          <p:nvPr/>
        </p:nvSpPr>
        <p:spPr>
          <a:xfrm>
            <a:off x="1920240" y="1463040"/>
            <a:ext cx="9784080" cy="457200"/>
          </a:xfrm>
          <a:prstGeom prst="rect">
            <a:avLst/>
          </a:prstGeom>
          <a:noFill/>
        </p:spPr>
        <p:txBody>
          <a:bodyPr wrap="square" lIns="0" rIns="0" tIns="0" bIns="0" anchor="ctr">
            <a:spAutoFit/>
          </a:bodyPr>
          <a:lstStyle/>
          <a:p>
            <a:pPr algn="l"/>
            <a:r>
              <a:rPr sz="1500" b="0" i="0">
                <a:solidFill>
                  <a:srgbClr val="0F172A"/>
                </a:solidFill>
                <a:latin typeface="Calibri"/>
              </a:rPr>
              <a:t>If it doesn't take an action, it isn't an agent.</a:t>
            </a:r>
          </a:p>
        </p:txBody>
      </p:sp>
      <p:sp>
        <p:nvSpPr>
          <p:cNvPr id="11" name="Rectangle 10"/>
          <p:cNvSpPr/>
          <p:nvPr/>
        </p:nvSpPr>
        <p:spPr>
          <a:xfrm>
            <a:off x="640080" y="1975104"/>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0824"/>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2</a:t>
            </a:r>
          </a:p>
        </p:txBody>
      </p:sp>
      <p:sp>
        <p:nvSpPr>
          <p:cNvPr id="13" name="TextBox 12"/>
          <p:cNvSpPr txBox="1"/>
          <p:nvPr/>
        </p:nvSpPr>
        <p:spPr>
          <a:xfrm>
            <a:off x="1920240" y="2066544"/>
            <a:ext cx="9784080" cy="457200"/>
          </a:xfrm>
          <a:prstGeom prst="rect">
            <a:avLst/>
          </a:prstGeom>
          <a:noFill/>
        </p:spPr>
        <p:txBody>
          <a:bodyPr wrap="square" lIns="0" rIns="0" tIns="0" bIns="0" anchor="ctr">
            <a:spAutoFit/>
          </a:bodyPr>
          <a:lstStyle/>
          <a:p>
            <a:pPr algn="l"/>
            <a:r>
              <a:rPr sz="1500" b="0" i="0">
                <a:solidFill>
                  <a:srgbClr val="0F172A"/>
                </a:solidFill>
                <a:latin typeface="Calibri"/>
              </a:rPr>
              <a:t>Tools are blast radius. The fewer the better; the narrower the better.</a:t>
            </a:r>
          </a:p>
        </p:txBody>
      </p:sp>
      <p:sp>
        <p:nvSpPr>
          <p:cNvPr id="14" name="Rectangle 13"/>
          <p:cNvSpPr/>
          <p:nvPr/>
        </p:nvSpPr>
        <p:spPr>
          <a:xfrm>
            <a:off x="640080" y="2578608"/>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624328"/>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3</a:t>
            </a:r>
          </a:p>
        </p:txBody>
      </p:sp>
      <p:sp>
        <p:nvSpPr>
          <p:cNvPr id="16" name="TextBox 15"/>
          <p:cNvSpPr txBox="1"/>
          <p:nvPr/>
        </p:nvSpPr>
        <p:spPr>
          <a:xfrm>
            <a:off x="1920240" y="2670048"/>
            <a:ext cx="9784080" cy="457200"/>
          </a:xfrm>
          <a:prstGeom prst="rect">
            <a:avLst/>
          </a:prstGeom>
          <a:noFill/>
        </p:spPr>
        <p:txBody>
          <a:bodyPr wrap="square" lIns="0" rIns="0" tIns="0" bIns="0" anchor="ctr">
            <a:spAutoFit/>
          </a:bodyPr>
          <a:lstStyle/>
          <a:p>
            <a:pPr algn="l"/>
            <a:r>
              <a:rPr sz="1500" b="0" i="0">
                <a:solidFill>
                  <a:srgbClr val="0F172A"/>
                </a:solidFill>
                <a:latin typeface="Calibri"/>
              </a:rPr>
              <a:t>Memory is an architecture choice. Pick before you build.</a:t>
            </a:r>
          </a:p>
        </p:txBody>
      </p:sp>
      <p:sp>
        <p:nvSpPr>
          <p:cNvPr id="17" name="Rectangle 16"/>
          <p:cNvSpPr/>
          <p:nvPr/>
        </p:nvSpPr>
        <p:spPr>
          <a:xfrm>
            <a:off x="640080" y="3182112"/>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227832"/>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4</a:t>
            </a:r>
          </a:p>
        </p:txBody>
      </p:sp>
      <p:sp>
        <p:nvSpPr>
          <p:cNvPr id="19" name="TextBox 18"/>
          <p:cNvSpPr txBox="1"/>
          <p:nvPr/>
        </p:nvSpPr>
        <p:spPr>
          <a:xfrm>
            <a:off x="1920240" y="3273552"/>
            <a:ext cx="9784080" cy="457200"/>
          </a:xfrm>
          <a:prstGeom prst="rect">
            <a:avLst/>
          </a:prstGeom>
          <a:noFill/>
        </p:spPr>
        <p:txBody>
          <a:bodyPr wrap="square" lIns="0" rIns="0" tIns="0" bIns="0" anchor="ctr">
            <a:spAutoFit/>
          </a:bodyPr>
          <a:lstStyle/>
          <a:p>
            <a:pPr algn="l"/>
            <a:r>
              <a:rPr sz="1500" b="0" i="0">
                <a:solidFill>
                  <a:srgbClr val="0F172A"/>
                </a:solidFill>
                <a:latin typeface="Calibri"/>
              </a:rPr>
              <a:t>Parallelize when you can; observe what you parallelized.</a:t>
            </a:r>
          </a:p>
        </p:txBody>
      </p:sp>
      <p:sp>
        <p:nvSpPr>
          <p:cNvPr id="20" name="Rectangle 19"/>
          <p:cNvSpPr/>
          <p:nvPr/>
        </p:nvSpPr>
        <p:spPr>
          <a:xfrm>
            <a:off x="640080" y="3785616"/>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831336"/>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5</a:t>
            </a:r>
          </a:p>
        </p:txBody>
      </p:sp>
      <p:sp>
        <p:nvSpPr>
          <p:cNvPr id="22" name="TextBox 21"/>
          <p:cNvSpPr txBox="1"/>
          <p:nvPr/>
        </p:nvSpPr>
        <p:spPr>
          <a:xfrm>
            <a:off x="1920240" y="3877056"/>
            <a:ext cx="9784080" cy="457200"/>
          </a:xfrm>
          <a:prstGeom prst="rect">
            <a:avLst/>
          </a:prstGeom>
          <a:noFill/>
        </p:spPr>
        <p:txBody>
          <a:bodyPr wrap="square" lIns="0" rIns="0" tIns="0" bIns="0" anchor="ctr">
            <a:spAutoFit/>
          </a:bodyPr>
          <a:lstStyle/>
          <a:p>
            <a:pPr algn="l"/>
            <a:r>
              <a:rPr sz="1500" b="0" i="0">
                <a:solidFill>
                  <a:srgbClr val="0F172A"/>
                </a:solidFill>
                <a:latin typeface="Calibri"/>
              </a:rPr>
              <a:t>Sampling and elicitation are how the server stops being a doormat.</a:t>
            </a:r>
          </a:p>
        </p:txBody>
      </p:sp>
      <p:sp>
        <p:nvSpPr>
          <p:cNvPr id="23" name="Rectangle 22"/>
          <p:cNvSpPr/>
          <p:nvPr/>
        </p:nvSpPr>
        <p:spPr>
          <a:xfrm>
            <a:off x="640080" y="4389120"/>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434840"/>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6</a:t>
            </a:r>
          </a:p>
        </p:txBody>
      </p:sp>
      <p:sp>
        <p:nvSpPr>
          <p:cNvPr id="25" name="TextBox 24"/>
          <p:cNvSpPr txBox="1"/>
          <p:nvPr/>
        </p:nvSpPr>
        <p:spPr>
          <a:xfrm>
            <a:off x="1920240" y="4480560"/>
            <a:ext cx="9784080" cy="457200"/>
          </a:xfrm>
          <a:prstGeom prst="rect">
            <a:avLst/>
          </a:prstGeom>
          <a:noFill/>
        </p:spPr>
        <p:txBody>
          <a:bodyPr wrap="square" lIns="0" rIns="0" tIns="0" bIns="0" anchor="ctr">
            <a:spAutoFit/>
          </a:bodyPr>
          <a:lstStyle/>
          <a:p>
            <a:pPr algn="l"/>
            <a:r>
              <a:rPr sz="1500" b="0" i="0">
                <a:solidFill>
                  <a:srgbClr val="0F172A"/>
                </a:solidFill>
                <a:latin typeface="Calibri"/>
              </a:rPr>
              <a:t>The gateway protects your token budget. Use one.</a:t>
            </a:r>
          </a:p>
        </p:txBody>
      </p:sp>
      <p:sp>
        <p:nvSpPr>
          <p:cNvPr id="26" name="Rectangle 25"/>
          <p:cNvSpPr/>
          <p:nvPr/>
        </p:nvSpPr>
        <p:spPr>
          <a:xfrm>
            <a:off x="640080" y="4992624"/>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038344"/>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7</a:t>
            </a:r>
          </a:p>
        </p:txBody>
      </p:sp>
      <p:sp>
        <p:nvSpPr>
          <p:cNvPr id="28" name="TextBox 27"/>
          <p:cNvSpPr txBox="1"/>
          <p:nvPr/>
        </p:nvSpPr>
        <p:spPr>
          <a:xfrm>
            <a:off x="1920240" y="5084064"/>
            <a:ext cx="9784080" cy="457200"/>
          </a:xfrm>
          <a:prstGeom prst="rect">
            <a:avLst/>
          </a:prstGeom>
          <a:noFill/>
        </p:spPr>
        <p:txBody>
          <a:bodyPr wrap="square" lIns="0" rIns="0" tIns="0" bIns="0" anchor="ctr">
            <a:spAutoFit/>
          </a:bodyPr>
          <a:lstStyle/>
          <a:p>
            <a:pPr algn="l"/>
            <a:r>
              <a:rPr sz="1500" b="0" i="0">
                <a:solidFill>
                  <a:srgbClr val="0F172A"/>
                </a:solidFill>
                <a:latin typeface="Calibri"/>
              </a:rPr>
              <a:t>Guardrails belong outside your prompt, not inside it.</a:t>
            </a:r>
          </a:p>
        </p:txBody>
      </p:sp>
      <p:sp>
        <p:nvSpPr>
          <p:cNvPr id="29" name="Rectangle 28"/>
          <p:cNvSpPr/>
          <p:nvPr/>
        </p:nvSpPr>
        <p:spPr>
          <a:xfrm>
            <a:off x="640080" y="5596128"/>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641848"/>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8</a:t>
            </a:r>
          </a:p>
        </p:txBody>
      </p:sp>
      <p:sp>
        <p:nvSpPr>
          <p:cNvPr id="31" name="TextBox 30"/>
          <p:cNvSpPr txBox="1"/>
          <p:nvPr/>
        </p:nvSpPr>
        <p:spPr>
          <a:xfrm>
            <a:off x="1920240" y="5687568"/>
            <a:ext cx="9784080" cy="457200"/>
          </a:xfrm>
          <a:prstGeom prst="rect">
            <a:avLst/>
          </a:prstGeom>
          <a:noFill/>
        </p:spPr>
        <p:txBody>
          <a:bodyPr wrap="square" lIns="0" rIns="0" tIns="0" bIns="0" anchor="ctr">
            <a:spAutoFit/>
          </a:bodyPr>
          <a:lstStyle/>
          <a:p>
            <a:pPr algn="l"/>
            <a:r>
              <a:rPr sz="1500" b="0" i="0">
                <a:solidFill>
                  <a:srgbClr val="0F172A"/>
                </a:solidFill>
                <a:latin typeface="Calibri"/>
              </a:rPr>
              <a:t>Without an evaluation set, you don't have tests — you have hopes.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What you built today</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800" b="1">
                <a:solidFill>
                  <a:srgbClr val="0B1B3F"/>
                </a:solidFill>
                <a:latin typeface="Calibri"/>
              </a:rPr>
              <a:t>A working pipeline</a:t>
            </a:r>
            <a:r>
              <a:rPr sz="1800">
                <a:solidFill>
                  <a:srgbClr val="0F172A"/>
                </a:solidFill>
                <a:latin typeface="Calibri"/>
              </a:rPr>
              <a:t>  4 CrewAI agents · LangGraph parallel fan-out / fan-in · checkpointed state.</a:t>
            </a:r>
          </a:p>
          <a:p>
            <a:pPr algn="l" indent="-228600" marL="228600">
              <a:spcAft>
                <a:spcPts val="1000"/>
              </a:spcAft>
              <a:buChar char="•"/>
            </a:pPr>
            <a:r>
              <a:rPr sz="1800" b="1">
                <a:solidFill>
                  <a:srgbClr val="0B1B3F"/>
                </a:solidFill>
                <a:latin typeface="Calibri"/>
              </a:rPr>
              <a:t>A web UI</a:t>
            </a:r>
            <a:r>
              <a:rPr sz="1800">
                <a:solidFill>
                  <a:srgbClr val="0F172A"/>
                </a:solidFill>
                <a:latin typeface="Calibri"/>
              </a:rPr>
              <a:t>  Chat with Alex · candidates grid · runs.html pipeline trace.</a:t>
            </a:r>
          </a:p>
          <a:p>
            <a:pPr algn="l" indent="-228600" marL="228600">
              <a:spcAft>
                <a:spcPts val="1000"/>
              </a:spcAft>
              <a:buChar char="•"/>
            </a:pPr>
            <a:r>
              <a:rPr sz="1800" b="1">
                <a:solidFill>
                  <a:srgbClr val="0B1B3F"/>
                </a:solidFill>
                <a:latin typeface="Calibri"/>
              </a:rPr>
              <a:t>An MCP server</a:t>
            </a:r>
            <a:r>
              <a:rPr sz="1800">
                <a:solidFill>
                  <a:srgbClr val="0F172A"/>
                </a:solidFill>
                <a:latin typeface="Calibri"/>
              </a:rPr>
              <a:t>  FastMCP 2 · all 5 primitives · stdio + SSE transports · Inspector-tested.</a:t>
            </a:r>
          </a:p>
          <a:p>
            <a:pPr algn="l" indent="-228600" marL="228600">
              <a:spcAft>
                <a:spcPts val="1000"/>
              </a:spcAft>
              <a:buChar char="•"/>
            </a:pPr>
            <a:r>
              <a:rPr sz="1800" b="1">
                <a:solidFill>
                  <a:srgbClr val="0B1B3F"/>
                </a:solidFill>
                <a:latin typeface="Calibri"/>
              </a:rPr>
              <a:t>A grounded mental model</a:t>
            </a:r>
            <a:r>
              <a:rPr sz="1800">
                <a:solidFill>
                  <a:srgbClr val="0F172A"/>
                </a:solidFill>
                <a:latin typeface="Calibri"/>
              </a:rPr>
              <a:t>  Foundry Agent Service · APIM AI gateway · Container Apps · Guardrails.</a:t>
            </a:r>
          </a:p>
          <a:p>
            <a:pPr algn="l" indent="-228600" marL="228600">
              <a:spcAft>
                <a:spcPts val="1000"/>
              </a:spcAft>
              <a:buChar char="•"/>
            </a:pPr>
            <a:r>
              <a:rPr sz="1800" b="1">
                <a:solidFill>
                  <a:srgbClr val="0B1B3F"/>
                </a:solidFill>
                <a:latin typeface="Calibri"/>
              </a:rPr>
              <a:t>A repo to fork</a:t>
            </a:r>
            <a:r>
              <a:rPr sz="1800">
                <a:solidFill>
                  <a:srgbClr val="0F172A"/>
                </a:solidFill>
                <a:latin typeface="Calibri"/>
              </a:rPr>
              <a:t>  github.com/timothywarner-org/agents2 — clone it, break it, ship something next.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NEXT</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Where to next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Beginner → Intermediate</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Deploy the Container App to your Azure subscription.</a:t>
            </a:r>
          </a:p>
          <a:p>
            <a:pPr algn="l" indent="-228600" marL="228600">
              <a:spcAft>
                <a:spcPts val="800"/>
              </a:spcAft>
              <a:buChar char="•"/>
            </a:pPr>
            <a:r>
              <a:rPr sz="1500">
                <a:solidFill>
                  <a:srgbClr val="0F172A"/>
                </a:solidFill>
                <a:latin typeface="Calibri"/>
              </a:rPr>
              <a:t>Add one APIM policy (rate-limit) and watch the metrics.</a:t>
            </a:r>
          </a:p>
          <a:p>
            <a:pPr algn="l" indent="-228600" marL="228600">
              <a:spcAft>
                <a:spcPts val="800"/>
              </a:spcAft>
              <a:buChar char="•"/>
            </a:pPr>
            <a:r>
              <a:rPr sz="1500">
                <a:solidFill>
                  <a:srgbClr val="0F172A"/>
                </a:solidFill>
                <a:latin typeface="Calibri"/>
              </a:rPr>
              <a:t>Replace ChromaDB with Azure AI Search for production RAG.</a:t>
            </a:r>
          </a:p>
          <a:p>
            <a:pPr algn="l" indent="-228600" marL="228600">
              <a:spcAft>
                <a:spcPts val="800"/>
              </a:spcAft>
              <a:buChar char="•"/>
            </a:pPr>
            <a:r>
              <a:rPr sz="1500">
                <a:solidFill>
                  <a:srgbClr val="0F172A"/>
                </a:solidFill>
                <a:latin typeface="Calibri"/>
              </a:rPr>
              <a:t>Swap SQLite for Cosmos DB and run multi-region.</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Intermediate → Advanced</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Build a 5th agent in parallel (e.g., InterviewScheduler).</a:t>
            </a:r>
          </a:p>
          <a:p>
            <a:pPr algn="l" indent="-228600" marL="228600">
              <a:spcAft>
                <a:spcPts val="800"/>
              </a:spcAft>
              <a:buChar char="•"/>
            </a:pPr>
            <a:r>
              <a:rPr sz="1500">
                <a:solidFill>
                  <a:srgbClr val="0F172A"/>
                </a:solidFill>
                <a:latin typeface="Calibri"/>
              </a:rPr>
              <a:t>Wire the pipeline into Foundry Agent Service as a hosted agent.</a:t>
            </a:r>
          </a:p>
          <a:p>
            <a:pPr algn="l" indent="-228600" marL="228600">
              <a:spcAft>
                <a:spcPts val="800"/>
              </a:spcAft>
              <a:buChar char="•"/>
            </a:pPr>
            <a:r>
              <a:rPr sz="1500">
                <a:solidFill>
                  <a:srgbClr val="0F172A"/>
                </a:solidFill>
                <a:latin typeface="Calibri"/>
              </a:rPr>
              <a:t>Add OpenTelemetry traces and visualize parallel branches in App Insights.</a:t>
            </a:r>
          </a:p>
          <a:p>
            <a:pPr algn="l" indent="-228600" marL="228600">
              <a:spcAft>
                <a:spcPts val="800"/>
              </a:spcAft>
              <a:buChar char="•"/>
            </a:pPr>
            <a:r>
              <a:rPr sz="1500">
                <a:solidFill>
                  <a:srgbClr val="0F172A"/>
                </a:solidFill>
                <a:latin typeface="Calibri"/>
              </a:rPr>
              <a:t>Run a golden-dataset evaluation in CI; gate deploys on regression.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RESOURCES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Resources — keep going</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700"/>
              </a:spcAft>
              <a:buChar char="•"/>
            </a:pPr>
            <a:r>
              <a:rPr sz="1300" b="1">
                <a:solidFill>
                  <a:srgbClr val="0B1B3F"/>
                </a:solidFill>
                <a:latin typeface="Calibri"/>
              </a:rPr>
              <a:t>Course repo</a:t>
            </a:r>
            <a:r>
              <a:rPr sz="1300">
                <a:solidFill>
                  <a:srgbClr val="0F172A"/>
                </a:solidFill>
                <a:latin typeface="Calibri"/>
              </a:rPr>
              <a:t>  github.com/timothywarner-org/agents2 · CLAUDE.md and hour-by-hour teaching guides.</a:t>
            </a:r>
          </a:p>
          <a:p>
            <a:pPr algn="l" indent="-228600" marL="228600">
              <a:spcAft>
                <a:spcPts val="700"/>
              </a:spcAft>
              <a:buChar char="•"/>
            </a:pPr>
            <a:r>
              <a:rPr sz="1300" b="1">
                <a:solidFill>
                  <a:srgbClr val="0B1B3F"/>
                </a:solidFill>
                <a:latin typeface="Calibri"/>
              </a:rPr>
              <a:t>Microsoft Foundry</a:t>
            </a:r>
            <a:r>
              <a:rPr sz="1300">
                <a:solidFill>
                  <a:srgbClr val="0F172A"/>
                </a:solidFill>
                <a:latin typeface="Calibri"/>
              </a:rPr>
              <a:t>  learn.microsoft.com/azure/foundry/agents/overview</a:t>
            </a:r>
          </a:p>
          <a:p>
            <a:pPr algn="l" indent="-228600" marL="228600">
              <a:spcAft>
                <a:spcPts val="700"/>
              </a:spcAft>
              <a:buChar char="•"/>
            </a:pPr>
            <a:r>
              <a:rPr sz="1300" b="1">
                <a:solidFill>
                  <a:srgbClr val="0B1B3F"/>
                </a:solidFill>
                <a:latin typeface="Calibri"/>
              </a:rPr>
              <a:t>Azure API Management AI gateway</a:t>
            </a:r>
            <a:r>
              <a:rPr sz="1300">
                <a:solidFill>
                  <a:srgbClr val="0F172A"/>
                </a:solidFill>
                <a:latin typeface="Calibri"/>
              </a:rPr>
              <a:t>  learn.microsoft.com/azure/api-management/genai-gateway-capabilities</a:t>
            </a:r>
          </a:p>
          <a:p>
            <a:pPr algn="l" indent="-228600" marL="228600">
              <a:spcAft>
                <a:spcPts val="700"/>
              </a:spcAft>
              <a:buChar char="•"/>
            </a:pPr>
            <a:r>
              <a:rPr sz="1300" b="1">
                <a:solidFill>
                  <a:srgbClr val="0B1B3F"/>
                </a:solidFill>
                <a:latin typeface="Calibri"/>
              </a:rPr>
              <a:t>Azure Container Apps + AI</a:t>
            </a:r>
            <a:r>
              <a:rPr sz="1300">
                <a:solidFill>
                  <a:srgbClr val="0F172A"/>
                </a:solidFill>
                <a:latin typeface="Calibri"/>
              </a:rPr>
              <a:t>  learn.microsoft.com/azure/container-apps/ai-integration</a:t>
            </a:r>
          </a:p>
          <a:p>
            <a:pPr algn="l" indent="-228600" marL="228600">
              <a:spcAft>
                <a:spcPts val="700"/>
              </a:spcAft>
              <a:buChar char="•"/>
            </a:pPr>
            <a:r>
              <a:rPr sz="1300" b="1">
                <a:solidFill>
                  <a:srgbClr val="0B1B3F"/>
                </a:solidFill>
                <a:latin typeface="Calibri"/>
              </a:rPr>
              <a:t>Foundry Guardrails</a:t>
            </a:r>
            <a:r>
              <a:rPr sz="1300">
                <a:solidFill>
                  <a:srgbClr val="0F172A"/>
                </a:solidFill>
                <a:latin typeface="Calibri"/>
              </a:rPr>
              <a:t>  learn.microsoft.com/azure/foundry/guardrails/guardrails-overview</a:t>
            </a:r>
          </a:p>
          <a:p>
            <a:pPr algn="l" indent="-228600" marL="228600">
              <a:spcAft>
                <a:spcPts val="700"/>
              </a:spcAft>
              <a:buChar char="•"/>
            </a:pPr>
            <a:r>
              <a:rPr sz="1300" b="1">
                <a:solidFill>
                  <a:srgbClr val="0B1B3F"/>
                </a:solidFill>
                <a:latin typeface="Calibri"/>
              </a:rPr>
              <a:t>LangGraph docs</a:t>
            </a:r>
            <a:r>
              <a:rPr sz="1300">
                <a:solidFill>
                  <a:srgbClr val="0F172A"/>
                </a:solidFill>
                <a:latin typeface="Calibri"/>
              </a:rPr>
              <a:t>  docs.langchain.com/oss/python/langgraph — parallel branches &amp; checkpointing.</a:t>
            </a:r>
          </a:p>
          <a:p>
            <a:pPr algn="l" indent="-228600" marL="228600">
              <a:spcAft>
                <a:spcPts val="700"/>
              </a:spcAft>
              <a:buChar char="•"/>
            </a:pPr>
            <a:r>
              <a:rPr sz="1300" b="1">
                <a:solidFill>
                  <a:srgbClr val="0B1B3F"/>
                </a:solidFill>
                <a:latin typeface="Calibri"/>
              </a:rPr>
              <a:t>CrewAI docs</a:t>
            </a:r>
            <a:r>
              <a:rPr sz="1300">
                <a:solidFill>
                  <a:srgbClr val="0F172A"/>
                </a:solidFill>
                <a:latin typeface="Calibri"/>
              </a:rPr>
              <a:t>  docs.crewai.com — agents, tasks, crews, processes.</a:t>
            </a:r>
          </a:p>
          <a:p>
            <a:pPr algn="l" indent="-228600" marL="228600">
              <a:spcAft>
                <a:spcPts val="700"/>
              </a:spcAft>
              <a:buChar char="•"/>
            </a:pPr>
            <a:r>
              <a:rPr sz="1300" b="1">
                <a:solidFill>
                  <a:srgbClr val="0B1B3F"/>
                </a:solidFill>
                <a:latin typeface="Calibri"/>
              </a:rPr>
              <a:t>FastMCP</a:t>
            </a:r>
            <a:r>
              <a:rPr sz="1300">
                <a:solidFill>
                  <a:srgbClr val="0F172A"/>
                </a:solidFill>
                <a:latin typeface="Calibri"/>
              </a:rPr>
              <a:t>  gofastmcp.com — full Python MCP server framework.</a:t>
            </a:r>
          </a:p>
          <a:p>
            <a:pPr algn="l" indent="-228600" marL="228600">
              <a:spcAft>
                <a:spcPts val="700"/>
              </a:spcAft>
              <a:buChar char="•"/>
            </a:pPr>
            <a:r>
              <a:rPr sz="1300" b="1">
                <a:solidFill>
                  <a:srgbClr val="0B1B3F"/>
                </a:solidFill>
                <a:latin typeface="Calibri"/>
              </a:rPr>
              <a:t>Model Context Protocol spec</a:t>
            </a:r>
            <a:r>
              <a:rPr sz="1300">
                <a:solidFill>
                  <a:srgbClr val="0F172A"/>
                </a:solidFill>
                <a:latin typeface="Calibri"/>
              </a:rPr>
              <a:t>  modelcontextprotocol.io — the protocol itself.</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Stay in touch</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417320"/>
            <a:ext cx="164592" cy="48463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6858000" cy="640080"/>
          </a:xfrm>
          <a:prstGeom prst="rect">
            <a:avLst/>
          </a:prstGeom>
          <a:noFill/>
        </p:spPr>
        <p:txBody>
          <a:bodyPr wrap="square" lIns="0" rIns="0" tIns="0" bIns="0" anchor="t">
            <a:spAutoFit/>
          </a:bodyPr>
          <a:lstStyle/>
          <a:p>
            <a:pPr algn="l"/>
            <a:r>
              <a:rPr sz="2800" b="1" i="0">
                <a:solidFill>
                  <a:srgbClr val="0B1B3F"/>
                </a:solidFill>
                <a:latin typeface="Calibri"/>
              </a:rPr>
              <a:t>I want to see what you build</a:t>
            </a:r>
          </a:p>
        </p:txBody>
      </p:sp>
      <p:sp>
        <p:nvSpPr>
          <p:cNvPr id="9" name="TextBox 8"/>
          <p:cNvSpPr txBox="1"/>
          <p:nvPr/>
        </p:nvSpPr>
        <p:spPr>
          <a:xfrm>
            <a:off x="914400" y="2286000"/>
            <a:ext cx="6858000" cy="3657600"/>
          </a:xfrm>
          <a:prstGeom prst="rect">
            <a:avLst/>
          </a:prstGeom>
          <a:noFill/>
        </p:spPr>
        <p:txBody>
          <a:bodyPr wrap="square" lIns="0" rIns="0" tIns="0" bIns="0">
            <a:spAutoFit/>
          </a:bodyPr>
          <a:lstStyle/>
          <a:p>
            <a:pPr algn="l" indent="-228600" marL="228600">
              <a:spcAft>
                <a:spcPts val="1200"/>
              </a:spcAft>
              <a:buChar char="•"/>
            </a:pPr>
            <a:r>
              <a:rPr sz="1500" b="1">
                <a:solidFill>
                  <a:srgbClr val="0B1B3F"/>
                </a:solidFill>
                <a:latin typeface="Calibri"/>
              </a:rPr>
              <a:t>Website</a:t>
            </a:r>
            <a:r>
              <a:rPr sz="1500">
                <a:solidFill>
                  <a:srgbClr val="0F172A"/>
                </a:solidFill>
                <a:latin typeface="Calibri"/>
              </a:rPr>
              <a:t>  techtrainertim.com</a:t>
            </a:r>
          </a:p>
          <a:p>
            <a:pPr algn="l" indent="-228600" marL="228600">
              <a:spcAft>
                <a:spcPts val="1200"/>
              </a:spcAft>
              <a:buChar char="•"/>
            </a:pPr>
            <a:r>
              <a:rPr sz="1500" b="1">
                <a:solidFill>
                  <a:srgbClr val="0B1B3F"/>
                </a:solidFill>
                <a:latin typeface="Calibri"/>
              </a:rPr>
              <a:t>LinkedIn</a:t>
            </a:r>
            <a:r>
              <a:rPr sz="1500">
                <a:solidFill>
                  <a:srgbClr val="0F172A"/>
                </a:solidFill>
                <a:latin typeface="Calibri"/>
              </a:rPr>
              <a:t>  linkedin.com/in/timothywarner</a:t>
            </a:r>
          </a:p>
          <a:p>
            <a:pPr algn="l" indent="-228600" marL="228600">
              <a:spcAft>
                <a:spcPts val="1200"/>
              </a:spcAft>
              <a:buChar char="•"/>
            </a:pPr>
            <a:r>
              <a:rPr sz="1500" b="1">
                <a:solidFill>
                  <a:srgbClr val="0B1B3F"/>
                </a:solidFill>
                <a:latin typeface="Calibri"/>
              </a:rPr>
              <a:t>GitHub</a:t>
            </a:r>
            <a:r>
              <a:rPr sz="1500">
                <a:solidFill>
                  <a:srgbClr val="0F172A"/>
                </a:solidFill>
                <a:latin typeface="Calibri"/>
              </a:rPr>
              <a:t>  github.com/timothywarner-org</a:t>
            </a:r>
          </a:p>
          <a:p>
            <a:pPr algn="l" indent="-228600" marL="228600">
              <a:spcAft>
                <a:spcPts val="1200"/>
              </a:spcAft>
              <a:buChar char="•"/>
            </a:pPr>
            <a:r>
              <a:rPr sz="1500" b="1">
                <a:solidFill>
                  <a:srgbClr val="0B1B3F"/>
                </a:solidFill>
                <a:latin typeface="Calibri"/>
              </a:rPr>
              <a:t>YouTube</a:t>
            </a:r>
            <a:r>
              <a:rPr sz="1500">
                <a:solidFill>
                  <a:srgbClr val="0F172A"/>
                </a:solidFill>
                <a:latin typeface="Calibri"/>
              </a:rPr>
              <a:t>  youtube.com/@TechTrainerTim — agentic AI walkthroughs land weekly</a:t>
            </a:r>
          </a:p>
          <a:p>
            <a:pPr algn="l" indent="-228600" marL="228600">
              <a:spcAft>
                <a:spcPts val="1200"/>
              </a:spcAft>
              <a:buChar char="•"/>
            </a:pPr>
            <a:r>
              <a:rPr sz="1500" b="1">
                <a:solidFill>
                  <a:srgbClr val="0B1B3F"/>
                </a:solidFill>
                <a:latin typeface="Calibri"/>
              </a:rPr>
              <a:t>O'Reilly</a:t>
            </a:r>
            <a:r>
              <a:rPr sz="1500">
                <a:solidFill>
                  <a:srgbClr val="0F172A"/>
                </a:solidFill>
                <a:latin typeface="Calibri"/>
              </a:rPr>
              <a:t>  learning.oreilly.com/search/?q=Tim+Warner</a:t>
            </a:r>
          </a:p>
          <a:p>
            <a:pPr algn="l" indent="-228600" marL="228600">
              <a:spcAft>
                <a:spcPts val="1200"/>
              </a:spcAft>
              <a:buChar char="•"/>
            </a:pPr>
            <a:r>
              <a:rPr sz="1500" b="1">
                <a:solidFill>
                  <a:srgbClr val="0B1B3F"/>
                </a:solidFill>
                <a:latin typeface="Calibri"/>
              </a:rPr>
              <a:t>Pluralsight</a:t>
            </a:r>
            <a:r>
              <a:rPr sz="1500">
                <a:solidFill>
                  <a:srgbClr val="0F172A"/>
                </a:solidFill>
                <a:latin typeface="Calibri"/>
              </a:rPr>
              <a:t>  pluralsight.com/authors/tim-warner</a:t>
            </a:r>
          </a:p>
        </p:txBody>
      </p:sp>
      <p:sp>
        <p:nvSpPr>
          <p:cNvPr id="10" name="Rectangle 9"/>
          <p:cNvSpPr/>
          <p:nvPr/>
        </p:nvSpPr>
        <p:spPr>
          <a:xfrm>
            <a:off x="8046720" y="1417320"/>
            <a:ext cx="3657600" cy="484632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91640"/>
            <a:ext cx="3291840" cy="457200"/>
          </a:xfrm>
          <a:prstGeom prst="rect">
            <a:avLst/>
          </a:prstGeom>
          <a:noFill/>
        </p:spPr>
        <p:txBody>
          <a:bodyPr wrap="square" lIns="0" rIns="0" tIns="0" bIns="0" anchor="t">
            <a:spAutoFit/>
          </a:bodyPr>
          <a:lstStyle/>
          <a:p>
            <a:pPr algn="l"/>
            <a:r>
              <a:rPr sz="1600" b="1" i="0">
                <a:solidFill>
                  <a:srgbClr val="FFB703"/>
                </a:solidFill>
                <a:latin typeface="Calibri"/>
              </a:rPr>
              <a:t>If this helped</a:t>
            </a:r>
          </a:p>
        </p:txBody>
      </p:sp>
      <p:sp>
        <p:nvSpPr>
          <p:cNvPr id="12" name="TextBox 11"/>
          <p:cNvSpPr txBox="1"/>
          <p:nvPr/>
        </p:nvSpPr>
        <p:spPr>
          <a:xfrm>
            <a:off x="8229600" y="2331720"/>
            <a:ext cx="3291840" cy="3657600"/>
          </a:xfrm>
          <a:prstGeom prst="rect">
            <a:avLst/>
          </a:prstGeom>
          <a:noFill/>
        </p:spPr>
        <p:txBody>
          <a:bodyPr wrap="square" lIns="0" rIns="0" tIns="0" bIns="0" anchor="t">
            <a:spAutoFit/>
          </a:bodyPr>
          <a:lstStyle/>
          <a:p>
            <a:pPr algn="l"/>
            <a:r>
              <a:rPr sz="1400" b="0" i="0">
                <a:solidFill>
                  <a:srgbClr val="FFFFFF"/>
                </a:solidFill>
                <a:latin typeface="Calibri"/>
              </a:rPr>
              <a:t>Tag me on LinkedIn or YouTube with what you shipped.
The single best thing you can do for an instructor is share the thing you built because of them.
Go make something.</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8720" y="2377440"/>
            <a:ext cx="164592" cy="18288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2194560"/>
            <a:ext cx="9601200" cy="2377440"/>
          </a:xfrm>
          <a:prstGeom prst="rect">
            <a:avLst/>
          </a:prstGeom>
          <a:noFill/>
        </p:spPr>
        <p:txBody>
          <a:bodyPr wrap="square" lIns="0" rIns="0" tIns="0" bIns="0" anchor="ctr">
            <a:spAutoFit/>
          </a:bodyPr>
          <a:lstStyle/>
          <a:p>
            <a:pPr algn="l"/>
            <a:r>
              <a:rPr sz="3200" b="0" i="1">
                <a:solidFill>
                  <a:srgbClr val="0B1B3F"/>
                </a:solidFill>
                <a:latin typeface="Calibri"/>
              </a:rPr>
              <a:t>You do not rise to the level of your goals. You fall to the level of your systems.</a:t>
            </a:r>
          </a:p>
        </p:txBody>
      </p:sp>
      <p:sp>
        <p:nvSpPr>
          <p:cNvPr id="5" name="TextBox 4"/>
          <p:cNvSpPr txBox="1"/>
          <p:nvPr/>
        </p:nvSpPr>
        <p:spPr>
          <a:xfrm>
            <a:off x="1554480" y="4937760"/>
            <a:ext cx="9601200" cy="548640"/>
          </a:xfrm>
          <a:prstGeom prst="rect">
            <a:avLst/>
          </a:prstGeom>
          <a:noFill/>
        </p:spPr>
        <p:txBody>
          <a:bodyPr wrap="square" lIns="0" rIns="0" tIns="0" bIns="0" anchor="t">
            <a:spAutoFit/>
          </a:bodyPr>
          <a:lstStyle/>
          <a:p>
            <a:pPr algn="l"/>
            <a:r>
              <a:rPr sz="1800" b="1" i="0">
                <a:solidFill>
                  <a:srgbClr val="475569"/>
                </a:solidFill>
                <a:latin typeface="Calibri"/>
              </a:rPr>
              <a:t>— James Clear · Atomic Habits</a:t>
            </a: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7122C"/>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91440" cy="68580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286000"/>
            <a:ext cx="10058400" cy="1828800"/>
          </a:xfrm>
          <a:prstGeom prst="rect">
            <a:avLst/>
          </a:prstGeom>
          <a:noFill/>
        </p:spPr>
        <p:txBody>
          <a:bodyPr wrap="square" lIns="0" rIns="0" tIns="0" bIns="0" anchor="t">
            <a:spAutoFit/>
          </a:bodyPr>
          <a:lstStyle/>
          <a:p>
            <a:pPr algn="l"/>
            <a:r>
              <a:rPr sz="11000" b="1" i="0">
                <a:solidFill>
                  <a:srgbClr val="FFFFFF"/>
                </a:solidFill>
                <a:latin typeface="Calibri"/>
              </a:rPr>
              <a:t>Thank you.</a:t>
            </a:r>
          </a:p>
        </p:txBody>
      </p:sp>
      <p:sp>
        <p:nvSpPr>
          <p:cNvPr id="5" name="TextBox 4"/>
          <p:cNvSpPr txBox="1"/>
          <p:nvPr/>
        </p:nvSpPr>
        <p:spPr>
          <a:xfrm>
            <a:off x="1097280" y="4297680"/>
            <a:ext cx="10058400" cy="731520"/>
          </a:xfrm>
          <a:prstGeom prst="rect">
            <a:avLst/>
          </a:prstGeom>
          <a:noFill/>
        </p:spPr>
        <p:txBody>
          <a:bodyPr wrap="square" lIns="0" rIns="0" tIns="0" bIns="0" anchor="t">
            <a:spAutoFit/>
          </a:bodyPr>
          <a:lstStyle/>
          <a:p>
            <a:pPr algn="l"/>
            <a:r>
              <a:rPr sz="2200" b="0" i="1">
                <a:solidFill>
                  <a:srgbClr val="00B4D8"/>
                </a:solidFill>
                <a:latin typeface="Calibri"/>
              </a:rPr>
              <a:t>Q&amp;A is open · drop questions in the Q&amp;A window.</a:t>
            </a:r>
          </a:p>
        </p:txBody>
      </p:sp>
      <p:sp>
        <p:nvSpPr>
          <p:cNvPr id="6" name="TextBox 5"/>
          <p:cNvSpPr txBox="1"/>
          <p:nvPr/>
        </p:nvSpPr>
        <p:spPr>
          <a:xfrm>
            <a:off x="1097280" y="5669280"/>
            <a:ext cx="10058400" cy="457200"/>
          </a:xfrm>
          <a:prstGeom prst="rect">
            <a:avLst/>
          </a:prstGeom>
          <a:noFill/>
        </p:spPr>
        <p:txBody>
          <a:bodyPr wrap="square" lIns="0" rIns="0" tIns="0" bIns="0" anchor="t">
            <a:spAutoFit/>
          </a:bodyPr>
          <a:lstStyle/>
          <a:p>
            <a:pPr algn="l"/>
            <a:r>
              <a:rPr sz="1600" b="0" i="0">
                <a:solidFill>
                  <a:srgbClr val="FFFFFF"/>
                </a:solidFill>
                <a:latin typeface="Calibri"/>
              </a:rPr>
              <a:t>Tim Warner  ·  techtrainertim.com  ·  timw.info/agents2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